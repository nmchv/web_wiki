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9" r:id="rId17"/>
    <p:sldId id="280" r:id="rId18"/>
    <p:sldId id="278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48"/>
    <p:restoredTop sz="94610"/>
  </p:normalViewPr>
  <p:slideViewPr>
    <p:cSldViewPr snapToGrid="0" snapToObjects="1">
      <p:cViewPr>
        <p:scale>
          <a:sx n="82" d="100"/>
          <a:sy n="82" d="100"/>
        </p:scale>
        <p:origin x="96" y="1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6288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1. Приветствие, 1 мин. Тема урока: «Представления о мире в древности». Тема записывается в тетрадь. Теория — 20 мин, практическая работа — 20 мин.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3. Мотивация, 2 мин. Выслушайте 2–3 ответа учеников. Итог: сегодня узнаем, как представляли Землю древние люди и как появилась наука география.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4. Работа с рис. 4 учебника, ~4 мин. Спросите: что общего в этих представлениях? (Земля плоская, мир объясняют мифами и волей богов.)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5. ~2 мин. Материал параграфа «Что знали о нашем мире древние».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6. Запись вывода, ~1 мин. Ответ на вопрос: Земля плоская, объяснения — через мифы и волю богов.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7. ~3 мин. Покажите на карте: Средиземное море, Гибралтарский пролив (Геркулесовы столбы), Африку. Вопрос классу: зачем финикийцам дальние плавания? (Торговля, товары, красители для тканей.)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8. ~1 мин: обзор. Самые знаменитые рассказы о странствиях — поэмы Гомера «Илиада» и «Одиссея». Дальше — подробно о каждом учёном.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9. ~2 мин. Схемы упрощённые, не карты: покажите настоящие рисунки учебника — рис. 6 «Мир по Гекатею». Слайд не подписывайте как карту, это иллюстрация идеи.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10. ~2 мин. Вопрос классу: как Аристотель доказал, что Земля — шар, не побывав в космосе? (Наблюдения: затмения, изменение звёздного неба.) Далее — динамическая пауза 1 мин.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11. ~3 мин. Дайте классу 20–30 секунд рассмотреть рис. 5. Ответ: в центре — Средиземное море, вокруг него жили создатели карты.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12. ~3 мин. Ошибки Птолемея (в т. ч. неточные очертания и размеры материков) обсудим в практической работе. Запись в тетрадь — вывод из учебника.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13. Закрепление, ~1 мин (быстрый устный опрос). Ответы: 1) плоская Земля на слонах и черепахе / гора в море / квадрат под круглым небом; 2) плавание вокруг Африки; 3) Гекатей; 4) тень Земли на Луне при затмениях, звёзды при движении на юг. Необязательно: Т. Хейердал (1947, плот «Кон-Тики») показал, что древние люди могли пересекать океаны на простых судах.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14. Переход к практической работе. Раздайте рабочие листы, убедитесь, что у групп есть учебник (§ 2, рис. 5, 6, 7) и атлас.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15. Инструктаж, ~2 мин. Формат: пары или группы по 4 человека. Общая продолжительность практической работы — 20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17. Работа по вопросам (10 мин на все 8 вопросов). Ключ: 1) Европа, Азия, Ливия (Африка); впервые — Гекатей. 2) Средиземное море: вокруг него жили создатели карт и знали его берега лучше всего. 3) Да; на карте Птолемея сетка полнее, подписаны градусы. 4) У Птолемея Африка вытянута на восток и соединена с Азией; на современной карте — окружена океанами. Ориентировочные ответы, сверьте с рисунками учебника.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BACEA-8165-6CE8-9891-67572207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F4B550-A24C-2C7D-A6A5-0863C1332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B0C877-34FA-F4BC-3115-E850F9F00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17. Работа по вопросам (10 мин на все 8 вопросов). Ключ: 1) Европа, Азия, Ливия (Африка); впервые — Гекатей. 2) Средиземное море: вокруг него жили создатели карт и знали его берега лучше всего. 3) Да; на карте Птолемея сетка полнее, подписаны градусы. 4) У Птолемея Африка вытянута на восток и соединена с Азией; на современной карте — окружена океанами. Ориентировочные ответы, сверьте с рисунками учебника.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A6327-A413-7161-61E4-42AF925534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695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EEC73-02F8-A268-4211-D6FD60183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2DBAE6-491E-E75C-424E-2089324C3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170315-A86B-3BFA-1EB1-AA7EE96A6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17. Работа по вопросам (10 мин на все 8 вопросов). Ключ: 1) Европа, Азия, Ливия (Африка); впервые — Гекатей. 2) Средиземное море: вокруг него жили создатели карт и знали его берега лучше всего. 3) Да; на карте Птолемея сетка полнее, подписаны градусы. 4) У Птолемея Африка вытянута на восток и соединена с Азией; на современной карте — окружена океанами. Ориентировочные ответы, сверьте с рисунками учебника.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E78DE-3D42-38F0-2411-C423F9813F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98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23. Домашнее задание, ~1 мин.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ГЕОГРАФИЯ · 5 КЛАСС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Представления о мире в древности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394960" y="868680"/>
            <a:ext cx="3383280" cy="3383280"/>
          </a:xfrm>
          <a:prstGeom prst="ellipse">
            <a:avLst/>
          </a:prstGeom>
          <a:solidFill>
            <a:srgbClr val="12263F">
              <a:alpha val="0"/>
            </a:srgbClr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Shape 4"/>
          <p:cNvSpPr/>
          <p:nvPr/>
        </p:nvSpPr>
        <p:spPr>
          <a:xfrm>
            <a:off x="5767121" y="1240841"/>
            <a:ext cx="2638958" cy="2638958"/>
          </a:xfrm>
          <a:prstGeom prst="ellipse">
            <a:avLst/>
          </a:prstGeom>
          <a:solidFill>
            <a:srgbClr val="12263F">
              <a:alpha val="0"/>
            </a:srgbClr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Shape 5"/>
          <p:cNvSpPr/>
          <p:nvPr/>
        </p:nvSpPr>
        <p:spPr>
          <a:xfrm>
            <a:off x="6156198" y="1629918"/>
            <a:ext cx="1860804" cy="1860804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575" y="2039295"/>
            <a:ext cx="1042050" cy="1042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Представьте: вы живёте несколько тысяч лет назад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самолётов, спутников и интернета.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Какой вы представляете Землю?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0" y="1188720"/>
            <a:ext cx="2743200" cy="2743200"/>
          </a:xfrm>
          <a:prstGeom prst="ellipse">
            <a:avLst/>
          </a:prstGeom>
          <a:solidFill>
            <a:srgbClr val="12263F">
              <a:alpha val="0"/>
            </a:srgbClr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Shape 4"/>
          <p:cNvSpPr/>
          <p:nvPr/>
        </p:nvSpPr>
        <p:spPr>
          <a:xfrm>
            <a:off x="6245352" y="1490472"/>
            <a:ext cx="2139696" cy="2139696"/>
          </a:xfrm>
          <a:prstGeom prst="ellipse">
            <a:avLst/>
          </a:prstGeom>
          <a:solidFill>
            <a:srgbClr val="12263F">
              <a:alpha val="0"/>
            </a:srgbClr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Shape 5"/>
          <p:cNvSpPr/>
          <p:nvPr/>
        </p:nvSpPr>
        <p:spPr>
          <a:xfrm>
            <a:off x="6560820" y="1805940"/>
            <a:ext cx="1508760" cy="150876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747" y="2137867"/>
            <a:ext cx="844906" cy="8449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знали о нашем мире древние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" name="Shape 2"/>
          <p:cNvSpPr/>
          <p:nvPr/>
        </p:nvSpPr>
        <p:spPr>
          <a:xfrm>
            <a:off x="3264408" y="11887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5" name="Shape 3"/>
          <p:cNvSpPr/>
          <p:nvPr/>
        </p:nvSpPr>
        <p:spPr>
          <a:xfrm>
            <a:off x="6071616" y="11887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6" name="Shape 4"/>
          <p:cNvSpPr/>
          <p:nvPr/>
        </p:nvSpPr>
        <p:spPr>
          <a:xfrm>
            <a:off x="982980" y="1371600"/>
            <a:ext cx="1554480" cy="146304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Shape 5"/>
          <p:cNvSpPr/>
          <p:nvPr/>
        </p:nvSpPr>
        <p:spPr>
          <a:xfrm>
            <a:off x="1074420" y="1517904"/>
            <a:ext cx="384048" cy="502920"/>
          </a:xfrm>
          <a:prstGeom prst="roundRect">
            <a:avLst>
              <a:gd name="adj" fmla="val 19048"/>
            </a:avLst>
          </a:prstGeom>
          <a:solidFill>
            <a:srgbClr val="8A97A5"/>
          </a:solidFill>
          <a:ln w="6350">
            <a:solidFill>
              <a:srgbClr val="8A97A5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Shape 6"/>
          <p:cNvSpPr/>
          <p:nvPr/>
        </p:nvSpPr>
        <p:spPr>
          <a:xfrm>
            <a:off x="1568196" y="1517904"/>
            <a:ext cx="384048" cy="502920"/>
          </a:xfrm>
          <a:prstGeom prst="roundRect">
            <a:avLst>
              <a:gd name="adj" fmla="val 19048"/>
            </a:avLst>
          </a:prstGeom>
          <a:solidFill>
            <a:srgbClr val="8A97A5"/>
          </a:solidFill>
          <a:ln w="6350">
            <a:solidFill>
              <a:srgbClr val="8A97A5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Shape 7"/>
          <p:cNvSpPr/>
          <p:nvPr/>
        </p:nvSpPr>
        <p:spPr>
          <a:xfrm>
            <a:off x="2061972" y="1517904"/>
            <a:ext cx="384048" cy="502920"/>
          </a:xfrm>
          <a:prstGeom prst="roundRect">
            <a:avLst>
              <a:gd name="adj" fmla="val 19048"/>
            </a:avLst>
          </a:prstGeom>
          <a:solidFill>
            <a:srgbClr val="8A97A5"/>
          </a:solidFill>
          <a:ln w="6350">
            <a:solidFill>
              <a:srgbClr val="8A97A5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0" name="Shape 8"/>
          <p:cNvSpPr/>
          <p:nvPr/>
        </p:nvSpPr>
        <p:spPr>
          <a:xfrm>
            <a:off x="891540" y="1975104"/>
            <a:ext cx="1737360" cy="502920"/>
          </a:xfrm>
          <a:prstGeom prst="ellipse">
            <a:avLst/>
          </a:prstGeom>
          <a:solidFill>
            <a:srgbClr val="5E8B5A"/>
          </a:solidFill>
          <a:ln w="6350">
            <a:solidFill>
              <a:srgbClr val="5E8B5A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1" name="Shape 9"/>
          <p:cNvSpPr/>
          <p:nvPr/>
        </p:nvSpPr>
        <p:spPr>
          <a:xfrm>
            <a:off x="2491740" y="2103120"/>
            <a:ext cx="292608" cy="219456"/>
          </a:xfrm>
          <a:prstGeom prst="ellipse">
            <a:avLst/>
          </a:prstGeom>
          <a:solidFill>
            <a:srgbClr val="5E8B5A"/>
          </a:solidFill>
          <a:ln w="6350">
            <a:solidFill>
              <a:srgbClr val="5E8B5A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2" name="Shape 10"/>
          <p:cNvSpPr/>
          <p:nvPr/>
        </p:nvSpPr>
        <p:spPr>
          <a:xfrm>
            <a:off x="3698748" y="1371600"/>
            <a:ext cx="1737360" cy="1143000"/>
          </a:xfrm>
          <a:prstGeom prst="ellipse">
            <a:avLst/>
          </a:prstGeom>
          <a:solidFill>
            <a:srgbClr val="8EC3DE"/>
          </a:solidFill>
          <a:ln w="6350">
            <a:solidFill>
              <a:srgbClr val="8EC3D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Shape 11"/>
          <p:cNvSpPr/>
          <p:nvPr/>
        </p:nvSpPr>
        <p:spPr>
          <a:xfrm>
            <a:off x="4155948" y="1463040"/>
            <a:ext cx="822960" cy="868680"/>
          </a:xfrm>
          <a:prstGeom prst="triangle">
            <a:avLst/>
          </a:prstGeom>
          <a:solidFill>
            <a:srgbClr val="7A6A5A"/>
          </a:solidFill>
          <a:ln w="6350">
            <a:solidFill>
              <a:srgbClr val="7A6A5A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4" name="Shape 12"/>
          <p:cNvSpPr/>
          <p:nvPr/>
        </p:nvSpPr>
        <p:spPr>
          <a:xfrm>
            <a:off x="6780276" y="1371600"/>
            <a:ext cx="1188720" cy="1188720"/>
          </a:xfrm>
          <a:prstGeom prst="ellipse">
            <a:avLst/>
          </a:prstGeom>
          <a:solidFill>
            <a:srgbClr val="FBE6B0"/>
          </a:solidFill>
          <a:ln w="190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5" name="Shape 13"/>
          <p:cNvSpPr/>
          <p:nvPr/>
        </p:nvSpPr>
        <p:spPr>
          <a:xfrm>
            <a:off x="7072884" y="1664208"/>
            <a:ext cx="603504" cy="603504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6" name="Text 14"/>
          <p:cNvSpPr txBox="1"/>
          <p:nvPr/>
        </p:nvSpPr>
        <p:spPr>
          <a:xfrm>
            <a:off x="59436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Древняя Индия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1089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Земля лежит на спинах трёх слонов, а те стоят на огромной черепахе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401568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Вавилон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401568" y="31089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Земля — гора, окружённая морем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08776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Древний Китай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208776" y="31089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Небо — круг, земля — квадрат. В центре — Срединное государство (Поднебесная империя)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происходило в природе, считалось волей добрых или злых божеств.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люди узнавали о дальних землях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Первобытные люди изучали лишь ближайшие территории: где охотиться, где собирать растения, где прятаться от хищников.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5" name="Shape 3"/>
          <p:cNvSpPr/>
          <p:nvPr/>
        </p:nvSpPr>
        <p:spPr>
          <a:xfrm>
            <a:off x="3264408" y="17830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6" name="Shape 4"/>
          <p:cNvSpPr/>
          <p:nvPr/>
        </p:nvSpPr>
        <p:spPr>
          <a:xfrm>
            <a:off x="6071616" y="17830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7" name="Shape 5"/>
          <p:cNvSpPr/>
          <p:nvPr/>
        </p:nvSpPr>
        <p:spPr>
          <a:xfrm>
            <a:off x="1394460" y="1920240"/>
            <a:ext cx="731520" cy="73152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394" y="2081174"/>
            <a:ext cx="409651" cy="4096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Шумеры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12724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Придумали колесо. Люди смогли ездить на большие расстояния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01668" y="1920240"/>
            <a:ext cx="731520" cy="73152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602" y="208117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01568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Египтяне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401568" y="312724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Придумали парус. Люди стали узнавать о дальних землях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008876" y="1920240"/>
            <a:ext cx="731520" cy="73152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9810" y="208117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08776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Записи на карте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208776" y="312724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коже, ткани, папирусе, бумаге, глиняных табличках отмечали путь, стоянки, реки, озёра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12263F"/>
          </a:solidFill>
          <a:ln w="9525">
            <a:solidFill>
              <a:srgbClr val="1226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20" name="Text 15"/>
          <p:cNvSpPr txBox="1"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появились первые карты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Запишем в тетрадь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12263F"/>
          </a:solidFill>
          <a:ln w="9525">
            <a:solidFill>
              <a:srgbClr val="1226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914400" cy="91440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30428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37160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</a:t>
            </a:r>
            <a:r>
              <a:rPr lang="en-US" sz="240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древности</a:t>
            </a: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</a:t>
            </a:r>
            <a:r>
              <a:rPr lang="en-US" sz="240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юди</a:t>
            </a: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представляли Землю плоской, а об окружающем мире судили по мифам и легендам.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общего в представлениях Индии, Вавилона и Китая?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Финикийцы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48740"/>
            <a:ext cx="640080" cy="64008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1489558"/>
            <a:ext cx="358445" cy="3584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18872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Жили на восточном побережье Средиземного моря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57200" y="2583180"/>
            <a:ext cx="640080" cy="64008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8" y="2723998"/>
            <a:ext cx="358445" cy="35844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37744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Мореплаватели и торговцы: везли ливанский кедр, ткани, масла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457200" y="3840480"/>
            <a:ext cx="640080" cy="64008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8" y="3981298"/>
            <a:ext cx="358445" cy="35844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61188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Плавали от Египта до Геркулесовых столбов и дальше в Атлантику — до Канарских островов за красителями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577840" y="1188720"/>
            <a:ext cx="3108960" cy="3520440"/>
          </a:xfrm>
          <a:prstGeom prst="roundRect">
            <a:avLst>
              <a:gd name="adj" fmla="val 3529"/>
            </a:avLst>
          </a:prstGeom>
          <a:solidFill>
            <a:srgbClr val="12263F"/>
          </a:solidFill>
          <a:ln w="9525">
            <a:solidFill>
              <a:srgbClr val="1226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3" name="Text 8"/>
          <p:cNvSpPr txBox="1"/>
          <p:nvPr/>
        </p:nvSpPr>
        <p:spPr>
          <a:xfrm>
            <a:off x="5806440" y="1417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ПЛАВАНИЕ ВОКРУГ АФРИКИ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806440" y="18288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 лет</a:t>
            </a:r>
            <a:endParaRPr lang="en-US" sz="4400" dirty="0"/>
          </a:p>
        </p:txBody>
      </p:sp>
      <p:sp>
        <p:nvSpPr>
          <p:cNvPr id="15" name="Text 10"/>
          <p:cNvSpPr txBox="1"/>
          <p:nvPr/>
        </p:nvSpPr>
        <p:spPr>
          <a:xfrm>
            <a:off x="5806440" y="2697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европейцев!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5806440" y="329184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Плавание совершили финикийские моряки по приказу египетского фараона Нехо II. Об этом рассказал историк Геродот.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Греция: рождение географии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Греки основали колонии на берегах Средиземного, Чёрного и Азовского морей, много путешествовали, описывали берега, пути и измеряли расстояния.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74980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Text 3"/>
          <p:cNvSpPr txBox="1"/>
          <p:nvPr/>
        </p:nvSpPr>
        <p:spPr>
          <a:xfrm>
            <a:off x="59436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IX–VIII вв. до н. э.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78992" y="2587752"/>
            <a:ext cx="585216" cy="585216"/>
          </a:xfrm>
          <a:prstGeom prst="ellipse">
            <a:avLst/>
          </a:prstGeom>
          <a:solidFill>
            <a:srgbClr val="12263F"/>
          </a:solidFill>
          <a:ln w="6350">
            <a:solidFill>
              <a:srgbClr val="12263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740" y="2716500"/>
            <a:ext cx="327721" cy="3277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Гомер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675888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Земля — диск, окружённый рекой Океан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19456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VI–V вв. до н. э.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679192" y="2587752"/>
            <a:ext cx="585216" cy="585216"/>
          </a:xfrm>
          <a:prstGeom prst="ellipse">
            <a:avLst/>
          </a:prstGeom>
          <a:solidFill>
            <a:srgbClr val="12263F"/>
          </a:solidFill>
          <a:ln w="6350">
            <a:solidFill>
              <a:srgbClr val="12263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940" y="2716500"/>
            <a:ext cx="327721" cy="3277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9456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Гекатей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194560" y="3675888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Описал страны, обозначил три части света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79476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в. до н. э.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279392" y="2587752"/>
            <a:ext cx="585216" cy="585216"/>
          </a:xfrm>
          <a:prstGeom prst="ellipse">
            <a:avLst/>
          </a:prstGeom>
          <a:solidFill>
            <a:srgbClr val="12263F"/>
          </a:solidFill>
          <a:ln w="6350">
            <a:solidFill>
              <a:srgbClr val="12263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8140" y="2716500"/>
            <a:ext cx="327721" cy="3277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79476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Аристотель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3794760" y="3675888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Земля — шар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39496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III–II вв. до н. э.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879592" y="2587752"/>
            <a:ext cx="585216" cy="585216"/>
          </a:xfrm>
          <a:prstGeom prst="ellipse">
            <a:avLst/>
          </a:prstGeom>
          <a:solidFill>
            <a:srgbClr val="12263F"/>
          </a:solidFill>
          <a:ln w="6350">
            <a:solidFill>
              <a:srgbClr val="12263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8340" y="2716500"/>
            <a:ext cx="327721" cy="32772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39496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Эратосфен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394960" y="3675888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Высчитал размеры Земли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99516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I–II вв.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7479792" y="2587752"/>
            <a:ext cx="585216" cy="585216"/>
          </a:xfrm>
          <a:prstGeom prst="ellipse">
            <a:avLst/>
          </a:prstGeom>
          <a:solidFill>
            <a:srgbClr val="12263F"/>
          </a:solidFill>
          <a:ln w="6350">
            <a:solidFill>
              <a:srgbClr val="12263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8540" y="2716500"/>
            <a:ext cx="327721" cy="32772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99516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Птолемей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995160" y="3675888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совершенная карта мира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греки представляли мир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" name="Shape 2"/>
          <p:cNvSpPr/>
          <p:nvPr/>
        </p:nvSpPr>
        <p:spPr>
          <a:xfrm>
            <a:off x="4709160" y="1188720"/>
            <a:ext cx="397764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5" name="Shape 3"/>
          <p:cNvSpPr/>
          <p:nvPr/>
        </p:nvSpPr>
        <p:spPr>
          <a:xfrm>
            <a:off x="1485900" y="1325880"/>
            <a:ext cx="1920240" cy="1920240"/>
          </a:xfrm>
          <a:prstGeom prst="ellipse">
            <a:avLst/>
          </a:prstGeom>
          <a:solidFill>
            <a:srgbClr val="8EC3DE"/>
          </a:solidFill>
          <a:ln w="6350">
            <a:solidFill>
              <a:srgbClr val="8EC3D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Shape 4"/>
          <p:cNvSpPr/>
          <p:nvPr/>
        </p:nvSpPr>
        <p:spPr>
          <a:xfrm>
            <a:off x="1805940" y="1645920"/>
            <a:ext cx="1280160" cy="1280160"/>
          </a:xfrm>
          <a:prstGeom prst="ellipse">
            <a:avLst/>
          </a:prstGeom>
          <a:solidFill>
            <a:srgbClr val="A8C686"/>
          </a:solidFill>
          <a:ln w="6350">
            <a:solidFill>
              <a:srgbClr val="A8C686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Text 5"/>
          <p:cNvSpPr txBox="1"/>
          <p:nvPr/>
        </p:nvSpPr>
        <p:spPr>
          <a:xfrm>
            <a:off x="1805940" y="16459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Суша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8590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река Океан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3375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Гомер (IX–VIII вв. до н. э.)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3075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поэмах «Илиада» и «Одиссея» Земля — диск, а сушу со всех сторон окружает река Океан.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92040" y="132588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8EC3DE"/>
          </a:solidFill>
          <a:ln w="6350">
            <a:solidFill>
              <a:srgbClr val="8EC3D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2" name="Shape 10"/>
          <p:cNvSpPr/>
          <p:nvPr/>
        </p:nvSpPr>
        <p:spPr>
          <a:xfrm>
            <a:off x="5074920" y="1463040"/>
            <a:ext cx="1280160" cy="868680"/>
          </a:xfrm>
          <a:prstGeom prst="ellipse">
            <a:avLst/>
          </a:prstGeom>
          <a:solidFill>
            <a:srgbClr val="A8C686"/>
          </a:solidFill>
          <a:ln w="6350">
            <a:solidFill>
              <a:srgbClr val="A8C686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Text 11"/>
          <p:cNvSpPr txBox="1"/>
          <p:nvPr/>
        </p:nvSpPr>
        <p:spPr>
          <a:xfrm>
            <a:off x="5074920" y="14630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Европа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46520" y="1463040"/>
            <a:ext cx="1874520" cy="1097280"/>
          </a:xfrm>
          <a:prstGeom prst="ellipse">
            <a:avLst/>
          </a:prstGeom>
          <a:solidFill>
            <a:srgbClr val="D9C48F"/>
          </a:solidFill>
          <a:ln w="6350">
            <a:solidFill>
              <a:srgbClr val="D9C48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5" name="Text 13"/>
          <p:cNvSpPr txBox="1"/>
          <p:nvPr/>
        </p:nvSpPr>
        <p:spPr>
          <a:xfrm>
            <a:off x="6446520" y="14630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Азия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0" y="2331720"/>
            <a:ext cx="1600200" cy="822960"/>
          </a:xfrm>
          <a:prstGeom prst="ellipse">
            <a:avLst/>
          </a:prstGeom>
          <a:solidFill>
            <a:srgbClr val="E0A96D"/>
          </a:solidFill>
          <a:ln w="6350">
            <a:solidFill>
              <a:srgbClr val="E0A96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7" name="Text 15"/>
          <p:cNvSpPr txBox="1"/>
          <p:nvPr/>
        </p:nvSpPr>
        <p:spPr>
          <a:xfrm>
            <a:off x="5486400" y="23317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Ливия (Африка)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3375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Гекатей (VI–V вв. до н. э.)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73075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Описал все известные страны. На его карте (рис. 6) впервые обозначены три части света.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Аристотель: Земля — шар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640080" cy="64008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1512418"/>
            <a:ext cx="358445" cy="3584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18872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время лунных затмений тень Земли на Луне дугообразная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57200" y="2606040"/>
            <a:ext cx="640080" cy="64008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8" y="2746858"/>
            <a:ext cx="358445" cy="35844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42316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Звёзды меняют расположение на небе, если двигаться с севера на юг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457200" y="3840480"/>
            <a:ext cx="640080" cy="64008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8" y="3981298"/>
            <a:ext cx="358445" cy="35844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65760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о земных оболочках и едином Океане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69280" y="1188720"/>
            <a:ext cx="3017520" cy="3474720"/>
          </a:xfrm>
          <a:prstGeom prst="roundRect">
            <a:avLst>
              <a:gd name="adj" fmla="val 3636"/>
            </a:avLst>
          </a:prstGeom>
          <a:solidFill>
            <a:srgbClr val="12263F"/>
          </a:solidFill>
          <a:ln w="9525">
            <a:solidFill>
              <a:srgbClr val="1226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3" name="Shape 8"/>
          <p:cNvSpPr/>
          <p:nvPr/>
        </p:nvSpPr>
        <p:spPr>
          <a:xfrm>
            <a:off x="6629400" y="1417320"/>
            <a:ext cx="1097280" cy="109728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0802" y="1658722"/>
            <a:ext cx="614477" cy="61447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85216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в. до н. э.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5852160" y="3017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Земля — шар</a:t>
            </a:r>
            <a:endParaRPr lang="en-US" sz="2600" dirty="0"/>
          </a:p>
        </p:txBody>
      </p:sp>
      <p:sp>
        <p:nvSpPr>
          <p:cNvPr id="17" name="Text 11"/>
          <p:cNvSpPr txBox="1"/>
          <p:nvPr/>
        </p:nvSpPr>
        <p:spPr>
          <a:xfrm>
            <a:off x="5852160" y="3611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сделан по наблюдениям, а не по мифам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Эратосфен (III–II вв. до н. э.)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48740"/>
            <a:ext cx="640080" cy="64008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1489558"/>
            <a:ext cx="358445" cy="3584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18872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Впервые употребил термин «географика»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57200" y="2537460"/>
            <a:ext cx="640080" cy="64008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8" y="2678278"/>
            <a:ext cx="358445" cy="35844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37744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Довольно точно высчитал размеры Земли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457200" y="3794760"/>
            <a:ext cx="640080" cy="64008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8" y="3935578"/>
            <a:ext cx="358445" cy="35844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56616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этой основе составил одну из первых карт (рис. 5 «Мир по Эратосфену»)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69280" y="1188720"/>
            <a:ext cx="3017520" cy="347472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 w="952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3" name="Shape 8"/>
          <p:cNvSpPr/>
          <p:nvPr/>
        </p:nvSpPr>
        <p:spPr>
          <a:xfrm>
            <a:off x="6629400" y="1463040"/>
            <a:ext cx="1097280" cy="109728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0802" y="1704442"/>
            <a:ext cx="614477" cy="61447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6072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Откройте учебник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5852160" y="32918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рис. 5. Что находится в центре карты?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Птолемей и Страбон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" name="Shape 2"/>
          <p:cNvSpPr/>
          <p:nvPr/>
        </p:nvSpPr>
        <p:spPr>
          <a:xfrm>
            <a:off x="4663440" y="1188720"/>
            <a:ext cx="40233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731520" cy="73152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153253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Птолемей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I–II вв.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28600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Грек по происхождению, живший в Древнем Риме. Составил гораздо более совершенную карту мира (рис. 7 «Мир по Птолемею»).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892040" y="1371600"/>
            <a:ext cx="731520" cy="731520"/>
          </a:xfrm>
          <a:prstGeom prst="ellipse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974" y="153253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064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Страбон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58064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римский учёный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228600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Римский гражданин. Его сочинение «География» дошло до наших дней — самое полное собрание географических знаний античности.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457200" y="388620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12263F"/>
          </a:solidFill>
          <a:ln w="9525">
            <a:solidFill>
              <a:srgbClr val="1226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6" name="Text 12"/>
          <p:cNvSpPr txBox="1"/>
          <p:nvPr/>
        </p:nvSpPr>
        <p:spPr>
          <a:xfrm>
            <a:off x="685800" y="3886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Запишем: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истоков географии стоят учёные Древней Греции. Античные учёные предположили шарообразность планеты и высчитали её размеры.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Проверим себя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94360" cy="59436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Индия, Вавилон и Китай представляли Землю?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8" name="Shape 6"/>
          <p:cNvSpPr/>
          <p:nvPr/>
        </p:nvSpPr>
        <p:spPr>
          <a:xfrm>
            <a:off x="4892040" y="1737360"/>
            <a:ext cx="594360" cy="59436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Text 7"/>
          <p:cNvSpPr txBox="1"/>
          <p:nvPr/>
        </p:nvSpPr>
        <p:spPr>
          <a:xfrm>
            <a:off x="489204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715000" y="123444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совершили финикийцы по приказу фараона Нехо II?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594360" cy="59436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Text 11"/>
          <p:cNvSpPr txBox="1"/>
          <p:nvPr/>
        </p:nvSpPr>
        <p:spPr>
          <a:xfrm>
            <a:off x="685800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01752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первым обозначил на карте три части света?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663440" y="30175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6" name="Shape 14"/>
          <p:cNvSpPr/>
          <p:nvPr/>
        </p:nvSpPr>
        <p:spPr>
          <a:xfrm>
            <a:off x="4892040" y="3520440"/>
            <a:ext cx="594360" cy="59436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7" name="Text 15"/>
          <p:cNvSpPr txBox="1"/>
          <p:nvPr/>
        </p:nvSpPr>
        <p:spPr>
          <a:xfrm>
            <a:off x="4892040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301752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Аристотель доказал, что Земля — шар?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минут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Практическая работа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карт Эратосфена, Птолемея и </a:t>
            </a:r>
            <a:r>
              <a:rPr lang="en-US" sz="2800" dirty="0" err="1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современных</a:t>
            </a:r>
            <a:r>
              <a:rPr lang="en-US" sz="28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806440" y="1097280"/>
            <a:ext cx="2926080" cy="2926080"/>
          </a:xfrm>
          <a:prstGeom prst="ellipse">
            <a:avLst/>
          </a:prstGeom>
          <a:solidFill>
            <a:srgbClr val="12263F">
              <a:alpha val="0"/>
            </a:srgbClr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Shape 5"/>
          <p:cNvSpPr/>
          <p:nvPr/>
        </p:nvSpPr>
        <p:spPr>
          <a:xfrm>
            <a:off x="6128309" y="1419149"/>
            <a:ext cx="2282342" cy="2282342"/>
          </a:xfrm>
          <a:prstGeom prst="ellipse">
            <a:avLst/>
          </a:prstGeom>
          <a:solidFill>
            <a:srgbClr val="12263F">
              <a:alpha val="0"/>
            </a:srgbClr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Shape 6"/>
          <p:cNvSpPr/>
          <p:nvPr/>
        </p:nvSpPr>
        <p:spPr>
          <a:xfrm>
            <a:off x="6464808" y="1755648"/>
            <a:ext cx="1609344" cy="1609344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864" y="2109704"/>
            <a:ext cx="901233" cy="9012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ход работы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199" y="1188720"/>
            <a:ext cx="8229599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70545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Научиться сравнивать географические карты и находить в них аргументы для ответов на вопросы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Ход работы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" name="Shape 2"/>
          <p:cNvSpPr/>
          <p:nvPr/>
        </p:nvSpPr>
        <p:spPr>
          <a:xfrm>
            <a:off x="685800" y="1394460"/>
            <a:ext cx="502920" cy="50292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Text 3"/>
          <p:cNvSpPr txBox="1"/>
          <p:nvPr/>
        </p:nvSpPr>
        <p:spPr>
          <a:xfrm>
            <a:off x="685800" y="1394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1887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Рассмотрите три карты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8" name="Shape 6"/>
          <p:cNvSpPr/>
          <p:nvPr/>
        </p:nvSpPr>
        <p:spPr>
          <a:xfrm>
            <a:off x="685800" y="2354580"/>
            <a:ext cx="502920" cy="50292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Text 7"/>
          <p:cNvSpPr txBox="1"/>
          <p:nvPr/>
        </p:nvSpPr>
        <p:spPr>
          <a:xfrm>
            <a:off x="685800" y="23545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19456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Выполните 6 заданий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2" name="Shape 10"/>
          <p:cNvSpPr/>
          <p:nvPr/>
        </p:nvSpPr>
        <p:spPr>
          <a:xfrm>
            <a:off x="685800" y="3268980"/>
            <a:ext cx="502920" cy="50292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Text 11"/>
          <p:cNvSpPr txBox="1"/>
          <p:nvPr/>
        </p:nvSpPr>
        <p:spPr>
          <a:xfrm>
            <a:off x="685800" y="32689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10896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ищет информацию на карте – второй записывает. После нескольких заданий поменяйтесь ролями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6" name="Shape 14"/>
          <p:cNvSpPr/>
          <p:nvPr/>
        </p:nvSpPr>
        <p:spPr>
          <a:xfrm>
            <a:off x="685800" y="4137660"/>
            <a:ext cx="502920" cy="50292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7" name="Text 15"/>
          <p:cNvSpPr txBox="1"/>
          <p:nvPr/>
        </p:nvSpPr>
        <p:spPr>
          <a:xfrm>
            <a:off x="68580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02336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ответ подтверждайте картой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E2334-2455-5653-262C-28507D09E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960D63-419A-50AB-F039-449154FACE8E}"/>
              </a:ext>
            </a:extLst>
          </p:cNvPr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Задания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E2DA94F-8722-D126-D7E0-A3AB53F0F375}"/>
              </a:ext>
            </a:extLst>
          </p:cNvPr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6702C84-AAC6-5C85-E64A-F2C9004E664E}"/>
              </a:ext>
            </a:extLst>
          </p:cNvPr>
          <p:cNvSpPr/>
          <p:nvPr/>
        </p:nvSpPr>
        <p:spPr>
          <a:xfrm>
            <a:off x="685800" y="1394460"/>
            <a:ext cx="502920" cy="50292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207C74-6766-B69E-C395-720CC5083BE9}"/>
              </a:ext>
            </a:extLst>
          </p:cNvPr>
          <p:cNvSpPr txBox="1"/>
          <p:nvPr/>
        </p:nvSpPr>
        <p:spPr>
          <a:xfrm>
            <a:off x="685800" y="1394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A75A101-C169-D681-888B-46014C038992}"/>
              </a:ext>
            </a:extLst>
          </p:cNvPr>
          <p:cNvSpPr txBox="1"/>
          <p:nvPr/>
        </p:nvSpPr>
        <p:spPr>
          <a:xfrm>
            <a:off x="1417320" y="1188720"/>
            <a:ext cx="7269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части света изображены на карте Эратосфена?</a:t>
            </a:r>
            <a:endParaRPr lang="en-US" sz="2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584CBD6-73AC-794C-E78E-C5C9168CFC04}"/>
              </a:ext>
            </a:extLst>
          </p:cNvPr>
          <p:cNvSpPr/>
          <p:nvPr/>
        </p:nvSpPr>
        <p:spPr>
          <a:xfrm>
            <a:off x="457200" y="257175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72F1ED4-06C9-3F5A-CAF6-439367AD60D2}"/>
              </a:ext>
            </a:extLst>
          </p:cNvPr>
          <p:cNvSpPr/>
          <p:nvPr/>
        </p:nvSpPr>
        <p:spPr>
          <a:xfrm>
            <a:off x="685800" y="2703873"/>
            <a:ext cx="502920" cy="50292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F1B73B5-CEBE-DD0A-07F3-59B6ECC61F90}"/>
              </a:ext>
            </a:extLst>
          </p:cNvPr>
          <p:cNvSpPr txBox="1"/>
          <p:nvPr/>
        </p:nvSpPr>
        <p:spPr>
          <a:xfrm>
            <a:off x="685800" y="27317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C7DC154-6E67-0C43-66A3-A7F80BAEFA99}"/>
              </a:ext>
            </a:extLst>
          </p:cNvPr>
          <p:cNvSpPr txBox="1"/>
          <p:nvPr/>
        </p:nvSpPr>
        <p:spPr>
          <a:xfrm>
            <a:off x="1417320" y="2571750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море находится в центре карт Эратосфена и Птолемея? Почему?</a:t>
            </a:r>
            <a:endParaRPr lang="en-US" sz="2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28F3125-4D86-AF15-4DF2-7FE0C3B2F78A}"/>
              </a:ext>
            </a:extLst>
          </p:cNvPr>
          <p:cNvSpPr/>
          <p:nvPr/>
        </p:nvSpPr>
        <p:spPr>
          <a:xfrm>
            <a:off x="457200" y="3731217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95DFBC4-9FC0-5F39-D58C-E4BDA0CE6D8B}"/>
              </a:ext>
            </a:extLst>
          </p:cNvPr>
          <p:cNvSpPr/>
          <p:nvPr/>
        </p:nvSpPr>
        <p:spPr>
          <a:xfrm>
            <a:off x="685800" y="3863340"/>
            <a:ext cx="502920" cy="50292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633EC6C-2EED-BAC5-3C64-DEF7F0F1D50C}"/>
              </a:ext>
            </a:extLst>
          </p:cNvPr>
          <p:cNvSpPr txBox="1"/>
          <p:nvPr/>
        </p:nvSpPr>
        <p:spPr>
          <a:xfrm>
            <a:off x="685800" y="389123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84120E9-ED52-4044-D6E0-3F6133659BB6}"/>
              </a:ext>
            </a:extLst>
          </p:cNvPr>
          <p:cNvSpPr txBox="1"/>
          <p:nvPr/>
        </p:nvSpPr>
        <p:spPr>
          <a:xfrm>
            <a:off x="1417320" y="3731217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какой карте подробнее показана градусная сетка?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18189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5A12E-CBF1-621C-3FD5-FAE05D668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3AF708-9A61-6F69-94F9-D2E398DEEFF9}"/>
              </a:ext>
            </a:extLst>
          </p:cNvPr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Задания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D131D3-1A3E-ED4C-9554-32DB3F8E5376}"/>
              </a:ext>
            </a:extLst>
          </p:cNvPr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D373689-2E3F-F10E-E577-09887DC7C06E}"/>
              </a:ext>
            </a:extLst>
          </p:cNvPr>
          <p:cNvSpPr/>
          <p:nvPr/>
        </p:nvSpPr>
        <p:spPr>
          <a:xfrm>
            <a:off x="685800" y="1394460"/>
            <a:ext cx="502920" cy="50292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098CE7-5D95-DD49-11F1-00E928D49313}"/>
              </a:ext>
            </a:extLst>
          </p:cNvPr>
          <p:cNvSpPr txBox="1"/>
          <p:nvPr/>
        </p:nvSpPr>
        <p:spPr>
          <a:xfrm>
            <a:off x="685800" y="1394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b="1" dirty="0">
                <a:solidFill>
                  <a:srgbClr val="12263F"/>
                </a:solidFill>
                <a:latin typeface="Cambria" pitchFamily="34" charset="0"/>
              </a:rPr>
              <a:t>4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425810-C587-0309-2C10-BCBFA704592A}"/>
              </a:ext>
            </a:extLst>
          </p:cNvPr>
          <p:cNvSpPr txBox="1"/>
          <p:nvPr/>
        </p:nvSpPr>
        <p:spPr>
          <a:xfrm>
            <a:off x="1417320" y="1188720"/>
            <a:ext cx="7269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Африка на карте Птолемея отличается от современной карты?</a:t>
            </a:r>
            <a:endParaRPr lang="en-US" sz="2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B3CE8BD-DBB4-A891-51A5-52178E660552}"/>
              </a:ext>
            </a:extLst>
          </p:cNvPr>
          <p:cNvSpPr/>
          <p:nvPr/>
        </p:nvSpPr>
        <p:spPr>
          <a:xfrm>
            <a:off x="457200" y="257175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B92FCB9-5A04-8B25-604B-DD04E832D477}"/>
              </a:ext>
            </a:extLst>
          </p:cNvPr>
          <p:cNvSpPr/>
          <p:nvPr/>
        </p:nvSpPr>
        <p:spPr>
          <a:xfrm>
            <a:off x="685800" y="2703873"/>
            <a:ext cx="502920" cy="50292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8366F71-A929-D4AC-EFE2-2525E93E24B9}"/>
              </a:ext>
            </a:extLst>
          </p:cNvPr>
          <p:cNvSpPr txBox="1"/>
          <p:nvPr/>
        </p:nvSpPr>
        <p:spPr>
          <a:xfrm>
            <a:off x="685800" y="27317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b="1" dirty="0">
                <a:solidFill>
                  <a:srgbClr val="12263F"/>
                </a:solidFill>
                <a:latin typeface="Cambria" pitchFamily="34" charset="0"/>
              </a:rPr>
              <a:t>5</a:t>
            </a:r>
            <a:endParaRPr lang="en-US" sz="1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DE698C8-54E0-77D3-17D5-31B0F5535BE4}"/>
              </a:ext>
            </a:extLst>
          </p:cNvPr>
          <p:cNvSpPr txBox="1"/>
          <p:nvPr/>
        </p:nvSpPr>
        <p:spPr>
          <a:xfrm>
            <a:off x="1417320" y="2571750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изображен Индийский океан на карте Птолемея и современной карте?</a:t>
            </a:r>
            <a:endParaRPr lang="en-US" sz="2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48563B2-693C-2286-1E6D-15F5F3FC78F6}"/>
              </a:ext>
            </a:extLst>
          </p:cNvPr>
          <p:cNvSpPr/>
          <p:nvPr/>
        </p:nvSpPr>
        <p:spPr>
          <a:xfrm>
            <a:off x="457200" y="3731217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1227486-94DE-44B5-6C9D-0EE966DA37A2}"/>
              </a:ext>
            </a:extLst>
          </p:cNvPr>
          <p:cNvSpPr/>
          <p:nvPr/>
        </p:nvSpPr>
        <p:spPr>
          <a:xfrm>
            <a:off x="685800" y="3863340"/>
            <a:ext cx="502920" cy="50292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9EF7577-2344-AA48-5CFA-184B6B069890}"/>
              </a:ext>
            </a:extLst>
          </p:cNvPr>
          <p:cNvSpPr txBox="1"/>
          <p:nvPr/>
        </p:nvSpPr>
        <p:spPr>
          <a:xfrm>
            <a:off x="685800" y="389123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b="1" dirty="0">
                <a:solidFill>
                  <a:srgbClr val="12263F"/>
                </a:solidFill>
                <a:latin typeface="Cambria" pitchFamily="34" charset="0"/>
              </a:rPr>
              <a:t>6</a:t>
            </a:r>
            <a:endParaRPr lang="en-US" sz="1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AFD9C35-FA91-74AB-ACE7-01EE56D54CA1}"/>
              </a:ext>
            </a:extLst>
          </p:cNvPr>
          <p:cNvSpPr txBox="1"/>
          <p:nvPr/>
        </p:nvSpPr>
        <p:spPr>
          <a:xfrm>
            <a:off x="1417320" y="3731217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Назовите 2 материка, которых нет на древней карте. Почему их нет?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98050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28016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2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Shape 5"/>
          <p:cNvSpPr/>
          <p:nvPr/>
        </p:nvSpPr>
        <p:spPr>
          <a:xfrm>
            <a:off x="685800" y="3063240"/>
            <a:ext cx="548640" cy="548640"/>
          </a:xfrm>
          <a:prstGeom prst="ellipse">
            <a:avLst/>
          </a:prstGeom>
          <a:solidFill>
            <a:srgbClr val="E9A23B"/>
          </a:solidFill>
          <a:ln w="63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1" y="31839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60604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600"/>
              </a:spcAft>
            </a:pPr>
            <a:r>
              <a:rPr lang="ru-RU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Почему древние карты отличаются от современных?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урок!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1580</Words>
  <Application>Microsoft Macintosh PowerPoint</Application>
  <PresentationFormat>Экран (16:9)</PresentationFormat>
  <Paragraphs>159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Представления о мире в древности</dc:title>
  <dc:subject>PptxGenJS Presentation</dc:subject>
  <dc:creator>Учитель географии</dc:creator>
  <cp:lastModifiedBy>Немичев Алексей Владимирович</cp:lastModifiedBy>
  <cp:revision>3</cp:revision>
  <dcterms:created xsi:type="dcterms:W3CDTF">2026-09-20T05:44:10Z</dcterms:created>
  <dcterms:modified xsi:type="dcterms:W3CDTF">2026-09-20T15:21:08Z</dcterms:modified>
</cp:coreProperties>
</file>