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Вступление (2 мин). Сегодня узнаем, как европейцы поняли, что Земля шарообразна, а океаны соединены, и как благодаря этому изменилась карта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Определение эпохи (около 1 мин). Назовите рамки: XV – середина XVII века. Четыре главных результата: путь в Африку, путь в Индию, открытие Америки, путь вокруг света.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Причины (около 2 мин). Европейцам нужны пряности, шёлк и золото. После 1453 года сухопутные пути закрыты, значит, нужно искать дорогу по морю. Для этого появились новые корабли и приборы.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Корабль и приборы (около 1 мин). Каравелла, компас, астролябия. Мореплаватель – человек, который путешествует по морям и океанам.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Португальцы (около 3 мин). Они искали путь в Индию вокруг Африки. Генрих Мореплаватель организовывал экспедиции, Диаш дошёл до южной оконечности материка, да Гама достиг Индии.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Испанцы (около 3 мин). Колумб плыл на запад и открыл острова Центральной Америки, считая, что это Индия. Веспуччи понял, что это новый материк. Бальбоа увидел с берега новый океан.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Определения (около 1 мин). Прочитайте четыре термина, они понадобятся дальше: мореплаватель, пролив, материк, перешеек.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Магеллан (около 2 мин). Дайте определение кругосветного плавания. Магеллан – португальский мореплаватель на службе Испании. Пять кораблей, около 260 человек, выход 20 сентября 1519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Ход плавания (около 4 мин). Атлантика, пролив Магеллана в 1520 году, Тихий океан, Филиппины в 1521 году. После гибели Магеллана командование принял Хуан Себастьян Элькано. Из 260 человек вернулись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Значение плавания (около 2 мин). Доказано, что Земля шар, что Мировой океан един и что планета намного больше, чем считали. Дайте определение Мирового океана.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Интересный факт (около 1 мин). Антонио Пигафетта вёл дневник путешествия. Двигаясь на запад вслед за Солнцем, моряки «потеряли» сутки.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мира (около 3 мин). Появились Америка, очертания Африки, путь в Индию и Тихий океан. Северный берег Австралии открыли голландцы в 1606 году. Антарктиду открыли только в 1820 году.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Картографы (около 2 мин). Белые пятна – участки карты без достоверных сведений. Картография – наука о создании карт. Меркатор в 1569 году создал карту, удобную для мореплавателей, появились первые глобусы с Америкой.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(около 2 мин). Великие географические открытия показали, что Земля шар, а океаны образуют единый Мировой океан. Благодаря Диашу, да Гаме, Колумбу и Магеллану европейцы узнали о новых материках.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365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0100"/>
            <a:ext cx="10566400" cy="397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6365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0100"/>
            <a:ext cx="10566400" cy="397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17200" y="81280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50" kern="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5 КЛАСС</a:t>
            </a:r>
            <a:endParaRPr lang="en-US" sz="16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933700"/>
            <a:ext cx="10883392" cy="257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Великие географические открытия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56896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кругосветное плавание. Карта мира после эпохи открытий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УРОКА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13792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Эпоха Великих географических открытий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10566400" cy="2216150"/>
          </a:xfrm>
          <a:prstGeom prst="roundRect">
            <a:avLst>
              <a:gd name="adj" fmla="val 687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324100"/>
            <a:ext cx="1015085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XV – середина XVII века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68400" y="3117850"/>
            <a:ext cx="1015085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Эпоха Великих географических открытий</a:t>
            </a:r>
            <a:r>
              <a:rPr lang="en-US" sz="20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период, когда европейские мореплаватели открыли новые земли и морские пути.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9150" y="4394200"/>
            <a:ext cx="2495550" cy="679450"/>
          </a:xfrm>
          <a:prstGeom prst="roundRect">
            <a:avLst>
              <a:gd name="adj" fmla="val 17757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4603750"/>
            <a:ext cx="21387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 Африку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5200" y="4394200"/>
            <a:ext cx="2495550" cy="679450"/>
          </a:xfrm>
          <a:prstGeom prst="roundRect">
            <a:avLst>
              <a:gd name="adj" fmla="val 17757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4750" y="4603750"/>
            <a:ext cx="21387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 Индию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4394200"/>
            <a:ext cx="2495550" cy="679450"/>
          </a:xfrm>
          <a:prstGeom prst="roundRect">
            <a:avLst>
              <a:gd name="adj" fmla="val 17757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603750"/>
            <a:ext cx="21387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 Америки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77300" y="4394200"/>
            <a:ext cx="2495550" cy="679450"/>
          </a:xfrm>
          <a:prstGeom prst="roundRect">
            <a:avLst>
              <a:gd name="adj" fmla="val 17757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6850" y="4603750"/>
            <a:ext cx="21387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вокруг света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Почему начались открытия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74850"/>
            <a:ext cx="3373934" cy="2832100"/>
          </a:xfrm>
          <a:prstGeom prst="roundRect">
            <a:avLst>
              <a:gd name="adj" fmla="val 4260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pic>
        <p:nvPicPr>
          <p:cNvPr id="5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223520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500" y="2743200"/>
            <a:ext cx="31072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Богатства Востока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9500" y="3162300"/>
            <a:ext cx="293883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Пряности (перец, корица, гвоздика), шёлк, драгоценные камни и золото. Их везли из Индии и Китая.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08984" y="1974850"/>
            <a:ext cx="3373934" cy="2832100"/>
          </a:xfrm>
          <a:prstGeom prst="roundRect">
            <a:avLst>
              <a:gd name="adj" fmla="val 4260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9334" y="223520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9334" y="2743200"/>
            <a:ext cx="2938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1453 год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69334" y="3162300"/>
            <a:ext cx="2938831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Турки захватили Константинополь и закрыли старые торговые пути по суше и по Средиземному морю. Нужен путь по морю.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998817" y="1974850"/>
            <a:ext cx="3373934" cy="2832100"/>
          </a:xfrm>
          <a:prstGeom prst="roundRect">
            <a:avLst>
              <a:gd name="adj" fmla="val 4260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pic>
        <p:nvPicPr>
          <p:cNvPr id="13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9167" y="223520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9167" y="2743200"/>
            <a:ext cx="293883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Новые возможности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59167" y="3479800"/>
            <a:ext cx="293883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Появились корабли, способные уйти далеко в океан, приборы для плавания и более точные карты.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ПОМОГЛО МОРЕПЛАВАТЕЛЯМ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Корабль и приборы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3386634" cy="1835150"/>
          </a:xfrm>
          <a:prstGeom prst="roundRect">
            <a:avLst>
              <a:gd name="adj" fmla="val 6920"/>
            </a:avLst>
          </a:prstGeom>
          <a:solidFill>
            <a:srgbClr val="1E2F55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22500"/>
            <a:ext cx="296499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Каравелла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6800" y="271145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Лёгкий парусный корабль, способный ходить далеко в океан и против ветра.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2634" y="1968500"/>
            <a:ext cx="3386634" cy="1835150"/>
          </a:xfrm>
          <a:prstGeom prst="roundRect">
            <a:avLst>
              <a:gd name="adj" fmla="val 6920"/>
            </a:avLst>
          </a:prstGeom>
          <a:solidFill>
            <a:srgbClr val="1E2F55"/>
          </a:solidFill>
          <a:ln/>
        </p:spPr>
      </p:sp>
      <p:sp>
        <p:nvSpPr>
          <p:cNvPr id="8" name="Text 6"/>
          <p:cNvSpPr/>
          <p:nvPr/>
        </p:nvSpPr>
        <p:spPr>
          <a:xfrm>
            <a:off x="4656634" y="2222500"/>
            <a:ext cx="296499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Компас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56634" y="2711450"/>
            <a:ext cx="296499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Прибор, показывающий направление на север.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2467" y="1968500"/>
            <a:ext cx="3386634" cy="1835150"/>
          </a:xfrm>
          <a:prstGeom prst="roundRect">
            <a:avLst>
              <a:gd name="adj" fmla="val 6920"/>
            </a:avLst>
          </a:prstGeom>
          <a:solidFill>
            <a:srgbClr val="1E2F55"/>
          </a:solidFill>
          <a:ln/>
        </p:spPr>
      </p:sp>
      <p:sp>
        <p:nvSpPr>
          <p:cNvPr id="11" name="Text 9"/>
          <p:cNvSpPr/>
          <p:nvPr/>
        </p:nvSpPr>
        <p:spPr>
          <a:xfrm>
            <a:off x="8246467" y="2222500"/>
            <a:ext cx="296499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Астролябия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46467" y="2711450"/>
            <a:ext cx="296499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 для определения положения корабля по Солнцу и звёздам.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00685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Кроме того, мореплаватели получили более точные карты.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НА ВОСТОК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Португальцы: вокруг Африки в Индию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74850"/>
            <a:ext cx="3382466" cy="2527300"/>
          </a:xfrm>
          <a:prstGeom prst="roundRect">
            <a:avLst>
              <a:gd name="adj" fmla="val 4774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235200"/>
            <a:ext cx="294761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XV век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79500" y="2768600"/>
            <a:ext cx="29476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Принц Генрих Мореплаватель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3441700"/>
            <a:ext cx="29476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Организовал морскую школу и экспедиции вдоль берегов Африки. Сам почти не плавал.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7516" y="1974850"/>
            <a:ext cx="3382466" cy="2527300"/>
          </a:xfrm>
          <a:prstGeom prst="roundRect">
            <a:avLst>
              <a:gd name="adj" fmla="val 4774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7866" y="2235200"/>
            <a:ext cx="294761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77866" y="2768600"/>
            <a:ext cx="294761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Бартоломеу Диаш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77866" y="3149600"/>
            <a:ext cx="294761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Дошёл до южной оконечности Африки. Мыс Бурь позже назвали мысом Доброй Надежды.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9533" y="1968500"/>
            <a:ext cx="3369766" cy="2540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63533" y="2222500"/>
            <a:ext cx="294761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1497–1499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63533" y="2755900"/>
            <a:ext cx="294761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Васко да Гама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63533" y="3136900"/>
            <a:ext cx="29476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Обогнул Африку и первым из европейцев по морю доплыл до Индии, в город Каликут.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НА ЗАПАД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Колумб и открытие Америки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5929709" cy="3505200"/>
          </a:xfrm>
          <a:prstGeom prst="roundRect">
            <a:avLst>
              <a:gd name="adj" fmla="val 4348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73300"/>
            <a:ext cx="547971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1492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17600" y="3175000"/>
            <a:ext cx="547971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Христофор Колумб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7600" y="3625850"/>
            <a:ext cx="547971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Итальянец на службе Испании. Плыл на запад через Атлантику и открыл острова Центральной Америки. До конца жизни считал, что достиг Индии, поэтому коренных жителей назвали индейцами.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52059" y="1974850"/>
            <a:ext cx="4420791" cy="1638300"/>
          </a:xfrm>
          <a:prstGeom prst="roundRect">
            <a:avLst>
              <a:gd name="adj" fmla="val 7364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87009" y="2209800"/>
            <a:ext cx="406941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Америго Веспуччи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87009" y="2578100"/>
            <a:ext cx="406941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Понял, что открыта не Индия, а новый материк. В его честь материк назвали Америкой.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52059" y="3829050"/>
            <a:ext cx="4420791" cy="1638300"/>
          </a:xfrm>
          <a:prstGeom prst="roundRect">
            <a:avLst>
              <a:gd name="adj" fmla="val 7364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7009" y="4064000"/>
            <a:ext cx="406941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1513 · Бальбоа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87009" y="4432300"/>
            <a:ext cx="406941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Васко Нуньес де Бальбоа пересёк Панамский перешеек и увидел с берега новый океан.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ОПРЕДЕЛЕНИЯ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Слова путешественников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5181600" cy="1473200"/>
          </a:xfrm>
          <a:prstGeom prst="roundRect">
            <a:avLst>
              <a:gd name="adj" fmla="val 8621"/>
            </a:avLst>
          </a:prstGeom>
          <a:solidFill>
            <a:srgbClr val="1E2F55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225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Мореплаватель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6800" y="262890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Человек, который путешествует по морям и океанам.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968500"/>
            <a:ext cx="5181600" cy="1473200"/>
          </a:xfrm>
          <a:prstGeom prst="roundRect">
            <a:avLst>
              <a:gd name="adj" fmla="val 8621"/>
            </a:avLst>
          </a:prstGeom>
          <a:solidFill>
            <a:srgbClr val="1E2F55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2225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Пролив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51600" y="262890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Узкая полоса воды между двумя участками суши, соединяющая два водоёма.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644900"/>
            <a:ext cx="5181600" cy="1473200"/>
          </a:xfrm>
          <a:prstGeom prst="roundRect">
            <a:avLst>
              <a:gd name="adj" fmla="val 8621"/>
            </a:avLst>
          </a:prstGeom>
          <a:solidFill>
            <a:srgbClr val="1E2F55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8989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Материк (континент)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6800" y="4305300"/>
            <a:ext cx="48138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Огромный участок суши, окружённый водой.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7600" y="3644900"/>
            <a:ext cx="5181600" cy="1473200"/>
          </a:xfrm>
          <a:prstGeom prst="roundRect">
            <a:avLst>
              <a:gd name="adj" fmla="val 8621"/>
            </a:avLst>
          </a:prstGeom>
          <a:solidFill>
            <a:srgbClr val="1E2F55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8989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Перешеек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51600" y="430530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Узкая полоса суши, соединяющая две большие части суши.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КРУГОСВЕТНОЕ ПЛАВАНИЕ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Фернан Магеллан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8500"/>
            <a:ext cx="108833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Кругосветное плавание</a:t>
            </a:r>
            <a:r>
              <a:rPr lang="en-US" sz="18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путешествие, в котором корабль, выйдя из порта, возвращается в тот же порт с противоположной стороны, обойдя вокруг Земли.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8067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Португальский мореплаватель на службе испанского короля. Искал западный путь к островам пряностей.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3289300"/>
            <a:ext cx="3403600" cy="1676400"/>
          </a:xfrm>
          <a:prstGeom prst="roundRect">
            <a:avLst>
              <a:gd name="adj" fmla="val 7576"/>
            </a:avLst>
          </a:prstGeom>
          <a:solidFill>
            <a:srgbClr val="1E2F55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3517900"/>
            <a:ext cx="30347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1400" y="4203700"/>
            <a:ext cx="30347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кораблей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94200" y="3289300"/>
            <a:ext cx="3403600" cy="1676400"/>
          </a:xfrm>
          <a:prstGeom prst="roundRect">
            <a:avLst>
              <a:gd name="adj" fmla="val 7576"/>
            </a:avLst>
          </a:prstGeom>
          <a:solidFill>
            <a:srgbClr val="1E2F55"/>
          </a:solidFill>
          <a:ln/>
        </p:spPr>
      </p:sp>
      <p:sp>
        <p:nvSpPr>
          <p:cNvPr id="10" name="Text 8"/>
          <p:cNvSpPr/>
          <p:nvPr/>
        </p:nvSpPr>
        <p:spPr>
          <a:xfrm>
            <a:off x="4622800" y="3517900"/>
            <a:ext cx="30347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260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22800" y="4203700"/>
            <a:ext cx="30347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в экипаже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75600" y="3289300"/>
            <a:ext cx="3403600" cy="1676400"/>
          </a:xfrm>
          <a:prstGeom prst="roundRect">
            <a:avLst>
              <a:gd name="adj" fmla="val 7576"/>
            </a:avLst>
          </a:prstGeom>
          <a:solidFill>
            <a:srgbClr val="1E2F55"/>
          </a:solidFill>
          <a:ln/>
        </p:spPr>
      </p:sp>
      <p:sp>
        <p:nvSpPr>
          <p:cNvPr id="13" name="Text 11"/>
          <p:cNvSpPr/>
          <p:nvPr/>
        </p:nvSpPr>
        <p:spPr>
          <a:xfrm>
            <a:off x="8204200" y="3517900"/>
            <a:ext cx="30347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1519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04200" y="4203700"/>
            <a:ext cx="30347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год: 20 сентября экспедиция вышла из порта Испании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КРУГОСВЕТНОЕ ПЛАВАНИЕ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Ход плавания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2508250" cy="2622550"/>
          </a:xfrm>
          <a:prstGeom prst="roundRect">
            <a:avLst>
              <a:gd name="adj" fmla="val 4051"/>
            </a:avLst>
          </a:prstGeom>
          <a:solidFill>
            <a:srgbClr val="FBF7E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68500"/>
            <a:ext cx="2508250" cy="2622550"/>
          </a:xfrm>
          <a:custGeom>
            <a:avLst/>
            <a:gdLst/>
            <a:ahLst/>
            <a:cxnLst/>
            <a:rect l="l" t="t" r="r" b="b"/>
            <a:pathLst>
              <a:path w="2508250" h="26225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B547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22500"/>
            <a:ext cx="216490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1519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2787650"/>
            <a:ext cx="216490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кораблей выходят из Испании и идут через Атлантику к Южной Америке.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98850" y="1968500"/>
            <a:ext cx="2508250" cy="2622550"/>
          </a:xfrm>
          <a:prstGeom prst="roundRect">
            <a:avLst>
              <a:gd name="adj" fmla="val 4051"/>
            </a:avLst>
          </a:prstGeom>
          <a:solidFill>
            <a:srgbClr val="FBF7EC"/>
          </a:solidFill>
          <a:ln/>
        </p:spPr>
      </p:sp>
      <p:sp>
        <p:nvSpPr>
          <p:cNvPr id="9" name="Shape 7"/>
          <p:cNvSpPr/>
          <p:nvPr/>
        </p:nvSpPr>
        <p:spPr>
          <a:xfrm>
            <a:off x="3498850" y="1968500"/>
            <a:ext cx="2508250" cy="2622550"/>
          </a:xfrm>
          <a:custGeom>
            <a:avLst/>
            <a:gdLst/>
            <a:ahLst/>
            <a:cxnLst/>
            <a:rect l="l" t="t" r="r" b="b"/>
            <a:pathLst>
              <a:path w="2508250" h="26225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B5472A"/>
          </a:solidFill>
          <a:ln/>
        </p:spPr>
      </p:sp>
      <p:sp>
        <p:nvSpPr>
          <p:cNvPr id="10" name="Text 8"/>
          <p:cNvSpPr/>
          <p:nvPr/>
        </p:nvSpPr>
        <p:spPr>
          <a:xfrm>
            <a:off x="3702050" y="2222500"/>
            <a:ext cx="216490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02050" y="2787650"/>
            <a:ext cx="216490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Магеллан находит пролив на юге материка. За ним открылся спокойный океан, названный Тихим.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4900" y="1968500"/>
            <a:ext cx="2508250" cy="2622550"/>
          </a:xfrm>
          <a:prstGeom prst="roundRect">
            <a:avLst>
              <a:gd name="adj" fmla="val 4051"/>
            </a:avLst>
          </a:prstGeom>
          <a:solidFill>
            <a:srgbClr val="FBF7E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4900" y="1968500"/>
            <a:ext cx="2508250" cy="2622550"/>
          </a:xfrm>
          <a:custGeom>
            <a:avLst/>
            <a:gdLst/>
            <a:ahLst/>
            <a:cxnLst/>
            <a:rect l="l" t="t" r="r" b="b"/>
            <a:pathLst>
              <a:path w="2508250" h="26225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B54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388100" y="2222500"/>
            <a:ext cx="216490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1521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88100" y="2787650"/>
            <a:ext cx="216490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Моряки в голоде и жажде достигают Филиппин. 27 апреля Магеллан погибает на острове Мактан.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70950" y="1968500"/>
            <a:ext cx="2508250" cy="2622550"/>
          </a:xfrm>
          <a:prstGeom prst="roundRect">
            <a:avLst>
              <a:gd name="adj" fmla="val 4051"/>
            </a:avLst>
          </a:prstGeom>
          <a:solidFill>
            <a:srgbClr val="14213D"/>
          </a:solidFill>
          <a:ln/>
        </p:spPr>
      </p:sp>
      <p:sp>
        <p:nvSpPr>
          <p:cNvPr id="17" name="Shape 15"/>
          <p:cNvSpPr/>
          <p:nvPr/>
        </p:nvSpPr>
        <p:spPr>
          <a:xfrm>
            <a:off x="8870950" y="1968500"/>
            <a:ext cx="2508250" cy="2622550"/>
          </a:xfrm>
          <a:custGeom>
            <a:avLst/>
            <a:gdLst/>
            <a:ahLst/>
            <a:cxnLst/>
            <a:rect l="l" t="t" r="r" b="b"/>
            <a:pathLst>
              <a:path w="2508250" h="26225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0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074150" y="2222500"/>
            <a:ext cx="216490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1522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74150" y="2787650"/>
            <a:ext cx="216490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сентября Элькано приводит корабль «Виктория» в Испанию. Вернулись 18 человек.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ПЛАВАНИЯ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Что доказало путешествие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4998740" cy="3771900"/>
          </a:xfrm>
          <a:prstGeom prst="roundRect">
            <a:avLst>
              <a:gd name="adj" fmla="val 404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73300"/>
            <a:ext cx="452081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260 → 18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17600" y="3200400"/>
            <a:ext cx="452081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Столько человек вышло в плавание и вернулось домой.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600" y="3886200"/>
            <a:ext cx="45208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Мировой океан</a:t>
            </a:r>
            <a:r>
              <a:rPr lang="en-US" sz="15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всё водное пространство Земли, непрерывная водная оболочка планеты.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21090" y="1974850"/>
            <a:ext cx="5351760" cy="1143000"/>
          </a:xfrm>
          <a:prstGeom prst="roundRect">
            <a:avLst>
              <a:gd name="adj" fmla="val 10556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0640" y="2184400"/>
            <a:ext cx="508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Земля – шар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30640" y="2552700"/>
            <a:ext cx="5080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Корабль, идя на запад, вернулся в начальную точку.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21090" y="3282950"/>
            <a:ext cx="5351760" cy="1143000"/>
          </a:xfrm>
          <a:prstGeom prst="roundRect">
            <a:avLst>
              <a:gd name="adj" fmla="val 10556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0640" y="3492500"/>
            <a:ext cx="5080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Мировой океан един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30640" y="3860800"/>
            <a:ext cx="5080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океаны связаны между собой.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21090" y="4591050"/>
            <a:ext cx="5351760" cy="1143000"/>
          </a:xfrm>
          <a:prstGeom prst="roundRect">
            <a:avLst>
              <a:gd name="adj" fmla="val 10556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0640" y="4800600"/>
            <a:ext cx="5080640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781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Земля больше, чем считали</a:t>
            </a:r>
            <a:endParaRPr lang="en-US" sz="1781" dirty="0"/>
          </a:p>
        </p:txBody>
      </p:sp>
      <p:sp>
        <p:nvSpPr>
          <p:cNvPr id="16" name="Text 14"/>
          <p:cNvSpPr/>
          <p:nvPr/>
        </p:nvSpPr>
        <p:spPr>
          <a:xfrm>
            <a:off x="6230640" y="5102523"/>
            <a:ext cx="5080640" cy="447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14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 планеты оказались намного больше прежних представлений.</a:t>
            </a:r>
            <a:endParaRPr lang="en-US" sz="121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4225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50" kern="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ИНТЕРЕСНЫЙ ФАКТ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762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Потерянные сутки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641725"/>
            <a:ext cx="10883392" cy="11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 плавания Антонио Пигафетта вёл дневник и заметил: двигаясь вслед за Солнцем на запад, путешественники по календарю вернулись на день позже, чем думали.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МИРА ПОСЛЕ ОТКРЫТИЙ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Что изменилось на карте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8500"/>
            <a:ext cx="108833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 европейцы знали только Европу, Азию и Африку.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470150"/>
            <a:ext cx="5588000" cy="259080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749550"/>
            <a:ext cx="51800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Появилось на карте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68908" y="3225800"/>
            <a:ext cx="5095748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Северная и Южная Америка – «Новый Свет»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Очертания берегов Африки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Морской путь в Индию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океан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Северный берег Австралии (голландцы, 1606)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0350" y="2476500"/>
            <a:ext cx="4762500" cy="2578100"/>
          </a:xfrm>
          <a:prstGeom prst="roundRect">
            <a:avLst>
              <a:gd name="adj" fmla="val 5665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2762250"/>
            <a:ext cx="447040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Оставалось неизвестным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72808" y="3238500"/>
            <a:ext cx="423240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Антарктида (открыта в 1820 году)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районы материков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Полярные области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B5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КАРТОГРАФИЯ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Белые пятна и новые карты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74850"/>
            <a:ext cx="5168900" cy="1727200"/>
          </a:xfrm>
          <a:prstGeom prst="roundRect">
            <a:avLst>
              <a:gd name="adj" fmla="val 6985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235200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Белые пятна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9500" y="2641600"/>
            <a:ext cx="478764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Участки карты, о которых у учёных не было достоверных сведений, поэтому их оставляли пустыми.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3950" y="1974850"/>
            <a:ext cx="5168900" cy="1727200"/>
          </a:xfrm>
          <a:prstGeom prst="roundRect">
            <a:avLst>
              <a:gd name="adj" fmla="val 6985"/>
            </a:avLst>
          </a:prstGeom>
          <a:solidFill>
            <a:srgbClr val="FBF7EC"/>
          </a:solidFill>
          <a:ln w="12700">
            <a:solidFill>
              <a:srgbClr val="DCC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235200"/>
            <a:ext cx="4787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B547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Картография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64300" y="2641600"/>
            <a:ext cx="478764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Наука о создании карт.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9116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1656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Герард Меркатор, 1569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6800" y="4572000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 карту мира с прямыми параллелями и меридианами – удобную для мореплавателей. Такие карты используют и сейчас.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7600" y="3911600"/>
            <a:ext cx="5181600" cy="171450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416560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Первые глобусы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51600" y="4572000"/>
            <a:ext cx="492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Появились глобусы, на которых уже была Америка.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УРОКА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365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Земля – шар, а океаны едины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68500"/>
            <a:ext cx="2508250" cy="1733550"/>
          </a:xfrm>
          <a:prstGeom prst="roundRect">
            <a:avLst>
              <a:gd name="adj" fmla="val 7326"/>
            </a:avLst>
          </a:prstGeom>
          <a:solidFill>
            <a:srgbClr val="1E2F55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71700"/>
            <a:ext cx="216490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1488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6000" y="2635250"/>
            <a:ext cx="216490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Диаш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3003550"/>
            <a:ext cx="21649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Южная оконечность Африки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8850" y="1968500"/>
            <a:ext cx="2508250" cy="1733550"/>
          </a:xfrm>
          <a:prstGeom prst="roundRect">
            <a:avLst>
              <a:gd name="adj" fmla="val 7326"/>
            </a:avLst>
          </a:prstGeom>
          <a:solidFill>
            <a:srgbClr val="1E2F55"/>
          </a:solidFill>
          <a:ln/>
        </p:spPr>
      </p:sp>
      <p:sp>
        <p:nvSpPr>
          <p:cNvPr id="9" name="Text 7"/>
          <p:cNvSpPr/>
          <p:nvPr/>
        </p:nvSpPr>
        <p:spPr>
          <a:xfrm>
            <a:off x="3702050" y="2171700"/>
            <a:ext cx="216490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1492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2050" y="2635250"/>
            <a:ext cx="216490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Колумб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2050" y="3003550"/>
            <a:ext cx="21649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на запад и новый материк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4900" y="1968500"/>
            <a:ext cx="2508250" cy="1733550"/>
          </a:xfrm>
          <a:prstGeom prst="roundRect">
            <a:avLst>
              <a:gd name="adj" fmla="val 7326"/>
            </a:avLst>
          </a:prstGeom>
          <a:solidFill>
            <a:srgbClr val="1E2F55"/>
          </a:solidFill>
          <a:ln/>
        </p:spPr>
      </p:sp>
      <p:sp>
        <p:nvSpPr>
          <p:cNvPr id="13" name="Text 11"/>
          <p:cNvSpPr/>
          <p:nvPr/>
        </p:nvSpPr>
        <p:spPr>
          <a:xfrm>
            <a:off x="6388100" y="2171700"/>
            <a:ext cx="216490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1497–1499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88100" y="2635250"/>
            <a:ext cx="216490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Да Гама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88100" y="3003550"/>
            <a:ext cx="21649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Морской путь в Индию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0950" y="1968500"/>
            <a:ext cx="2508250" cy="1733550"/>
          </a:xfrm>
          <a:prstGeom prst="roundRect">
            <a:avLst>
              <a:gd name="adj" fmla="val 7326"/>
            </a:avLst>
          </a:prstGeom>
          <a:solidFill>
            <a:srgbClr val="1E2F55"/>
          </a:solidFill>
          <a:ln/>
        </p:spPr>
      </p:sp>
      <p:sp>
        <p:nvSpPr>
          <p:cNvPr id="17" name="Text 15"/>
          <p:cNvSpPr/>
          <p:nvPr/>
        </p:nvSpPr>
        <p:spPr>
          <a:xfrm>
            <a:off x="9074150" y="2171700"/>
            <a:ext cx="216490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A93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1519–1522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74150" y="2635250"/>
            <a:ext cx="216490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Магеллан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74150" y="3003550"/>
            <a:ext cx="21649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кругосветное плавание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3905250"/>
            <a:ext cx="108833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E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мира стала намного полнее и точнее, но многие земли ещё оставались неизвестными. Их изучение продолжили позднейшие путешественники.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Великие географические открытия">
  <a:themeElements>
    <a:clrScheme name="Великие географические открытия">
      <a:dk1>
        <a:srgbClr val="14213D"/>
      </a:dk1>
      <a:lt1>
        <a:srgbClr val="F5EFE0"/>
      </a:lt1>
      <a:dk2>
        <a:srgbClr val="4C5566"/>
      </a:dk2>
      <a:lt2>
        <a:srgbClr val="DFDAD0"/>
      </a:lt2>
      <a:accent1>
        <a:srgbClr val="E0A93B"/>
      </a:accent1>
      <a:accent2>
        <a:srgbClr val="B5472A"/>
      </a:accent2>
      <a:accent3>
        <a:srgbClr val="3A4256"/>
      </a:accent3>
      <a:accent4>
        <a:srgbClr val="C9D3E3"/>
      </a:accent4>
      <a:accent5>
        <a:srgbClr val="9AA0A6"/>
      </a:accent5>
      <a:accent6>
        <a:srgbClr val="6E737E"/>
      </a:accent6>
      <a:hlink>
        <a:srgbClr val="0563C1"/>
      </a:hlink>
      <a:folHlink>
        <a:srgbClr val="954F72"/>
      </a:folHlink>
    </a:clrScheme>
    <a:fontScheme name="Великие географические открытия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Великие географические открытия</dc:title>
  <dc:subject/>
  <dc:creator/>
  <cp:lastModifiedBy/>
  <cp:revision>1</cp:revision>
  <dcterms:created xsi:type="dcterms:W3CDTF">2026-10-11T17:07:45Z</dcterms:created>
  <dcterms:modified xsi:type="dcterms:W3CDTF">2026-10-11T17:07:45Z</dcterms:modified>
</cp:coreProperties>
</file>