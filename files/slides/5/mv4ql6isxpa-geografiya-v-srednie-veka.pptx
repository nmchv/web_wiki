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93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 (0–1 мин). Приветствие. Связка с прошлым уроком: учёные Древней Греции решили, что Земля — шар. Могли ли люди забыть такое знание? Запись темы в тетрадь.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 (3–6 мин, вместе со слайдом 4). Рассказ по параграфу. Вопрос классу: почему знания античных учёных были забыты? (Упадок, мифы вместо доказательств.) Дату падения Римской империи лучше не называть: в учебнике указан II в., исторически падение Западной Римской империи относят к V 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4. Продолжение рассказа и запись вывода в тетрадь. Самыми значимыми для периода стали походы викингов и арабов; самые известные путешественники — Марко Поло и Афанасий Никитин.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 (6–10 мин, вместе со слайдом 6). Вопрос: как называли викингов на Руси? (Варяги.) Работа с рис. 11: что можно сказать о корабле? (Килевой, для морских плаваний.)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6. Покажите на карте: Фарерские острова, Исландию, Гренландию, Северную Америку; Балтийское, Чёрное, Каспийское моря. Запись в тетрадь: «Викинги открыли Гренландию и другие северные острова, доходили до берегов Северной Америки и Чёрного моря». Заполните в таблице строку «Викинги».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 (10–14 мин, вместе со слайдом 8). Когда в Европе был упадок, арабский Восток переживал расцвет. Вопрос: что сделали арабские учёные для науки? (Сохранили идеи и представления античных мыслителей.)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8. Величайшим путешественником считают марокканца Ибн-Батуту. Покажите на карте Танжер, Аравию, Индию, Китай, Сахару. Заполните в таблице строку «Ибн-Батута»: он оставил книгу с огромным количеством географических и исторических сведений.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9 (14–17 мин). Работа с рис. 8, 9, 10. Покажите на карте Венецию, Китай, Тверь, Индию. Ответ на вопрос: оба купцы, оба ходили на Восток, оба оставили записи о своих путешествиях. Заполните строки таблицы. Можно упомянуть, что о русских путешественниках речь пойдёт и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10 (17–19 мин). Ответы: 1 — неверно (упадок); 2 — верно; 3 — верно; 4 — верно; 5 — верно; 6 — неверно (в Индию). Если времени мало, оставьте три вопроса.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11 (17–19 мин, вместе со слайдом 10). Проверка таблицы в тетради. Если не успели дозаполнить — задать на 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12 (19–20 мин). Рефлексия: 2–3 ученика продолжают фразу или показывают «светофор». Затем домашнее задание.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ГЕОГРАФИЯ · 5 КЛАСС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География в эпоху Средневековья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394960" y="868680"/>
            <a:ext cx="3383280" cy="3383280"/>
          </a:xfrm>
          <a:prstGeom prst="ellipse">
            <a:avLst/>
          </a:prstGeom>
          <a:solidFill>
            <a:srgbClr val="12263F">
              <a:alpha val="0"/>
            </a:srgbClr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5767121" y="1240841"/>
            <a:ext cx="2638958" cy="2638958"/>
          </a:xfrm>
          <a:prstGeom prst="ellipse">
            <a:avLst/>
          </a:prstGeom>
          <a:solidFill>
            <a:srgbClr val="12263F">
              <a:alpha val="0"/>
            </a:srgbClr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6156198" y="1629918"/>
            <a:ext cx="1860804" cy="1860804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575" y="2039295"/>
            <a:ext cx="1042050" cy="1042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Упадок знаний в Европе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777240" cy="77724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3" y="1771193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188720"/>
            <a:ext cx="2697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падения Римской империи наступили суровые времена упадка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8" name="Shape 5"/>
          <p:cNvSpPr/>
          <p:nvPr/>
        </p:nvSpPr>
        <p:spPr>
          <a:xfrm>
            <a:off x="4892040" y="1600200"/>
            <a:ext cx="777240" cy="77724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033" y="1771193"/>
            <a:ext cx="435254" cy="43525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52160" y="1188720"/>
            <a:ext cx="2697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Древние книги хранились только за высокими стенами монастырей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2" name="Shape 8"/>
          <p:cNvSpPr/>
          <p:nvPr/>
        </p:nvSpPr>
        <p:spPr>
          <a:xfrm>
            <a:off x="685800" y="3383280"/>
            <a:ext cx="777240" cy="77724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3" y="3554273"/>
            <a:ext cx="435254" cy="43525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2971800"/>
            <a:ext cx="2697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доказательств для объяснения природы казался обычным людям лишним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6" name="Shape 11"/>
          <p:cNvSpPr/>
          <p:nvPr/>
        </p:nvSpPr>
        <p:spPr>
          <a:xfrm>
            <a:off x="4892040" y="3383280"/>
            <a:ext cx="777240" cy="777240"/>
          </a:xfrm>
          <a:prstGeom prst="ellipse">
            <a:avLst/>
          </a:prstGeom>
          <a:solidFill>
            <a:srgbClr val="12263F"/>
          </a:solidFill>
          <a:ln w="6350">
            <a:solidFill>
              <a:srgbClr val="12263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033" y="3554273"/>
            <a:ext cx="435254" cy="43525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52160" y="2971800"/>
            <a:ext cx="2697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античных учёных о шарообразности Земли была забыта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Мифы и источники сведений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12263F"/>
          </a:solidFill>
          <a:ln w="9525">
            <a:solidFill>
              <a:srgbClr val="1226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 txBox="1"/>
          <p:nvPr/>
        </p:nvSpPr>
        <p:spPr>
          <a:xfrm>
            <a:off x="685800" y="12984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Знания подменялись мифами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«небесная твердь»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«хрустальный небосклон», к которому «приколочены» звёзды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«земной рай» к востоку от Иерусалима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 с пёсьими головами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Откуда брались сведения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92040" y="1874520"/>
            <a:ext cx="502920" cy="50292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682" y="1985162"/>
            <a:ext cx="281635" cy="28163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23560" y="18288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Торговые и посольские миссии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892040" y="2532888"/>
            <a:ext cx="502920" cy="50292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682" y="2643530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23560" y="24871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Военные походы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892040" y="3191256"/>
            <a:ext cx="502920" cy="50292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2682" y="3301898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623560" y="314553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Паломничество к святым местам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57200" y="402336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1C7293"/>
          </a:solidFill>
          <a:ln w="952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8" name="Text 13"/>
          <p:cNvSpPr txBox="1"/>
          <p:nvPr/>
        </p:nvSpPr>
        <p:spPr>
          <a:xfrm>
            <a:off x="685800" y="4023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Средние века многие идеи Античности, в том числе о шарообразности Земли, были забыты. Накапливались справочные географические сведения.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Викинги (VIII–XI вв.)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2263F"/>
          </a:solidFill>
          <a:ln w="9525">
            <a:solidFill>
              <a:srgbClr val="1226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САМИ СЕБЯ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Викинги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64408" y="11887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2263F"/>
          </a:solidFill>
          <a:ln w="9525">
            <a:solidFill>
              <a:srgbClr val="1226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 txBox="1"/>
          <p:nvPr/>
        </p:nvSpPr>
        <p:spPr>
          <a:xfrm>
            <a:off x="3447288" y="1371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ЗАПАДНОЙ ЕВРОПЕ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1737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Норманны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071616" y="11887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2263F"/>
          </a:solidFill>
          <a:ln w="9525">
            <a:solidFill>
              <a:srgbClr val="1226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0" name="Text 8"/>
          <p:cNvSpPr txBox="1"/>
          <p:nvPr/>
        </p:nvSpPr>
        <p:spPr>
          <a:xfrm>
            <a:off x="6254496" y="1371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ДРЕВНЕЙ РУСИ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54496" y="1737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Варяги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3" name="Shape 11"/>
          <p:cNvSpPr/>
          <p:nvPr/>
        </p:nvSpPr>
        <p:spPr>
          <a:xfrm>
            <a:off x="685800" y="2926080"/>
            <a:ext cx="685800" cy="685800"/>
          </a:xfrm>
          <a:prstGeom prst="ellipse">
            <a:avLst/>
          </a:prstGeom>
          <a:solidFill>
            <a:srgbClr val="B9503F"/>
          </a:solidFill>
          <a:ln w="6350">
            <a:solidFill>
              <a:srgbClr val="B9503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076956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00200" y="2697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Грабили и разоряли прибрежные поселения в Европе, прослыли язычниками и захватчиками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663440" y="26974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85800" cy="68580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916" y="3076956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806440" y="2697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Торговали рыбой и морским зверем, были отважными мореходами и первооткрывателями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DCEBF5"/>
          </a:solidFill>
          <a:ln w="9525">
            <a:solidFill>
              <a:srgbClr val="DCEB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21" name="Text 17"/>
          <p:cNvSpPr txBox="1"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Ходили на килевых кораблях (рис. 11 учебника) по северным морям и вглубь Восточной Европы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Открытия викингов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ЗАПАД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" y="1417320"/>
            <a:ext cx="731520" cy="73152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774" y="1578254"/>
            <a:ext cx="409651" cy="4096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0" y="1783080"/>
            <a:ext cx="1143000" cy="0"/>
          </a:xfrm>
          <a:prstGeom prst="line">
            <a:avLst/>
          </a:prstGeom>
          <a:noFill/>
          <a:ln w="31750">
            <a:solidFill>
              <a:srgbClr val="E9A23B"/>
            </a:solidFill>
            <a:prstDash val="solid"/>
            <a:tailEnd type="triangle"/>
          </a:ln>
        </p:spPr>
        <p:txBody>
          <a:bodyPr/>
          <a:lstStyle/>
          <a:p>
            <a:endParaRPr lang="ru-US"/>
          </a:p>
        </p:txBody>
      </p:sp>
      <p:sp>
        <p:nvSpPr>
          <p:cNvPr id="7" name="Text 4"/>
          <p:cNvSpPr txBox="1"/>
          <p:nvPr/>
        </p:nvSpPr>
        <p:spPr>
          <a:xfrm>
            <a:off x="41148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Фарерские острова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834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острова Северной Атлантики, викинги укрепились на многих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63240" y="1417320"/>
            <a:ext cx="731520" cy="73152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4174" y="1578254"/>
            <a:ext cx="409651" cy="40965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886200" y="1783080"/>
            <a:ext cx="1143000" cy="0"/>
          </a:xfrm>
          <a:prstGeom prst="line">
            <a:avLst/>
          </a:prstGeom>
          <a:noFill/>
          <a:ln w="31750">
            <a:solidFill>
              <a:srgbClr val="E9A23B"/>
            </a:solidFill>
            <a:prstDash val="solid"/>
            <a:tailEnd type="triangle"/>
          </a:ln>
        </p:spPr>
        <p:txBody>
          <a:bodyPr/>
          <a:lstStyle/>
          <a:p>
            <a:endParaRPr lang="ru-US"/>
          </a:p>
        </p:txBody>
      </p:sp>
      <p:sp>
        <p:nvSpPr>
          <p:cNvPr id="12" name="Text 8"/>
          <p:cNvSpPr txBox="1"/>
          <p:nvPr/>
        </p:nvSpPr>
        <p:spPr>
          <a:xfrm>
            <a:off x="246888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Исландия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514600" y="2834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открыта и заселена викингами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120640" y="1417320"/>
            <a:ext cx="731520" cy="73152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574" y="1578254"/>
            <a:ext cx="409651" cy="4096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943600" y="1783080"/>
            <a:ext cx="1143000" cy="0"/>
          </a:xfrm>
          <a:prstGeom prst="line">
            <a:avLst/>
          </a:prstGeom>
          <a:noFill/>
          <a:ln w="31750">
            <a:solidFill>
              <a:srgbClr val="E9A23B"/>
            </a:solidFill>
            <a:prstDash val="solid"/>
            <a:tailEnd type="triangle"/>
          </a:ln>
        </p:spPr>
        <p:txBody>
          <a:bodyPr/>
          <a:lstStyle/>
          <a:p>
            <a:endParaRPr lang="ru-US"/>
          </a:p>
        </p:txBody>
      </p:sp>
      <p:sp>
        <p:nvSpPr>
          <p:cNvPr id="17" name="Text 12"/>
          <p:cNvSpPr txBox="1"/>
          <p:nvPr/>
        </p:nvSpPr>
        <p:spPr>
          <a:xfrm>
            <a:off x="452628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Гренландия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2834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Эрик Рыжий, конец X в. Поселения на юге острова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178040" y="1417320"/>
            <a:ext cx="731520" cy="731520"/>
          </a:xfrm>
          <a:prstGeom prst="ellipse">
            <a:avLst/>
          </a:prstGeom>
          <a:solidFill>
            <a:srgbClr val="12263F"/>
          </a:solidFill>
          <a:ln w="6350">
            <a:solidFill>
              <a:srgbClr val="12263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8974" y="1578254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8368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Северная Америка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629400" y="2834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Лейф Счастливый достиг берегов. Закрепиться не дали местные жители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384048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2263F"/>
          </a:solidFill>
          <a:ln w="9525">
            <a:solidFill>
              <a:srgbClr val="1226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24" name="Shape 18"/>
          <p:cNvSpPr/>
          <p:nvPr/>
        </p:nvSpPr>
        <p:spPr>
          <a:xfrm>
            <a:off x="685800" y="4041648"/>
            <a:ext cx="548640" cy="54864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501" y="4162349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63040" y="384048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ВОСТОК: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Балтийскому морю и рекам — до Чёрного и Каспийского морей и земель к югу от них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Арабский Восток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94460"/>
            <a:ext cx="640080" cy="64008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153527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18872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VIII в. арабы покорили побережье Средиземного моря и огромные территории в Азии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628900"/>
            <a:ext cx="640080" cy="64008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8" y="2769718"/>
            <a:ext cx="358445" cy="35844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46888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Заняли ключевое положение на торговых путях между Западом и Востоком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7200" y="3863340"/>
            <a:ext cx="640080" cy="64008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8" y="4004158"/>
            <a:ext cx="358445" cy="35844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65760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Писали труды о народах, богатствах, переправах, городах и товарах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69280" y="1188720"/>
            <a:ext cx="3017520" cy="3520440"/>
          </a:xfrm>
          <a:prstGeom prst="roundRect">
            <a:avLst>
              <a:gd name="adj" fmla="val 3636"/>
            </a:avLst>
          </a:prstGeom>
          <a:solidFill>
            <a:srgbClr val="12263F"/>
          </a:solidFill>
          <a:ln w="9525">
            <a:solidFill>
              <a:srgbClr val="1226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3" name="Shape 8"/>
          <p:cNvSpPr/>
          <p:nvPr/>
        </p:nvSpPr>
        <p:spPr>
          <a:xfrm>
            <a:off x="6720840" y="1371600"/>
            <a:ext cx="914400" cy="91440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1572768"/>
            <a:ext cx="512064" cy="5120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85216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Александрийская библиотека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5852160" y="315468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Сочинения античных учёных перевели на арабский язык. Так знания древних сохранились для будущих поколений.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Ибн-Батута из Марокко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12263F"/>
          </a:solidFill>
          <a:ln w="9525">
            <a:solidFill>
              <a:srgbClr val="1226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120 000 км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пройдено по суше и по морю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64408" y="118872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12263F"/>
          </a:solidFill>
          <a:ln w="9525">
            <a:solidFill>
              <a:srgbClr val="1226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 txBox="1"/>
          <p:nvPr/>
        </p:nvSpPr>
        <p:spPr>
          <a:xfrm>
            <a:off x="3355848" y="13258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лет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2148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четверть века в пути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71616" y="118872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12263F"/>
          </a:solidFill>
          <a:ln w="9525">
            <a:solidFill>
              <a:srgbClr val="1226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0" name="Text 8"/>
          <p:cNvSpPr txBox="1"/>
          <p:nvPr/>
        </p:nvSpPr>
        <p:spPr>
          <a:xfrm>
            <a:off x="6163056" y="13258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1325 г.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54496" y="2148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 пути из Танжера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ПОБЫВАЛ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1371600" cy="457200"/>
          </a:xfrm>
          <a:prstGeom prst="roundRect">
            <a:avLst>
              <a:gd name="adj" fmla="val 44000"/>
            </a:avLst>
          </a:prstGeom>
          <a:solidFill>
            <a:srgbClr val="DCEBF5"/>
          </a:solidFill>
          <a:ln w="6350">
            <a:solidFill>
              <a:srgbClr val="DCEBF5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4" name="Text 12"/>
          <p:cNvSpPr txBox="1"/>
          <p:nvPr/>
        </p:nvSpPr>
        <p:spPr>
          <a:xfrm>
            <a:off x="45720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Аравия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011680" y="3383280"/>
            <a:ext cx="2377440" cy="457200"/>
          </a:xfrm>
          <a:prstGeom prst="roundRect">
            <a:avLst>
              <a:gd name="adj" fmla="val 44000"/>
            </a:avLst>
          </a:prstGeom>
          <a:solidFill>
            <a:srgbClr val="DCEBF5"/>
          </a:solidFill>
          <a:ln w="6350">
            <a:solidFill>
              <a:srgbClr val="DCEBF5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6" name="Text 14"/>
          <p:cNvSpPr txBox="1"/>
          <p:nvPr/>
        </p:nvSpPr>
        <p:spPr>
          <a:xfrm>
            <a:off x="201168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Восточная Африка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0" y="3383280"/>
            <a:ext cx="1371600" cy="457200"/>
          </a:xfrm>
          <a:prstGeom prst="roundRect">
            <a:avLst>
              <a:gd name="adj" fmla="val 44000"/>
            </a:avLst>
          </a:prstGeom>
          <a:solidFill>
            <a:srgbClr val="DCEBF5"/>
          </a:solidFill>
          <a:ln w="6350">
            <a:solidFill>
              <a:srgbClr val="DCEBF5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8" name="Text 16"/>
          <p:cNvSpPr txBox="1"/>
          <p:nvPr/>
        </p:nvSpPr>
        <p:spPr>
          <a:xfrm>
            <a:off x="457200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26480" y="3383280"/>
            <a:ext cx="1371600" cy="457200"/>
          </a:xfrm>
          <a:prstGeom prst="roundRect">
            <a:avLst>
              <a:gd name="adj" fmla="val 44000"/>
            </a:avLst>
          </a:prstGeom>
          <a:solidFill>
            <a:srgbClr val="DCEBF5"/>
          </a:solidFill>
          <a:ln w="6350">
            <a:solidFill>
              <a:srgbClr val="DCEBF5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0" name="Text 18"/>
          <p:cNvSpPr txBox="1"/>
          <p:nvPr/>
        </p:nvSpPr>
        <p:spPr>
          <a:xfrm>
            <a:off x="612648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Китай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2286000" cy="457200"/>
          </a:xfrm>
          <a:prstGeom prst="roundRect">
            <a:avLst>
              <a:gd name="adj" fmla="val 44000"/>
            </a:avLst>
          </a:prstGeom>
          <a:solidFill>
            <a:srgbClr val="DCEBF5"/>
          </a:solidFill>
          <a:ln w="6350">
            <a:solidFill>
              <a:srgbClr val="DCEBF5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2" name="Text 20"/>
          <p:cNvSpPr txBox="1"/>
          <p:nvPr/>
        </p:nvSpPr>
        <p:spPr>
          <a:xfrm>
            <a:off x="45720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Центральная Азия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926080" y="3977640"/>
            <a:ext cx="2103120" cy="457200"/>
          </a:xfrm>
          <a:prstGeom prst="roundRect">
            <a:avLst>
              <a:gd name="adj" fmla="val 44000"/>
            </a:avLst>
          </a:prstGeom>
          <a:solidFill>
            <a:srgbClr val="DCEBF5"/>
          </a:solidFill>
          <a:ln w="6350">
            <a:solidFill>
              <a:srgbClr val="DCEBF5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4" name="Text 22"/>
          <p:cNvSpPr txBox="1"/>
          <p:nvPr/>
        </p:nvSpPr>
        <p:spPr>
          <a:xfrm>
            <a:off x="292608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Низовья Волги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212080" y="3977640"/>
            <a:ext cx="1371600" cy="457200"/>
          </a:xfrm>
          <a:prstGeom prst="roundRect">
            <a:avLst>
              <a:gd name="adj" fmla="val 44000"/>
            </a:avLst>
          </a:prstGeom>
          <a:solidFill>
            <a:srgbClr val="DCEBF5"/>
          </a:solidFill>
          <a:ln w="6350">
            <a:solidFill>
              <a:srgbClr val="DCEBF5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6" name="Text 24"/>
          <p:cNvSpPr txBox="1"/>
          <p:nvPr/>
        </p:nvSpPr>
        <p:spPr>
          <a:xfrm>
            <a:off x="521208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Сахара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766560" y="3977640"/>
            <a:ext cx="1920240" cy="457200"/>
          </a:xfrm>
          <a:prstGeom prst="roundRect">
            <a:avLst>
              <a:gd name="adj" fmla="val 44000"/>
            </a:avLst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8" name="Text 26"/>
          <p:cNvSpPr txBox="1"/>
          <p:nvPr/>
        </p:nvSpPr>
        <p:spPr>
          <a:xfrm>
            <a:off x="676656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Оставил книгу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Марко Поло и Афанасий Никитин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685800" cy="68580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15224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25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Марко Поло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93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венецианец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774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Когда: </a:t>
            </a: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 XIII в., около 20 лет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Куда: </a:t>
            </a: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путешествовал по Китаю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Книга: </a:t>
            </a: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«Книга о разнообразии мира»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0" name="Shape 7"/>
          <p:cNvSpPr/>
          <p:nvPr/>
        </p:nvSpPr>
        <p:spPr>
          <a:xfrm>
            <a:off x="4892040" y="1371600"/>
            <a:ext cx="685800" cy="68580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916" y="15224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1325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Афанасий Никитин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1993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тверской купец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3774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Когда: </a:t>
            </a: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1468–1474 гг.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Куда: </a:t>
            </a: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Руси в Индию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Записки: </a:t>
            </a: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«Хожение за три моря»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57200" y="406908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 w="952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6" name="Text 12"/>
          <p:cNvSpPr txBox="1"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общего у этих путешественников?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Верно или неверно?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Средние века в Европе знания о Земле росли быстрее всего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8" name="Shape 6"/>
          <p:cNvSpPr/>
          <p:nvPr/>
        </p:nvSpPr>
        <p:spPr>
          <a:xfrm>
            <a:off x="4846320" y="1481328"/>
            <a:ext cx="457200" cy="45720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Text 7"/>
          <p:cNvSpPr txBox="1"/>
          <p:nvPr/>
        </p:nvSpPr>
        <p:spPr>
          <a:xfrm>
            <a:off x="484632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1887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Древние книги в Европе хранились в монастырях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2" name="Shape 10"/>
          <p:cNvSpPr/>
          <p:nvPr/>
        </p:nvSpPr>
        <p:spPr>
          <a:xfrm>
            <a:off x="640080" y="2670048"/>
            <a:ext cx="457200" cy="45720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 txBox="1"/>
          <p:nvPr/>
        </p:nvSpPr>
        <p:spPr>
          <a:xfrm>
            <a:off x="64008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Викинги, норманны и варяги — это один народ под разными названиями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6" name="Shape 14"/>
          <p:cNvSpPr/>
          <p:nvPr/>
        </p:nvSpPr>
        <p:spPr>
          <a:xfrm>
            <a:off x="4846320" y="2670048"/>
            <a:ext cx="457200" cy="45720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Text 15"/>
          <p:cNvSpPr txBox="1"/>
          <p:nvPr/>
        </p:nvSpPr>
        <p:spPr>
          <a:xfrm>
            <a:off x="48463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берегов Северной Америки дошёл Лейф Счастливый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20" name="Shape 18"/>
          <p:cNvSpPr/>
          <p:nvPr/>
        </p:nvSpPr>
        <p:spPr>
          <a:xfrm>
            <a:off x="640080" y="3858768"/>
            <a:ext cx="457200" cy="45720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1" name="Text 19"/>
          <p:cNvSpPr txBox="1"/>
          <p:nvPr/>
        </p:nvSpPr>
        <p:spPr>
          <a:xfrm>
            <a:off x="64008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5661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Арабы сохранили идеи античных учёных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24" name="Shape 22"/>
          <p:cNvSpPr/>
          <p:nvPr/>
        </p:nvSpPr>
        <p:spPr>
          <a:xfrm>
            <a:off x="4846320" y="3858768"/>
            <a:ext cx="457200" cy="45720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5" name="Text 23"/>
          <p:cNvSpPr txBox="1"/>
          <p:nvPr/>
        </p:nvSpPr>
        <p:spPr>
          <a:xfrm>
            <a:off x="484632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5661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Афанасий Никитин путешествовал в Китай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Сравнительная т</a:t>
            </a:r>
            <a:r>
              <a:rPr lang="en-US" sz="3000" b="1" dirty="0" err="1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аблиц</a:t>
            </a:r>
            <a:r>
              <a:rPr lang="ru-RU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4747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Кто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сделал / куда ходил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оставил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Викинги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VIII–XI вв.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Фарерские острова, Исландия, Гренландия (Эрик Рыжий); Лейф Счастливый достиг Северной Америки; доходили до Чёрного и Каспийского морей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Сведения в исландских сагах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Ибн-Батута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 1325 г., почти 25 лет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Аравия, Восточная Африка, Индия, Китай, Центральная Азия, низовья Волги, Сахара; около 120 000 км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Книга с географическими и историческими сведениями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Марко Поло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конец XIII в., около 20 лет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Путешествие по Китаю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«Книга о разнообразии мира»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Афанасий Никитин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1468–1474 гг.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 Руси в Индию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«Хожение за три моря»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урока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РЕФЛЕКСИЯ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Сегодня я узнал…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Мне было интересно…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Мне было трудно…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Text 7"/>
          <p:cNvSpPr txBox="1"/>
          <p:nvPr/>
        </p:nvSpPr>
        <p:spPr>
          <a:xfrm>
            <a:off x="493776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965960"/>
            <a:ext cx="548640" cy="54864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461" y="2086661"/>
            <a:ext cx="307238" cy="30723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15000" y="1828799"/>
            <a:ext cx="2743200" cy="1045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Прочитать § 3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571500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937760" y="3794760"/>
            <a:ext cx="548640" cy="54864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61" y="39154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715000" y="2969623"/>
            <a:ext cx="2743200" cy="151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Дозаполнить таблицу в тетради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1042</Words>
  <Application>Microsoft Macintosh PowerPoint</Application>
  <PresentationFormat>Экран (16:9)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География в эпоху Средневековья</dc:title>
  <dc:subject>PptxGenJS Presentation</dc:subject>
  <dc:creator>Учитель географии</dc:creator>
  <cp:lastModifiedBy>Немичев Алексей Владимирович</cp:lastModifiedBy>
  <cp:revision>3</cp:revision>
  <dcterms:created xsi:type="dcterms:W3CDTF">2026-09-27T18:31:24Z</dcterms:created>
  <dcterms:modified xsi:type="dcterms:W3CDTF">2026-10-03T08:04:14Z</dcterms:modified>
</cp:coreProperties>
</file>