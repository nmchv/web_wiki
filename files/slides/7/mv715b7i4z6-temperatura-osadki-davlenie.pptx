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1" r:id="rId2"/>
  </p:sldMasterIdLst>
  <p:notesMasterIdLst>
    <p:notesMasterId r:id="rId21"/>
  </p:notesMasterIdLst>
  <p:sldIdLst>
    <p:sldId id="256" r:id="rId3"/>
    <p:sldId id="257" r:id="rId4"/>
    <p:sldId id="258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59" r:id="rId13"/>
    <p:sldId id="263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52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1542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мин. Приветствие, тема и цель урока. Сегодня выясняем, почему в одних местах Земли жарко, а в других холодно, и учимся читать карту изотерм.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мин. Задайте два вопроса классу. Напомните: воздух нагревается не напрямую от Солнца, а от земной поверхности, которую нагревают солнечные лучи. Затем зачитайте цель урока.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Определения записываем в тетрадь. Начинаем новый материал. Попросите учеников самих привести пример амплитуды: разница между дневной и ночной температурой.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Новый материал, 8 мин на слайды 5–8. Объясните через угол падения лучей: один и тот же пучок лучей на экваторе освещает меньшую площадь, чем на полюсе, поэтому нагревает сильнее.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Подчеркните число: 6 °C на каждый километр, или 0,6 °C на каждые 100 м. Это пригодится для задачи на слайде 10. Намёк на домашнее задание: снег на Килиманджаро.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Примеры для класса: тёплое Северо-Атлантическое течение смягчает климат Западной Европы; в глубине материков зимы суровее, а лето жарче.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Предложите ученикам найти Долину Смерти и Антарктиду на карте и объяснить, почему рекорды именно там. Разница: 56,7 + 89,2 = 145,9 °C.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мин. Ответ на задачу: 3000 м = 3 км, 3 × 6 = 18 °C, 24 − 18 = +6 °C. Работа с картой: изотермы разделяют жаркий, умеренные и холодные пояса (см. слайд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мин. Приветствие, тема и цель урока. Сегодня выясняем, где на Земле давление высокое, где низкое и как это связано с количеством осадков.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Определения записываем в тетрадь. Новый материал занимает около 8 минут (слайды 3–8). Обратите внимание класса на определение ветра: оно понадобится в итоге урока.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поясам давления. Если время позволяет, спросите класс, в каких единицах измеряют давление и осадки.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Покажите на карте годового количества осадков в атласе, как цвета меняются от экватора к полюсам. Свяжите с предыдущим слайдом: много осадков там, где давление низкое и воздух поднимается; пустыни у тропиков, где давление высокое.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Подчеркните: 1 мм рт. ст. на 10–10,5 м, значит примерно 100 мм рт. ст. на каждый километр. Это пригодится для задачи на слайде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связь урока. Попросите ученика пересказать цепочку своими словами. В поясах низкого давления осадков много, в поясах высокого мало.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Найдите Черапунджи (северо-восток Индии) и Сахару на карте. Для сравнения: в умеренных широтах 500–800 мм в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мин. Ответ на задачу: 1000 м : 10 м = 100, значит давление падает на 100 мм рт. ст., 760 − 100 = 660 мм рт. ст. Таблица: экваториальный — низкое, осадков много; тропические — высокое, мало; умеренные — низкое, достаточно; полярные — высокое, мало.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мин. Ученики отвечают на вопросы, опираясь на цепочки со слайда 7 и определение ветра. Выставление оценок.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мин. Подсказка для третьего задания: вспомните, какое давление в тропических поясах и что происходит с воздухом (слайды 5 и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38300"/>
            <a:ext cx="10566400" cy="440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26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38300"/>
            <a:ext cx="10566400" cy="440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16229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38300"/>
            <a:ext cx="10566400" cy="440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38300"/>
            <a:ext cx="10566400" cy="4406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88871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77200" y="812800"/>
            <a:ext cx="3302000" cy="3302000"/>
          </a:xfrm>
          <a:prstGeom prst="rect">
            <a:avLst/>
          </a:prstGeom>
        </p:spPr>
      </p:pic>
      <p:pic>
        <p:nvPicPr>
          <p:cNvPr id="3" name="Image 1" descr="Glob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93200" y="1828800"/>
            <a:ext cx="1270000" cy="1270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812800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kern="0" spc="100" dirty="0">
                <a:solidFill>
                  <a:srgbClr val="F29E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</a:t>
            </a:r>
            <a:endParaRPr lang="en-US" sz="1600" dirty="0"/>
          </a:p>
        </p:txBody>
      </p:sp>
      <p:sp>
        <p:nvSpPr>
          <p:cNvPr id="5" name="Text 1"/>
          <p:cNvSpPr>
            <a:spLocks noGrp="1"/>
          </p:cNvSpPr>
          <p:nvPr>
            <p:ph type="title"/>
          </p:nvPr>
        </p:nvSpPr>
        <p:spPr>
          <a:xfrm>
            <a:off x="812800" y="2428875"/>
            <a:ext cx="7194550" cy="2025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i="0" dirty="0">
                <a:solidFill>
                  <a:srgbClr val="FB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Закономерности распределения температуры воздуха</a:t>
            </a:r>
            <a:endParaRPr lang="en-US" sz="4800" dirty="0"/>
          </a:p>
        </p:txBody>
      </p:sp>
      <p:sp>
        <p:nvSpPr>
          <p:cNvPr id="6" name="Text 2"/>
          <p:cNvSpPr/>
          <p:nvPr/>
        </p:nvSpPr>
        <p:spPr>
          <a:xfrm>
            <a:off x="812800" y="5765800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Вспомним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5168900" cy="2409825"/>
          </a:xfrm>
          <a:prstGeom prst="roundRect">
            <a:avLst>
              <a:gd name="adj" fmla="val 9957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4" name="Text 2"/>
          <p:cNvSpPr/>
          <p:nvPr/>
        </p:nvSpPr>
        <p:spPr>
          <a:xfrm>
            <a:off x="1079500" y="1854200"/>
            <a:ext cx="478764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6800" y="2911475"/>
            <a:ext cx="478764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на экваторе жарко, а на полюсах холодно?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203950" y="1593850"/>
            <a:ext cx="5168900" cy="2409825"/>
          </a:xfrm>
          <a:prstGeom prst="roundRect">
            <a:avLst>
              <a:gd name="adj" fmla="val 9957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7" name="Text 5"/>
          <p:cNvSpPr/>
          <p:nvPr/>
        </p:nvSpPr>
        <p:spPr>
          <a:xfrm>
            <a:off x="6464300" y="1854200"/>
            <a:ext cx="478764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64300" y="2968625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чего нагревается воздух?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66800" y="5054600"/>
            <a:ext cx="1036015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понятия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5168900" cy="2168484"/>
          </a:xfrm>
          <a:prstGeom prst="roundRect">
            <a:avLst>
              <a:gd name="adj" fmla="val 8519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4" name="Text 2"/>
          <p:cNvSpPr/>
          <p:nvPr/>
        </p:nvSpPr>
        <p:spPr>
          <a:xfrm>
            <a:off x="1079500" y="182880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Температура воздуха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79500" y="2413088"/>
            <a:ext cx="478764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Степень нагретости воздуха. </a:t>
            </a:r>
            <a:r>
              <a:rPr lang="en-US" sz="20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Измеряется термометром в градусах Цельсия (°C).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03950" y="1593849"/>
            <a:ext cx="5168900" cy="2168483"/>
          </a:xfrm>
          <a:prstGeom prst="roundRect">
            <a:avLst>
              <a:gd name="adj" fmla="val 8519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7" name="Text 5"/>
          <p:cNvSpPr/>
          <p:nvPr/>
        </p:nvSpPr>
        <p:spPr>
          <a:xfrm>
            <a:off x="6464300" y="182880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Солнечная радиация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64300" y="2235200"/>
            <a:ext cx="478764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Поток солнечной энергии, поступающий к Земле. </a:t>
            </a:r>
            <a:r>
              <a:rPr lang="en-US" sz="20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Она нагревает поверхность, а от неё нагревается воздух.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12800" y="3978234"/>
            <a:ext cx="5168900" cy="2047916"/>
          </a:xfrm>
          <a:prstGeom prst="roundRect">
            <a:avLst>
              <a:gd name="adj" fmla="val 10177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10" name="Text 8"/>
          <p:cNvSpPr/>
          <p:nvPr/>
        </p:nvSpPr>
        <p:spPr>
          <a:xfrm>
            <a:off x="1003427" y="4187869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суточная температура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79500" y="4753104"/>
            <a:ext cx="4787646" cy="1095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Среднее арифметическое температур, измеренных в течение суток.</a:t>
            </a:r>
            <a:endParaRPr lang="en-US" sz="2000" b="1" dirty="0"/>
          </a:p>
        </p:txBody>
      </p:sp>
      <p:sp>
        <p:nvSpPr>
          <p:cNvPr id="12" name="Shape 10"/>
          <p:cNvSpPr/>
          <p:nvPr/>
        </p:nvSpPr>
        <p:spPr>
          <a:xfrm>
            <a:off x="6197600" y="3997281"/>
            <a:ext cx="5168900" cy="2028869"/>
          </a:xfrm>
          <a:prstGeom prst="roundRect">
            <a:avLst>
              <a:gd name="adj" fmla="val 10177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13" name="Text 11"/>
          <p:cNvSpPr/>
          <p:nvPr/>
        </p:nvSpPr>
        <p:spPr>
          <a:xfrm>
            <a:off x="6394577" y="4187869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Амплитуда температур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64300" y="4778418"/>
            <a:ext cx="4787646" cy="10699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наибольшей и наименьшей температурой за определённый период.</a:t>
            </a:r>
            <a:endParaRPr lang="en-US" sz="2000" b="1" dirty="0"/>
          </a:p>
        </p:txBody>
      </p:sp>
      <p:sp>
        <p:nvSpPr>
          <p:cNvPr id="15" name="Text 13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 1. Широта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587500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Температура</a:t>
            </a: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убывает от экватора к полюсам.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12800" y="2120900"/>
            <a:ext cx="3386634" cy="3149600"/>
          </a:xfrm>
          <a:prstGeom prst="roundRect">
            <a:avLst>
              <a:gd name="adj" fmla="val 8571"/>
            </a:avLst>
          </a:prstGeom>
          <a:solidFill>
            <a:srgbClr val="FBE3C2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5" name="Text 3"/>
          <p:cNvSpPr/>
          <p:nvPr/>
        </p:nvSpPr>
        <p:spPr>
          <a:xfrm>
            <a:off x="1066800" y="2374900"/>
            <a:ext cx="296499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Экватор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66800" y="3429000"/>
            <a:ext cx="2964993" cy="186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Лучи падают круто, поверхность нагревается сильно. Жарко.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402634" y="2120900"/>
            <a:ext cx="3386634" cy="3149600"/>
          </a:xfrm>
          <a:prstGeom prst="roundRect">
            <a:avLst>
              <a:gd name="adj" fmla="val 8571"/>
            </a:avLst>
          </a:prstGeom>
          <a:solidFill>
            <a:srgbClr val="EDE7D6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8" name="Text 6"/>
          <p:cNvSpPr/>
          <p:nvPr/>
        </p:nvSpPr>
        <p:spPr>
          <a:xfrm>
            <a:off x="4656634" y="2374900"/>
            <a:ext cx="296499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Умеренные широты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56634" y="3429000"/>
            <a:ext cx="2964993" cy="186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Лучи падают под углом, нагрев слабее. Умеренные температуры.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992467" y="2120900"/>
            <a:ext cx="3386634" cy="3149600"/>
          </a:xfrm>
          <a:prstGeom prst="roundRect">
            <a:avLst>
              <a:gd name="adj" fmla="val 8571"/>
            </a:avLst>
          </a:prstGeom>
          <a:solidFill>
            <a:srgbClr val="D6E6EA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11" name="Text 9"/>
          <p:cNvSpPr/>
          <p:nvPr/>
        </p:nvSpPr>
        <p:spPr>
          <a:xfrm>
            <a:off x="8246467" y="2374900"/>
            <a:ext cx="296499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Полюса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46467" y="3429000"/>
            <a:ext cx="2964993" cy="1860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Лучи скользят по поверхности, нагрев минимальный. Холодно.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 2. Высота над уровнем моря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587499"/>
            <a:ext cx="4618335" cy="4160157"/>
          </a:xfrm>
          <a:prstGeom prst="roundRect">
            <a:avLst>
              <a:gd name="adj" fmla="val 5825"/>
            </a:avLst>
          </a:prstGeom>
          <a:solidFill>
            <a:srgbClr val="14304A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4" name="Text 2"/>
          <p:cNvSpPr/>
          <p:nvPr/>
        </p:nvSpPr>
        <p:spPr>
          <a:xfrm>
            <a:off x="1105724" y="2568456"/>
            <a:ext cx="4128997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dirty="0">
                <a:solidFill>
                  <a:srgbClr val="C9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подъёмом температура понижается примерно на</a:t>
            </a:r>
            <a:endParaRPr lang="en-US" sz="20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1105724" y="3228856"/>
            <a:ext cx="4128997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i="0" dirty="0">
                <a:solidFill>
                  <a:srgbClr val="F29E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°C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05724" y="3997206"/>
            <a:ext cx="412899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dirty="0">
                <a:solidFill>
                  <a:srgbClr val="FB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каждый километр высоты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40685" y="1593850"/>
            <a:ext cx="5732165" cy="4139962"/>
          </a:xfrm>
          <a:prstGeom prst="roundRect">
            <a:avLst>
              <a:gd name="adj" fmla="val 5610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8" name="Text 6"/>
          <p:cNvSpPr/>
          <p:nvPr/>
        </p:nvSpPr>
        <p:spPr>
          <a:xfrm>
            <a:off x="5901035" y="1854200"/>
            <a:ext cx="536780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так?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01035" y="2479794"/>
            <a:ext cx="5367809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Воздух нагревается от земной поверхности, поэтому чем выше, тем он холоднее.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01035" y="3794006"/>
            <a:ext cx="536780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Следствие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901035" y="4225806"/>
            <a:ext cx="5367809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вершинах высоких гор лежит снег даже в жарких странах.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Факторы 3 и 4: поверхность и течения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5168900" cy="4201308"/>
          </a:xfrm>
          <a:prstGeom prst="roundRect">
            <a:avLst>
              <a:gd name="adj" fmla="val 5721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4" name="Text 2"/>
          <p:cNvSpPr/>
          <p:nvPr/>
        </p:nvSpPr>
        <p:spPr>
          <a:xfrm>
            <a:off x="1079500" y="185420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Характер поверхности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79500" y="2603501"/>
            <a:ext cx="478764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Суша нагревается и остывает быстрее воды.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079500" y="3759201"/>
            <a:ext cx="3220244" cy="431800"/>
          </a:xfrm>
          <a:prstGeom prst="roundRect">
            <a:avLst>
              <a:gd name="adj" fmla="val 50000"/>
            </a:avLst>
          </a:prstGeom>
          <a:solidFill>
            <a:srgbClr val="FBE3C2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7" name="Text 5"/>
          <p:cNvSpPr/>
          <p:nvPr/>
        </p:nvSpPr>
        <p:spPr>
          <a:xfrm>
            <a:off x="1231900" y="3835401"/>
            <a:ext cx="300290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 сушей амплитуды больше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79500" y="4267201"/>
            <a:ext cx="2465983" cy="431800"/>
          </a:xfrm>
          <a:prstGeom prst="roundRect">
            <a:avLst>
              <a:gd name="adj" fmla="val 50000"/>
            </a:avLst>
          </a:prstGeom>
          <a:solidFill>
            <a:srgbClr val="D6E6EA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9" name="Text 7"/>
          <p:cNvSpPr/>
          <p:nvPr/>
        </p:nvSpPr>
        <p:spPr>
          <a:xfrm>
            <a:off x="1231900" y="4343401"/>
            <a:ext cx="222601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океана климат мягче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3950" y="1593850"/>
            <a:ext cx="5168900" cy="4201308"/>
          </a:xfrm>
          <a:prstGeom prst="roundRect">
            <a:avLst>
              <a:gd name="adj" fmla="val 5721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11" name="Text 9"/>
          <p:cNvSpPr/>
          <p:nvPr/>
        </p:nvSpPr>
        <p:spPr>
          <a:xfrm>
            <a:off x="6464300" y="185420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Океанические течения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64300" y="2603501"/>
            <a:ext cx="478764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Течения переносят тепло или холод к побережью.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464300" y="4038601"/>
            <a:ext cx="4139803" cy="431800"/>
          </a:xfrm>
          <a:prstGeom prst="roundRect">
            <a:avLst>
              <a:gd name="adj" fmla="val 50000"/>
            </a:avLst>
          </a:prstGeom>
          <a:solidFill>
            <a:srgbClr val="FBE3C2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14" name="Text 12"/>
          <p:cNvSpPr/>
          <p:nvPr/>
        </p:nvSpPr>
        <p:spPr>
          <a:xfrm>
            <a:off x="6616700" y="4114801"/>
            <a:ext cx="395005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Тёплые течения повышают температуру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64300" y="4546601"/>
            <a:ext cx="3351609" cy="431800"/>
          </a:xfrm>
          <a:prstGeom prst="roundRect">
            <a:avLst>
              <a:gd name="adj" fmla="val 50000"/>
            </a:avLst>
          </a:prstGeom>
          <a:solidFill>
            <a:srgbClr val="D6E6EA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16" name="Text 14"/>
          <p:cNvSpPr/>
          <p:nvPr/>
        </p:nvSpPr>
        <p:spPr>
          <a:xfrm>
            <a:off x="6616700" y="4622801"/>
            <a:ext cx="31382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Холодные течения понижают её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9E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Температурные рекорды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936750"/>
            <a:ext cx="5114671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+56,7 °C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2965450"/>
            <a:ext cx="511467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Долина Смерти, США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3803650"/>
            <a:ext cx="511467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высокая температура воздуха, измеренная </a:t>
            </a:r>
            <a:r>
              <a:rPr lang="en-US" sz="160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</a:t>
            </a:r>
            <a:r>
              <a:rPr lang="ru-RU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(10 июля 1913)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83299" y="1638300"/>
            <a:ext cx="45719" cy="3076204"/>
          </a:xfrm>
          <a:prstGeom prst="rect">
            <a:avLst/>
          </a:prstGeom>
          <a:solidFill>
            <a:srgbClr val="14304A"/>
          </a:solidFill>
          <a:ln/>
        </p:spPr>
        <p:txBody>
          <a:bodyPr/>
          <a:lstStyle/>
          <a:p>
            <a:endParaRPr lang="ru-US"/>
          </a:p>
        </p:txBody>
      </p:sp>
      <p:sp>
        <p:nvSpPr>
          <p:cNvPr id="7" name="Text 5"/>
          <p:cNvSpPr/>
          <p:nvPr/>
        </p:nvSpPr>
        <p:spPr>
          <a:xfrm>
            <a:off x="6413500" y="1936750"/>
            <a:ext cx="5114671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−89,2 °C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13500" y="2965450"/>
            <a:ext cx="511467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Станция «Восток», Антарктида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13500" y="3803650"/>
            <a:ext cx="5114671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температура воздуха, измеренная </a:t>
            </a:r>
            <a:r>
              <a:rPr lang="en-US" sz="160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Земле</a:t>
            </a:r>
            <a:r>
              <a:rPr lang="ru-RU" sz="16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(21 июля 1983)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2800" y="5562600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рекордами — почти 146 °C.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7683582" cy="2420010"/>
          </a:xfrm>
          <a:prstGeom prst="roundRect">
            <a:avLst>
              <a:gd name="adj" fmla="val 6725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endParaRPr lang="ru-US"/>
          </a:p>
        </p:txBody>
      </p:sp>
      <p:sp>
        <p:nvSpPr>
          <p:cNvPr id="4" name="Text 2"/>
          <p:cNvSpPr/>
          <p:nvPr/>
        </p:nvSpPr>
        <p:spPr>
          <a:xfrm>
            <a:off x="1079500" y="185420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7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79500" y="2660320"/>
            <a:ext cx="6413830" cy="1142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40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подножия горы температура +24 °C. Какая температура на вершине высотой 3000 м?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Температура воздуха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0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77200" y="812800"/>
            <a:ext cx="3302000" cy="3302000"/>
          </a:xfrm>
          <a:prstGeom prst="rect">
            <a:avLst/>
          </a:prstGeom>
        </p:spPr>
      </p:pic>
      <p:pic>
        <p:nvPicPr>
          <p:cNvPr id="3" name="Image 1" descr="Cloud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093200" y="1828800"/>
            <a:ext cx="1270000" cy="1270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812800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100" normalizeH="0" baseline="0" noProof="0" dirty="0">
                <a:ln>
                  <a:noFill/>
                </a:ln>
                <a:solidFill>
                  <a:srgbClr val="F29E4C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"/>
          <p:cNvSpPr>
            <a:spLocks noGrp="1"/>
          </p:cNvSpPr>
          <p:nvPr>
            <p:ph type="title"/>
          </p:nvPr>
        </p:nvSpPr>
        <p:spPr>
          <a:xfrm>
            <a:off x="812800" y="2409825"/>
            <a:ext cx="7194550" cy="1530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FB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Закономерности распределения атмосферных осадков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812800" y="4117975"/>
            <a:ext cx="719455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C9D6E2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Пояса атмосферного давления на Земле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понятия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5168900" cy="4451350"/>
          </a:xfrm>
          <a:prstGeom prst="roundRect">
            <a:avLst>
              <a:gd name="adj" fmla="val 8519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79500" y="2031175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Атмосферные осадки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79500" y="3125850"/>
            <a:ext cx="478764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Вода в жидком или твёрдом виде, выпадающая из облаков: дождь, снег,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град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. Сюда же относят росу и иней.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03950" y="1593850"/>
            <a:ext cx="5168900" cy="4451350"/>
          </a:xfrm>
          <a:prstGeom prst="roundRect">
            <a:avLst>
              <a:gd name="adj" fmla="val 8519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64300" y="2031175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Атмосферное давление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64300" y="3125850"/>
            <a:ext cx="478764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Сила, с которой воздух давит на земную поверхность и все предметы на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ней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Пояса давления и количество осадков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5168900" cy="3111500"/>
          </a:xfrm>
          <a:prstGeom prst="roundRect">
            <a:avLst>
              <a:gd name="adj" fmla="val 7055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Image 0" descr="Glob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9500" y="18542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79500" y="257175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Пояс атмосферного давления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79500" y="3187700"/>
            <a:ext cx="4787646" cy="1193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Широтная зона, где давление в среднем повышенное или пониженное.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203950" y="1593849"/>
            <a:ext cx="5168900" cy="3111499"/>
          </a:xfrm>
          <a:prstGeom prst="roundRect">
            <a:avLst>
              <a:gd name="adj" fmla="val 7055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" name="Image 1" descr="Cloud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64300" y="18542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64300" y="2571750"/>
            <a:ext cx="4787646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Годовое количество осадков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6"/>
          <p:cNvSpPr/>
          <p:nvPr/>
        </p:nvSpPr>
        <p:spPr>
          <a:xfrm>
            <a:off x="6464300" y="3187700"/>
            <a:ext cx="4787646" cy="1193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Сумма осадков за год. Измеряется в миллиметрах (мм)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слоя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воды</a:t>
            </a:r>
            <a:b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-120"/>
              </a:rPr>
              <a:t>Рис. 30 (пар. 13)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812800" y="5105400"/>
            <a:ext cx="10566400" cy="736600"/>
          </a:xfrm>
          <a:prstGeom prst="roundRect">
            <a:avLst>
              <a:gd name="adj" fmla="val 20690"/>
            </a:avLst>
          </a:prstGeom>
          <a:solidFill>
            <a:srgbClr val="F29E4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066800" y="5334000"/>
            <a:ext cx="103601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Осадки измеряют в миллиметрах слоя воды,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давление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в миллиметрах ртутного столба.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Осадки </a:t>
            </a:r>
            <a:r>
              <a:rPr lang="en-US" sz="3600" b="1" i="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</a:t>
            </a: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i="0" dirty="0" err="1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широтам</a:t>
            </a:r>
            <a:r>
              <a:rPr lang="ru-RU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(рис. 29)</a:t>
            </a:r>
            <a:endParaRPr lang="en-US" sz="3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/>
        </p:nvGraphicFramePr>
        <p:xfrm>
          <a:off x="825500" y="1600200"/>
          <a:ext cx="10553700" cy="2196205"/>
        </p:xfrm>
        <a:graphic>
          <a:graphicData uri="http://schemas.openxmlformats.org/drawingml/2006/table">
            <a:tbl>
              <a:tblPr/>
              <a:tblGrid>
                <a:gridCol w="2955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7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1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Зона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Осадки в год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Особенности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Экватор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 3000 мм и более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Осадков много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Тропики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часто менее 100 мм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Осадков мало, здесь пустыни (Сахара)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Умеренные широты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500–800 мм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Осадков достаточно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Полярные районы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C6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менее 250 мм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Осадков мало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B8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B59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1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Давление и высота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12800" y="1587500"/>
            <a:ext cx="4618335" cy="4278910"/>
          </a:xfrm>
          <a:prstGeom prst="roundRect">
            <a:avLst>
              <a:gd name="adj" fmla="val 6522"/>
            </a:avLst>
          </a:prstGeom>
          <a:solidFill>
            <a:srgbClr val="14304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00" y="2400300"/>
            <a:ext cx="4128997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9D6E2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С подъёмом давление падает примерно на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600" y="3060700"/>
            <a:ext cx="4128997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1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29E4C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 мм рт. ст.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17600" y="3835400"/>
            <a:ext cx="412899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BF8F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на каждые 10–10,5 м высоты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40685" y="1593850"/>
            <a:ext cx="5732165" cy="4278910"/>
          </a:xfrm>
          <a:prstGeom prst="roundRect">
            <a:avLst>
              <a:gd name="adj" fmla="val 6284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01035" y="1963142"/>
            <a:ext cx="536780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Закономерность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901035" y="2394942"/>
            <a:ext cx="5367809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Чем выше, тем меньше давление: воздух становится разреженным.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901035" y="3911601"/>
            <a:ext cx="536780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Нормальное давление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901035" y="4343401"/>
            <a:ext cx="54654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760 мм рт. ст. на уровне моря, при 0 °C, на широте 45°.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Связь давления и осадков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587500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Низкое давление: воздух поднимается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12800" y="1968500"/>
            <a:ext cx="2184400" cy="863600"/>
          </a:xfrm>
          <a:prstGeom prst="roundRect">
            <a:avLst>
              <a:gd name="adj" fmla="val 11765"/>
            </a:avLst>
          </a:prstGeom>
          <a:solidFill>
            <a:srgbClr val="D6E6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965200" y="2120900"/>
            <a:ext cx="193598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Воздух поднимается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6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098800" y="2298700"/>
            <a:ext cx="406400" cy="203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06800" y="2108200"/>
            <a:ext cx="2184400" cy="584200"/>
          </a:xfrm>
          <a:prstGeom prst="roundRect">
            <a:avLst>
              <a:gd name="adj" fmla="val 17391"/>
            </a:avLst>
          </a:prstGeom>
          <a:solidFill>
            <a:srgbClr val="D6E6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3759200" y="2260600"/>
            <a:ext cx="19359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Охлаждается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892800" y="2298700"/>
            <a:ext cx="406400" cy="203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0" y="1968500"/>
            <a:ext cx="2184400" cy="863600"/>
          </a:xfrm>
          <a:prstGeom prst="roundRect">
            <a:avLst>
              <a:gd name="adj" fmla="val 11765"/>
            </a:avLst>
          </a:prstGeom>
          <a:solidFill>
            <a:srgbClr val="D6E6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7"/>
          <p:cNvSpPr/>
          <p:nvPr/>
        </p:nvSpPr>
        <p:spPr>
          <a:xfrm>
            <a:off x="6553200" y="2120900"/>
            <a:ext cx="193598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Водяной пар конденсируется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2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6800" y="2298700"/>
            <a:ext cx="406400" cy="203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194800" y="1968500"/>
            <a:ext cx="2184400" cy="863600"/>
          </a:xfrm>
          <a:prstGeom prst="roundRect">
            <a:avLst>
              <a:gd name="adj" fmla="val 11765"/>
            </a:avLst>
          </a:prstGeom>
          <a:solidFill>
            <a:srgbClr val="17707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 9"/>
          <p:cNvSpPr/>
          <p:nvPr/>
        </p:nvSpPr>
        <p:spPr>
          <a:xfrm>
            <a:off x="9347200" y="2120900"/>
            <a:ext cx="1935988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BF8F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Облака и много осадков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857504" y="4011633"/>
            <a:ext cx="108833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B84A1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Высокое давление: воздух опускается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857504" y="4392633"/>
            <a:ext cx="2184400" cy="584200"/>
          </a:xfrm>
          <a:prstGeom prst="roundRect">
            <a:avLst>
              <a:gd name="adj" fmla="val 17391"/>
            </a:avLst>
          </a:prstGeom>
          <a:solidFill>
            <a:srgbClr val="FBE3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009904" y="4545033"/>
            <a:ext cx="19359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Воздух опускается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8" name="Image 3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43504" y="4583133"/>
            <a:ext cx="406400" cy="203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651504" y="4392633"/>
            <a:ext cx="2184400" cy="584200"/>
          </a:xfrm>
          <a:prstGeom prst="roundRect">
            <a:avLst>
              <a:gd name="adj" fmla="val 17391"/>
            </a:avLst>
          </a:prstGeom>
          <a:solidFill>
            <a:srgbClr val="FBE3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3803904" y="4545033"/>
            <a:ext cx="19359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Нагревается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21" name="Image 4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37504" y="4583133"/>
            <a:ext cx="406400" cy="203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445504" y="4392633"/>
            <a:ext cx="2184400" cy="584200"/>
          </a:xfrm>
          <a:prstGeom prst="roundRect">
            <a:avLst>
              <a:gd name="adj" fmla="val 17391"/>
            </a:avLst>
          </a:prstGeom>
          <a:solidFill>
            <a:srgbClr val="F29E4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6597904" y="4545033"/>
            <a:ext cx="193598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Осадков мало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9E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41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Рекорд по осадкам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812800" y="1638300"/>
            <a:ext cx="5114671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≈ </a:t>
            </a:r>
            <a:r>
              <a:rPr kumimoji="0" lang="ru-RU" sz="4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ru-RU" sz="4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0 мм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2598381"/>
            <a:ext cx="511467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Черапунджи, Индия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179606"/>
            <a:ext cx="511467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Годовое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количество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осадков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kumimoji="0" lang="ru-RU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авг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1860 – </a:t>
            </a:r>
            <a:r>
              <a:rPr kumimoji="0" lang="ru-RU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июл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1861)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083300" y="1638300"/>
            <a:ext cx="25400" cy="1479550"/>
          </a:xfrm>
          <a:prstGeom prst="rect">
            <a:avLst/>
          </a:prstGeom>
          <a:solidFill>
            <a:srgbClr val="14304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13500" y="1638300"/>
            <a:ext cx="5114671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-120"/>
              </a:rPr>
              <a:t>172 месяца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13500" y="2598381"/>
            <a:ext cx="5114671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Арика, Чили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13500" y="3179606"/>
            <a:ext cx="511467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-120"/>
              </a:rPr>
              <a:t>С октября 1903 по январь 1918 не было осадков вовсе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80FB13-F880-F01C-1955-3538AB3A6EE4}"/>
              </a:ext>
            </a:extLst>
          </p:cNvPr>
          <p:cNvSpPr txBox="1"/>
          <p:nvPr/>
        </p:nvSpPr>
        <p:spPr>
          <a:xfrm>
            <a:off x="1321729" y="4527551"/>
            <a:ext cx="87366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Н</a:t>
            </a:r>
            <a:r>
              <a:rPr kumimoji="0" lang="ru-US" sz="24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орма осадков для Ростова-на-Дону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≈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590 мм в год</a:t>
            </a:r>
            <a:r>
              <a:rPr kumimoji="0" lang="ru-US" sz="24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9150" y="1593850"/>
            <a:ext cx="4562574" cy="3161407"/>
          </a:xfrm>
          <a:prstGeom prst="roundRect">
            <a:avLst>
              <a:gd name="adj" fmla="val 4620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79500" y="1854200"/>
            <a:ext cx="416313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79500" y="2286000"/>
            <a:ext cx="416313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У подножия горы давление 760 мм рт. ст. Каково давление на вершине высотой 1000 м?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79500" y="3225800"/>
            <a:ext cx="416313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Подсказка: 1 мм рт. ст. на каждые 10 м подъёма.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597624" y="1593850"/>
            <a:ext cx="5775226" cy="3161407"/>
          </a:xfrm>
          <a:prstGeom prst="roundRect">
            <a:avLst>
              <a:gd name="adj" fmla="val 4620"/>
            </a:avLst>
          </a:prstGeom>
          <a:solidFill>
            <a:srgbClr val="FFFDF8"/>
          </a:solidFill>
          <a:ln w="12700">
            <a:solidFill>
              <a:srgbClr val="E4DDC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857974" y="1854200"/>
            <a:ext cx="541216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1770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таблицу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571809"/>
              </p:ext>
            </p:extLst>
          </p:nvPr>
        </p:nvGraphicFramePr>
        <p:xfrm>
          <a:off x="5870674" y="2298700"/>
          <a:ext cx="5241825" cy="2196205"/>
        </p:xfrm>
        <a:graphic>
          <a:graphicData uri="http://schemas.openxmlformats.org/drawingml/2006/table">
            <a:tbl>
              <a:tblPr/>
              <a:tblGrid>
                <a:gridCol w="2306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7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7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 err="1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Поя</a:t>
                      </a:r>
                      <a:r>
                        <a:rPr lang="ru-RU" sz="1600" b="1" dirty="0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Давление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BF8F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Осадки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Экваториальный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Тропические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Умеренные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2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Полярные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30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B9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8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143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Итоги урока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2800" y="1587500"/>
            <a:ext cx="3386634" cy="3816350"/>
          </a:xfrm>
          <a:prstGeom prst="roundRect">
            <a:avLst>
              <a:gd name="adj" fmla="val 8696"/>
            </a:avLst>
          </a:prstGeom>
          <a:solidFill>
            <a:srgbClr val="D6E6E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66800" y="1841500"/>
            <a:ext cx="296499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Низкое давление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66800" y="2895875"/>
            <a:ext cx="2964993" cy="3149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Воздух поднимается, образуются облака, осадков много.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02634" y="1587500"/>
            <a:ext cx="3386634" cy="3816350"/>
          </a:xfrm>
          <a:prstGeom prst="roundRect">
            <a:avLst>
              <a:gd name="adj" fmla="val 8696"/>
            </a:avLst>
          </a:prstGeom>
          <a:solidFill>
            <a:srgbClr val="FBE3C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656634" y="1841500"/>
            <a:ext cx="296499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Высокое давление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656634" y="2895876"/>
            <a:ext cx="2964993" cy="21304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Воздух опускается, осадков мало.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992467" y="1587500"/>
            <a:ext cx="3386634" cy="3816350"/>
          </a:xfrm>
          <a:prstGeom prst="roundRect">
            <a:avLst>
              <a:gd name="adj" fmla="val 8696"/>
            </a:avLst>
          </a:prstGeom>
          <a:solidFill>
            <a:srgbClr val="EDE7D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US" sz="1800" b="0" i="0" u="none" strike="noStrike" kern="1200" cap="none" spc="0" normalizeH="0" baseline="0" noProof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46467" y="1841500"/>
            <a:ext cx="2964993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Ветер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46467" y="2895876"/>
            <a:ext cx="2964993" cy="21304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22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4304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Дует из области высокого давления в область низкого.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B6B7A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0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llip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093200" y="812800"/>
            <a:ext cx="2286000" cy="2286000"/>
          </a:xfrm>
          <a:prstGeom prst="rect">
            <a:avLst/>
          </a:prstGeom>
        </p:spPr>
      </p:pic>
      <p:pic>
        <p:nvPicPr>
          <p:cNvPr id="3" name="Image 1" descr="Boo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01200" y="1320800"/>
            <a:ext cx="1270000" cy="1270000"/>
          </a:xfrm>
          <a:prstGeom prst="rect">
            <a:avLst/>
          </a:prstGeom>
        </p:spPr>
      </p:pic>
      <p:sp>
        <p:nvSpPr>
          <p:cNvPr id="4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40"/>
              </a:lnSpc>
              <a:buNone/>
            </a:pPr>
            <a:r>
              <a:rPr lang="en-US" sz="3600" b="1" i="0" dirty="0">
                <a:solidFill>
                  <a:srgbClr val="FB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Домашнее задание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812800" y="2949575"/>
            <a:ext cx="7813294" cy="170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6314" marR="0" lvl="0" indent="-226314" algn="l" defTabSz="914400" rtl="0" eaLnBrk="1" fontAlgn="auto" latinLnBrk="0" hangingPunct="1">
              <a:lnSpc>
                <a:spcPts val="33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srgbClr val="FBF8F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Пар</a:t>
            </a:r>
            <a:r>
              <a: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BF8F1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. 12 и 13</a:t>
            </a:r>
          </a:p>
          <a:p>
            <a:pPr marL="226314" marR="0" lvl="0" indent="-226314" algn="l" defTabSz="914400" rtl="0" eaLnBrk="1" fontAlgn="auto" latinLnBrk="0" hangingPunct="1">
              <a:lnSpc>
                <a:spcPts val="33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endParaRPr kumimoji="0" lang="ru-RU" sz="4000" b="0" i="0" u="none" strike="noStrike" kern="1200" cap="none" spc="0" normalizeH="0" baseline="0" noProof="0" dirty="0">
              <a:ln>
                <a:noFill/>
              </a:ln>
              <a:solidFill>
                <a:srgbClr val="FBF8F1"/>
              </a:solidFill>
              <a:effectLst/>
              <a:uLnTx/>
              <a:uFillTx/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6314" marR="0" lvl="0" indent="-226314" algn="l" defTabSz="914400" rtl="0" eaLnBrk="1" fontAlgn="auto" latinLnBrk="0" hangingPunct="1">
              <a:lnSpc>
                <a:spcPts val="33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ru-RU" sz="4000" b="0" i="0" u="none" strike="noStrike" kern="1200" cap="none" spc="0" normalizeH="0" baseline="0" noProof="0" dirty="0">
                <a:ln>
                  <a:noFill/>
                </a:ln>
                <a:solidFill>
                  <a:srgbClr val="FBF8F1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-120"/>
              </a:rPr>
              <a:t>Учить конспект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 2"/>
          <p:cNvSpPr/>
          <p:nvPr/>
        </p:nvSpPr>
        <p:spPr>
          <a:xfrm>
            <a:off x="812800" y="6242050"/>
            <a:ext cx="7194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FB4C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География · 7 класс · Осадки и пояса давления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3"/>
          <p:cNvSpPr/>
          <p:nvPr/>
        </p:nvSpPr>
        <p:spPr>
          <a:xfrm>
            <a:off x="10058400" y="624205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9FB4C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14304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пература воздуха">
  <a:themeElements>
    <a:clrScheme name="Температура воздуха">
      <a:dk1>
        <a:srgbClr val="14304A"/>
      </a:dk1>
      <a:lt1>
        <a:srgbClr val="FBF8F1"/>
      </a:lt1>
      <a:dk2>
        <a:srgbClr val="4E6274"/>
      </a:dk2>
      <a:lt2>
        <a:srgbClr val="E4E4E0"/>
      </a:lt2>
      <a:accent1>
        <a:srgbClr val="17707A"/>
      </a:accent1>
      <a:accent2>
        <a:srgbClr val="F29E4C"/>
      </a:accent2>
      <a:accent3>
        <a:srgbClr val="FBE3C2"/>
      </a:accent3>
      <a:accent4>
        <a:srgbClr val="B84A17"/>
      </a:accent4>
      <a:accent5>
        <a:srgbClr val="9FB4C7"/>
      </a:accent5>
      <a:accent6>
        <a:srgbClr val="5B6B7A"/>
      </a:accent6>
      <a:hlink>
        <a:srgbClr val="0563C1"/>
      </a:hlink>
      <a:folHlink>
        <a:srgbClr val="954F72"/>
      </a:folHlink>
    </a:clrScheme>
    <a:fontScheme name="Температура воздуха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Осадки и пояса давления">
  <a:themeElements>
    <a:clrScheme name="Осадки и пояса давления">
      <a:dk1>
        <a:srgbClr val="14304A"/>
      </a:dk1>
      <a:lt1>
        <a:srgbClr val="FBF8F1"/>
      </a:lt1>
      <a:dk2>
        <a:srgbClr val="4E6274"/>
      </a:dk2>
      <a:lt2>
        <a:srgbClr val="E4E4E0"/>
      </a:lt2>
      <a:accent1>
        <a:srgbClr val="17707A"/>
      </a:accent1>
      <a:accent2>
        <a:srgbClr val="F29E4C"/>
      </a:accent2>
      <a:accent3>
        <a:srgbClr val="FBE3C2"/>
      </a:accent3>
      <a:accent4>
        <a:srgbClr val="9FB4C7"/>
      </a:accent4>
      <a:accent5>
        <a:srgbClr val="B84A17"/>
      </a:accent5>
      <a:accent6>
        <a:srgbClr val="5B6B7A"/>
      </a:accent6>
      <a:hlink>
        <a:srgbClr val="0563C1"/>
      </a:hlink>
      <a:folHlink>
        <a:srgbClr val="954F72"/>
      </a:folHlink>
    </a:clrScheme>
    <a:fontScheme name="Осадки и пояса давления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1404</Words>
  <Application>Microsoft Macintosh PowerPoint</Application>
  <PresentationFormat>Широкоэкранный</PresentationFormat>
  <Paragraphs>208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Aptos</vt:lpstr>
      <vt:lpstr>Arial</vt:lpstr>
      <vt:lpstr>Температура воздуха</vt:lpstr>
      <vt:lpstr>Осадки и пояса давления</vt:lpstr>
      <vt:lpstr>Закономерности распределения температуры воздуха</vt:lpstr>
      <vt:lpstr>Вспомним</vt:lpstr>
      <vt:lpstr>Основные понятия</vt:lpstr>
      <vt:lpstr>Фактор 1. Широта</vt:lpstr>
      <vt:lpstr>6 °C</vt:lpstr>
      <vt:lpstr>Факторы 3 и 4: поверхность и течения</vt:lpstr>
      <vt:lpstr>Презентация PowerPoint</vt:lpstr>
      <vt:lpstr>Практика</vt:lpstr>
      <vt:lpstr>Закономерности распределения атмосферных осадков</vt:lpstr>
      <vt:lpstr>Основные понятия</vt:lpstr>
      <vt:lpstr>Пояса давления и количество осадков</vt:lpstr>
      <vt:lpstr>Осадки по широтам (рис. 29)</vt:lpstr>
      <vt:lpstr>Презентация PowerPoint</vt:lpstr>
      <vt:lpstr>Связь давления и осадков</vt:lpstr>
      <vt:lpstr>Презентация PowerPoint</vt:lpstr>
      <vt:lpstr>Практика</vt:lpstr>
      <vt:lpstr>Итоги урока</vt:lpstr>
      <vt:lpstr>Домашнее задание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Температура воздуха</dc:title>
  <dc:subject/>
  <dc:creator/>
  <cp:lastModifiedBy>Немичев Алексей Владимирович</cp:lastModifiedBy>
  <cp:revision>3</cp:revision>
  <dcterms:created xsi:type="dcterms:W3CDTF">2026-10-10T19:06:28Z</dcterms:created>
  <dcterms:modified xsi:type="dcterms:W3CDTF">2026-10-13T18:43:29Z</dcterms:modified>
</cp:coreProperties>
</file>