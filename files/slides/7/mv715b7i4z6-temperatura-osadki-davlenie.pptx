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943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мин. Приветствие, тема и цель урока. Сегодня выясняем, где на Земле давление высокое, где низкое и как это связано с количеством осадков.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Определения записываем в тетрадь. Новый материал занимает около 8 минут (слайды 3–8). Обратите внимание класса на определение ветра: оно понадобится в итоге урока.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к поясам давления. Если время позволяет, спросите класс, в каких единицах измеряют давление и осадки.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Подчеркните: 1 мм рт. ст. на 10–10,5 м, значит примерно 100 мм рт. ст. на каждый километр. Это пригодится для задачи на слайде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связь урока. Попросите ученика пересказать цепочку своими словами. В поясах низкого давления осадков много, в поясах высокого мало.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на карте годового количества осадков в атласе, как цвета меняются от экватора к полюсам. Свяжите с предыдущим слайдом: много осадков там, где давление низкое и воздух поднимается; пустыни у тропиков, где давление высокое.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Найдите Черапунджи (северо-восток Индии) и Сахару на карте. Для сравнения: в умеренных широтах 500–800 мм в год.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мин. Ответ на задачу: 1000 м : 10 м = 100, значит давление падает на 100 мм рт. ст., 760 − 100 = 660 мм рт. ст. Таблица: экваториальный — низкое, осадков много; тропические — высокое, мало; умеренные — низкое, достаточно; полярные — высокое, мало.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мин. Ученики отвечают на вопросы, опираясь на цепочки со слайда 7 и определение ветра. Выставление оценок.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мин. Подсказка для третьего задания: вспомните, какое давление в тропических поясах и что происходит с воздухом (слайды 5 и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38300"/>
            <a:ext cx="10566400" cy="440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38300"/>
            <a:ext cx="10566400" cy="440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77200" y="812800"/>
            <a:ext cx="3302000" cy="3302000"/>
          </a:xfrm>
          <a:prstGeom prst="rect">
            <a:avLst/>
          </a:prstGeom>
        </p:spPr>
      </p:pic>
      <p:pic>
        <p:nvPicPr>
          <p:cNvPr id="3" name="Image 1" descr="Cloud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93200" y="1828800"/>
            <a:ext cx="1270000" cy="1270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81280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100" dirty="0">
                <a:solidFill>
                  <a:srgbClr val="F29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· 7 КЛАСС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title"/>
          </p:nvPr>
        </p:nvSpPr>
        <p:spPr>
          <a:xfrm>
            <a:off x="812800" y="2409825"/>
            <a:ext cx="7194550" cy="153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B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Закономерности распределения атмосферных осадков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12800" y="4117975"/>
            <a:ext cx="71945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Пояса атмосферного давления на Земле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понятия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593850"/>
            <a:ext cx="5168900" cy="4451350"/>
          </a:xfrm>
          <a:prstGeom prst="roundRect">
            <a:avLst>
              <a:gd name="adj" fmla="val 8519"/>
            </a:avLst>
          </a:prstGeom>
          <a:solidFill>
            <a:srgbClr val="FFFDF8"/>
          </a:solidFill>
          <a:ln w="12700">
            <a:solidFill>
              <a:srgbClr val="E4DDC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079500" y="2031175"/>
            <a:ext cx="478764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Атмосферные осадки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79500" y="3125850"/>
            <a:ext cx="478764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0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 в жидком или твёрдом виде, выпадающая из облаков: дождь, снег, </a:t>
            </a:r>
            <a:r>
              <a:rPr lang="en-US" sz="2000" dirty="0" err="1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град</a:t>
            </a:r>
            <a:r>
              <a:rPr lang="en-US" sz="20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Сюда же относят росу и иней.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03950" y="1593850"/>
            <a:ext cx="5168900" cy="4451350"/>
          </a:xfrm>
          <a:prstGeom prst="roundRect">
            <a:avLst>
              <a:gd name="adj" fmla="val 8519"/>
            </a:avLst>
          </a:prstGeom>
          <a:solidFill>
            <a:srgbClr val="FFFDF8"/>
          </a:solidFill>
          <a:ln w="12700">
            <a:solidFill>
              <a:srgbClr val="E4DDC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/>
          <p:nvPr/>
        </p:nvSpPr>
        <p:spPr>
          <a:xfrm>
            <a:off x="6464300" y="2031175"/>
            <a:ext cx="478764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Атмосферное давление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64300" y="3125850"/>
            <a:ext cx="478764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0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Сила, с которой воздух давит на земную поверхность и все предметы на </a:t>
            </a:r>
            <a:r>
              <a:rPr lang="en-US" sz="2000" dirty="0" err="1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</a:t>
            </a:r>
            <a:r>
              <a:rPr lang="en-US" sz="20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2800" y="6242050"/>
            <a:ext cx="7194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· 7 класс · Осадки и пояса давления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Пояса давления и количество осадков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593850"/>
            <a:ext cx="5168900" cy="3111500"/>
          </a:xfrm>
          <a:prstGeom prst="roundRect">
            <a:avLst>
              <a:gd name="adj" fmla="val 7055"/>
            </a:avLst>
          </a:prstGeom>
          <a:solidFill>
            <a:srgbClr val="FFFDF8"/>
          </a:solidFill>
          <a:ln w="12700">
            <a:solidFill>
              <a:srgbClr val="E4DDC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4" name="Image 0" descr="Glob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9500" y="1854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9500" y="2571750"/>
            <a:ext cx="478764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 атмосферного давления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9500" y="3187700"/>
            <a:ext cx="4787646" cy="1193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4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Широтная зона, где давление в среднем повышенное или пониженное.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203950" y="1593849"/>
            <a:ext cx="5168900" cy="3111499"/>
          </a:xfrm>
          <a:prstGeom prst="roundRect">
            <a:avLst>
              <a:gd name="adj" fmla="val 7055"/>
            </a:avLst>
          </a:prstGeom>
          <a:solidFill>
            <a:srgbClr val="FFFDF8"/>
          </a:solidFill>
          <a:ln w="12700">
            <a:solidFill>
              <a:srgbClr val="E4DDC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8" name="Image 1" descr="Cloud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64300" y="18542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64300" y="2571750"/>
            <a:ext cx="478764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Годовое количество осадков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64300" y="3187700"/>
            <a:ext cx="4787646" cy="1193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4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 осадков за год. Измеряется в миллиметрах (мм) </a:t>
            </a:r>
            <a:r>
              <a:rPr lang="en-US" sz="2400" dirty="0" err="1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слоя</a:t>
            </a:r>
            <a:r>
              <a:rPr lang="en-US" sz="24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воды</a:t>
            </a:r>
            <a:br>
              <a:rPr lang="ru-RU" sz="24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ru-RU" sz="2400" dirty="0">
              <a:solidFill>
                <a:srgbClr val="1430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2240"/>
              </a:lnSpc>
              <a:buNone/>
            </a:pPr>
            <a:r>
              <a:rPr lang="ru-RU" sz="2400" dirty="0">
                <a:solidFill>
                  <a:srgbClr val="14304A"/>
                </a:solidFill>
                <a:latin typeface="Arial" pitchFamily="34" charset="0"/>
                <a:cs typeface="Arial" pitchFamily="34" charset="-120"/>
              </a:rPr>
              <a:t>Рис. 30 (пар. 13)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812800" y="5105400"/>
            <a:ext cx="10566400" cy="736600"/>
          </a:xfrm>
          <a:prstGeom prst="roundRect">
            <a:avLst>
              <a:gd name="adj" fmla="val 20690"/>
            </a:avLst>
          </a:prstGeom>
          <a:solidFill>
            <a:srgbClr val="F29E4C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2" name="Text 8"/>
          <p:cNvSpPr/>
          <p:nvPr/>
        </p:nvSpPr>
        <p:spPr>
          <a:xfrm>
            <a:off x="1066800" y="5334000"/>
            <a:ext cx="103601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Осадки измеряют в миллиметрах слоя воды, </a:t>
            </a:r>
            <a:r>
              <a:rPr lang="en-US" sz="1600" b="1" dirty="0" err="1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давление</a:t>
            </a: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миллиметрах ртутного столба.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12800" y="6242050"/>
            <a:ext cx="7194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· 7 класс · Осадки и пояса давления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Давление и высота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87500"/>
            <a:ext cx="4618335" cy="4278910"/>
          </a:xfrm>
          <a:prstGeom prst="roundRect">
            <a:avLst>
              <a:gd name="adj" fmla="val 6522"/>
            </a:avLst>
          </a:prstGeom>
          <a:solidFill>
            <a:srgbClr val="14304A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117600" y="2400300"/>
            <a:ext cx="412899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подъёмом давление падает примерно на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7600" y="3060700"/>
            <a:ext cx="4128997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29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мм рт. ст.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17600" y="3835400"/>
            <a:ext cx="41289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B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каждые 10–10,5 м высоты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40685" y="1593850"/>
            <a:ext cx="5732165" cy="4278910"/>
          </a:xfrm>
          <a:prstGeom prst="roundRect">
            <a:avLst>
              <a:gd name="adj" fmla="val 6284"/>
            </a:avLst>
          </a:prstGeom>
          <a:solidFill>
            <a:srgbClr val="FFFDF8"/>
          </a:solidFill>
          <a:ln w="12700">
            <a:solidFill>
              <a:srgbClr val="E4DDC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Text 6"/>
          <p:cNvSpPr/>
          <p:nvPr/>
        </p:nvSpPr>
        <p:spPr>
          <a:xfrm>
            <a:off x="5901035" y="1963142"/>
            <a:ext cx="536780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Закономерность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01035" y="2394942"/>
            <a:ext cx="5367809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0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выше, тем меньше давление: воздух становится разреженным.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01035" y="3911601"/>
            <a:ext cx="536780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Нормальное давление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01035" y="4343401"/>
            <a:ext cx="54654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0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 мм рт. ст. на уровне моря, при 0 °C, на широте 45°.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2800" y="6242050"/>
            <a:ext cx="7194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· 7 класс · Осадки и пояса давления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давления и осадков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8750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Низкое давление: воздух поднимается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800" y="1968500"/>
            <a:ext cx="2184400" cy="863600"/>
          </a:xfrm>
          <a:prstGeom prst="roundRect">
            <a:avLst>
              <a:gd name="adj" fmla="val 11765"/>
            </a:avLst>
          </a:prstGeom>
          <a:solidFill>
            <a:srgbClr val="D6E6EA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/>
          <p:nvPr/>
        </p:nvSpPr>
        <p:spPr>
          <a:xfrm>
            <a:off x="965200" y="2120900"/>
            <a:ext cx="193598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Воздух поднимается</a:t>
            </a:r>
            <a:endParaRPr lang="en-US" sz="1600" dirty="0"/>
          </a:p>
        </p:txBody>
      </p:sp>
      <p:pic>
        <p:nvPicPr>
          <p:cNvPr id="6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98800" y="2298700"/>
            <a:ext cx="406400" cy="20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06800" y="2108200"/>
            <a:ext cx="2184400" cy="584200"/>
          </a:xfrm>
          <a:prstGeom prst="roundRect">
            <a:avLst>
              <a:gd name="adj" fmla="val 17391"/>
            </a:avLst>
          </a:prstGeom>
          <a:solidFill>
            <a:srgbClr val="D6E6EA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8" name="Text 5"/>
          <p:cNvSpPr/>
          <p:nvPr/>
        </p:nvSpPr>
        <p:spPr>
          <a:xfrm>
            <a:off x="3759200" y="2260600"/>
            <a:ext cx="1935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Охлаждается</a:t>
            </a:r>
            <a:endParaRPr lang="en-US" sz="1600" dirty="0"/>
          </a:p>
        </p:txBody>
      </p:sp>
      <p:pic>
        <p:nvPicPr>
          <p:cNvPr id="9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92800" y="2298700"/>
            <a:ext cx="406400" cy="20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0" y="1968500"/>
            <a:ext cx="2184400" cy="863600"/>
          </a:xfrm>
          <a:prstGeom prst="roundRect">
            <a:avLst>
              <a:gd name="adj" fmla="val 11765"/>
            </a:avLst>
          </a:prstGeom>
          <a:solidFill>
            <a:srgbClr val="D6E6EA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1" name="Text 7"/>
          <p:cNvSpPr/>
          <p:nvPr/>
        </p:nvSpPr>
        <p:spPr>
          <a:xfrm>
            <a:off x="6553200" y="2120900"/>
            <a:ext cx="193598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Водяной пар конденсируется</a:t>
            </a:r>
            <a:endParaRPr lang="en-US" sz="1600" dirty="0"/>
          </a:p>
        </p:txBody>
      </p:sp>
      <p:pic>
        <p:nvPicPr>
          <p:cNvPr id="12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0" y="2298700"/>
            <a:ext cx="406400" cy="203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194800" y="1968500"/>
            <a:ext cx="2184400" cy="863600"/>
          </a:xfrm>
          <a:prstGeom prst="roundRect">
            <a:avLst>
              <a:gd name="adj" fmla="val 11765"/>
            </a:avLst>
          </a:prstGeom>
          <a:solidFill>
            <a:srgbClr val="17707A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4" name="Text 9"/>
          <p:cNvSpPr/>
          <p:nvPr/>
        </p:nvSpPr>
        <p:spPr>
          <a:xfrm>
            <a:off x="9347200" y="2120900"/>
            <a:ext cx="193598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B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Облака и много осадков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57504" y="4011633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84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Высокое давление: воздух опускается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57504" y="4392633"/>
            <a:ext cx="2184400" cy="584200"/>
          </a:xfrm>
          <a:prstGeom prst="roundRect">
            <a:avLst>
              <a:gd name="adj" fmla="val 17391"/>
            </a:avLst>
          </a:prstGeom>
          <a:solidFill>
            <a:srgbClr val="FBE3C2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7" name="Text 12"/>
          <p:cNvSpPr/>
          <p:nvPr/>
        </p:nvSpPr>
        <p:spPr>
          <a:xfrm>
            <a:off x="1009904" y="4545033"/>
            <a:ext cx="1935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Воздух опускается</a:t>
            </a:r>
            <a:endParaRPr lang="en-US" sz="1600" dirty="0"/>
          </a:p>
        </p:txBody>
      </p:sp>
      <p:pic>
        <p:nvPicPr>
          <p:cNvPr id="18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43504" y="4583133"/>
            <a:ext cx="406400" cy="203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651504" y="4392633"/>
            <a:ext cx="2184400" cy="584200"/>
          </a:xfrm>
          <a:prstGeom prst="roundRect">
            <a:avLst>
              <a:gd name="adj" fmla="val 17391"/>
            </a:avLst>
          </a:prstGeom>
          <a:solidFill>
            <a:srgbClr val="FBE3C2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20" name="Text 14"/>
          <p:cNvSpPr/>
          <p:nvPr/>
        </p:nvSpPr>
        <p:spPr>
          <a:xfrm>
            <a:off x="3803904" y="4545033"/>
            <a:ext cx="1935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Нагревается</a:t>
            </a:r>
            <a:endParaRPr lang="en-US" sz="1600" dirty="0"/>
          </a:p>
        </p:txBody>
      </p:sp>
      <p:pic>
        <p:nvPicPr>
          <p:cNvPr id="21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37504" y="4583133"/>
            <a:ext cx="406400" cy="2032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445504" y="4392633"/>
            <a:ext cx="2184400" cy="584200"/>
          </a:xfrm>
          <a:prstGeom prst="roundRect">
            <a:avLst>
              <a:gd name="adj" fmla="val 17391"/>
            </a:avLst>
          </a:prstGeom>
          <a:solidFill>
            <a:srgbClr val="F29E4C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23" name="Text 16"/>
          <p:cNvSpPr/>
          <p:nvPr/>
        </p:nvSpPr>
        <p:spPr>
          <a:xfrm>
            <a:off x="6597904" y="4545033"/>
            <a:ext cx="1935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Осадков мало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12800" y="6242050"/>
            <a:ext cx="7194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· 7 класс · Осадки и пояса давления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Осадки по широтам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00200"/>
          <a:ext cx="10553700" cy="2196205"/>
        </p:xfrm>
        <a:graphic>
          <a:graphicData uri="http://schemas.openxmlformats.org/drawingml/2006/table">
            <a:tbl>
              <a:tblPr/>
              <a:tblGrid>
                <a:gridCol w="2955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7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8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Зона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8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Осадки в год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8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Особенности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Экватор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 3000 мм и более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Осадков много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Тропики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часто менее 100 мм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Осадков мало, здесь пустыни (Сахара)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Умеренные широты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500–800 мм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Осадков достаточно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Полярные районы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менее 250 мм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Осадков мало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42050"/>
            <a:ext cx="7194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· 7 класс · Осадки и пояса давления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9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Рекорд по осадкам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38300"/>
            <a:ext cx="5114671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</a:t>
            </a:r>
            <a:r>
              <a:rPr lang="ru-RU" sz="48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r>
              <a:rPr lang="en-US" sz="48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48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r>
              <a:rPr lang="en-US" sz="48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мм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598381"/>
            <a:ext cx="511467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Черапунджи, Индия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3179606"/>
            <a:ext cx="51146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Годовое </a:t>
            </a:r>
            <a:r>
              <a:rPr lang="en-US" sz="1600" dirty="0" err="1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</a:t>
            </a:r>
            <a:r>
              <a:rPr lang="en-US" sz="1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осадков</a:t>
            </a:r>
            <a:r>
              <a:rPr lang="ru-RU" sz="1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ru-RU" sz="1600" dirty="0" err="1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авг</a:t>
            </a:r>
            <a:r>
              <a:rPr lang="ru-RU" sz="1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1860 – </a:t>
            </a:r>
            <a:r>
              <a:rPr lang="ru-RU" sz="1600" dirty="0" err="1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июл</a:t>
            </a:r>
            <a:r>
              <a:rPr lang="ru-RU" sz="1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1861)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83300" y="1638300"/>
            <a:ext cx="25400" cy="1479550"/>
          </a:xfrm>
          <a:prstGeom prst="rect">
            <a:avLst/>
          </a:prstGeom>
          <a:solidFill>
            <a:srgbClr val="14304A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/>
          <p:nvPr/>
        </p:nvSpPr>
        <p:spPr>
          <a:xfrm>
            <a:off x="6413500" y="1638300"/>
            <a:ext cx="5114671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ru-RU" sz="4800" b="1" dirty="0">
                <a:solidFill>
                  <a:srgbClr val="14304A"/>
                </a:solidFill>
                <a:latin typeface="Arial" pitchFamily="34" charset="0"/>
                <a:cs typeface="Arial" pitchFamily="34" charset="-120"/>
              </a:rPr>
              <a:t>172 месяца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13500" y="2598381"/>
            <a:ext cx="511467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ru-RU" sz="22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Арика, Чили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13500" y="3179606"/>
            <a:ext cx="51146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ru-RU" sz="1600" dirty="0">
                <a:solidFill>
                  <a:srgbClr val="14304A"/>
                </a:solidFill>
                <a:latin typeface="Arial" pitchFamily="34" charset="0"/>
                <a:cs typeface="Arial" pitchFamily="34" charset="-120"/>
              </a:rPr>
              <a:t>С октября 1903 по январь 1918 не было осадков вовсе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42050"/>
            <a:ext cx="7194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· 7 класс · Осадки и пояса давления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80FB13-F880-F01C-1955-3538AB3A6EE4}"/>
              </a:ext>
            </a:extLst>
          </p:cNvPr>
          <p:cNvSpPr txBox="1"/>
          <p:nvPr/>
        </p:nvSpPr>
        <p:spPr>
          <a:xfrm>
            <a:off x="1321729" y="4527551"/>
            <a:ext cx="87366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b="1" dirty="0"/>
              <a:t>Н</a:t>
            </a:r>
            <a:r>
              <a:rPr lang="ru-US" sz="2400" b="1" dirty="0"/>
              <a:t>орма осадков для Ростова-на-Дону</a:t>
            </a:r>
            <a:r>
              <a:rPr lang="en-US" sz="24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≈</a:t>
            </a:r>
            <a:r>
              <a:rPr lang="ru-RU" sz="24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590 мм в год</a:t>
            </a:r>
            <a:r>
              <a:rPr lang="ru-US" sz="2400" b="1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593850"/>
            <a:ext cx="4562574" cy="3161407"/>
          </a:xfrm>
          <a:prstGeom prst="roundRect">
            <a:avLst>
              <a:gd name="adj" fmla="val 4620"/>
            </a:avLst>
          </a:prstGeom>
          <a:solidFill>
            <a:srgbClr val="FFFDF8"/>
          </a:solidFill>
          <a:ln w="12700">
            <a:solidFill>
              <a:srgbClr val="E4DDC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079500" y="1854200"/>
            <a:ext cx="416313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9500" y="2286000"/>
            <a:ext cx="416313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подножия горы давление 760 мм рт. ст. Каково давление на вершине высотой 1000 м?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3225800"/>
            <a:ext cx="416313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Подсказка: 1 мм рт. ст. на каждые 10 м подъёма.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97624" y="1593850"/>
            <a:ext cx="5775226" cy="3161407"/>
          </a:xfrm>
          <a:prstGeom prst="roundRect">
            <a:avLst>
              <a:gd name="adj" fmla="val 4620"/>
            </a:avLst>
          </a:prstGeom>
          <a:solidFill>
            <a:srgbClr val="FFFDF8"/>
          </a:solidFill>
          <a:ln w="12700">
            <a:solidFill>
              <a:srgbClr val="E4DDC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Text 6"/>
          <p:cNvSpPr/>
          <p:nvPr/>
        </p:nvSpPr>
        <p:spPr>
          <a:xfrm>
            <a:off x="5857974" y="1854200"/>
            <a:ext cx="5412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Заполните таблицу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70674" y="2298700"/>
          <a:ext cx="5241825" cy="2196205"/>
        </p:xfrm>
        <a:graphic>
          <a:graphicData uri="http://schemas.openxmlformats.org/drawingml/2006/table">
            <a:tbl>
              <a:tblPr/>
              <a:tblGrid>
                <a:gridCol w="2306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8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Пояс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8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Давление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8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Осадки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Экваториальный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Тропические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Умеренные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Полярные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3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12800" y="6242050"/>
            <a:ext cx="7194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· 7 класс · Осадки и пояса давления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урока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87500"/>
            <a:ext cx="3386634" cy="3816350"/>
          </a:xfrm>
          <a:prstGeom prst="roundRect">
            <a:avLst>
              <a:gd name="adj" fmla="val 8696"/>
            </a:avLst>
          </a:prstGeom>
          <a:solidFill>
            <a:srgbClr val="D6E6EA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066800" y="1841500"/>
            <a:ext cx="29649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Низкое давление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66800" y="2895875"/>
            <a:ext cx="2964993" cy="3149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4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Воздух поднимается, образуются облака, осадков много.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402634" y="1587500"/>
            <a:ext cx="3386634" cy="3816350"/>
          </a:xfrm>
          <a:prstGeom prst="roundRect">
            <a:avLst>
              <a:gd name="adj" fmla="val 8696"/>
            </a:avLst>
          </a:prstGeom>
          <a:solidFill>
            <a:srgbClr val="FBE3C2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/>
          <p:nvPr/>
        </p:nvSpPr>
        <p:spPr>
          <a:xfrm>
            <a:off x="4656634" y="1841500"/>
            <a:ext cx="29649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Высокое давление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656634" y="2895876"/>
            <a:ext cx="2964993" cy="2130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4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Воздух опускается, осадков мало.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992467" y="1587500"/>
            <a:ext cx="3386634" cy="3816350"/>
          </a:xfrm>
          <a:prstGeom prst="roundRect">
            <a:avLst>
              <a:gd name="adj" fmla="val 8696"/>
            </a:avLst>
          </a:prstGeom>
          <a:solidFill>
            <a:srgbClr val="EDE7D6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0" name="Text 8"/>
          <p:cNvSpPr/>
          <p:nvPr/>
        </p:nvSpPr>
        <p:spPr>
          <a:xfrm>
            <a:off x="8246467" y="1841500"/>
            <a:ext cx="29649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00" b="1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Ветер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46467" y="2895876"/>
            <a:ext cx="2964993" cy="2130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400" dirty="0">
                <a:solidFill>
                  <a:srgbClr val="14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Дует из области высокого давления в область низкого.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2800" y="6242050"/>
            <a:ext cx="7194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· 7 класс · Осадки и пояса давления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93200" y="812800"/>
            <a:ext cx="2286000" cy="2286000"/>
          </a:xfrm>
          <a:prstGeom prst="rect">
            <a:avLst/>
          </a:prstGeom>
        </p:spPr>
      </p:pic>
      <p:pic>
        <p:nvPicPr>
          <p:cNvPr id="3" name="Image 1" descr="Boo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01200" y="1320800"/>
            <a:ext cx="1270000" cy="12700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B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Домашнее задание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812800" y="2949575"/>
            <a:ext cx="7813294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314" indent="-226314" algn="l">
              <a:lnSpc>
                <a:spcPts val="3300"/>
              </a:lnSpc>
              <a:buSzPct val="100000"/>
              <a:buChar char="•"/>
            </a:pPr>
            <a:r>
              <a:rPr lang="en-US" sz="4000" dirty="0" err="1">
                <a:solidFill>
                  <a:srgbClr val="FB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</a:t>
            </a:r>
            <a:r>
              <a:rPr lang="ru-RU" sz="4000" dirty="0">
                <a:solidFill>
                  <a:srgbClr val="FB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12 и 13</a:t>
            </a:r>
          </a:p>
          <a:p>
            <a:pPr marL="226314" indent="-226314" algn="l">
              <a:lnSpc>
                <a:spcPts val="3300"/>
              </a:lnSpc>
              <a:buSzPct val="100000"/>
              <a:buChar char="•"/>
            </a:pPr>
            <a:endParaRPr lang="ru-RU" sz="4000" dirty="0">
              <a:solidFill>
                <a:srgbClr val="FBF8F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6314" indent="-226314" algn="l">
              <a:lnSpc>
                <a:spcPts val="3300"/>
              </a:lnSpc>
              <a:buSzPct val="100000"/>
              <a:buChar char="•"/>
            </a:pPr>
            <a:r>
              <a:rPr lang="ru-RU" sz="4000" dirty="0">
                <a:solidFill>
                  <a:srgbClr val="FBF8F1"/>
                </a:solidFill>
                <a:latin typeface="Arial" pitchFamily="34" charset="0"/>
                <a:cs typeface="Arial" pitchFamily="34" charset="-120"/>
              </a:rPr>
              <a:t>Учить конспект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812800" y="6242050"/>
            <a:ext cx="7194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· 7 класс · Осадки и пояса давления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адки и пояса давления">
  <a:themeElements>
    <a:clrScheme name="Осадки и пояса давления">
      <a:dk1>
        <a:srgbClr val="14304A"/>
      </a:dk1>
      <a:lt1>
        <a:srgbClr val="FBF8F1"/>
      </a:lt1>
      <a:dk2>
        <a:srgbClr val="4E6274"/>
      </a:dk2>
      <a:lt2>
        <a:srgbClr val="E4E4E0"/>
      </a:lt2>
      <a:accent1>
        <a:srgbClr val="17707A"/>
      </a:accent1>
      <a:accent2>
        <a:srgbClr val="F29E4C"/>
      </a:accent2>
      <a:accent3>
        <a:srgbClr val="FBE3C2"/>
      </a:accent3>
      <a:accent4>
        <a:srgbClr val="9FB4C7"/>
      </a:accent4>
      <a:accent5>
        <a:srgbClr val="B84A17"/>
      </a:accent5>
      <a:accent6>
        <a:srgbClr val="5B6B7A"/>
      </a:accent6>
      <a:hlink>
        <a:srgbClr val="0563C1"/>
      </a:hlink>
      <a:folHlink>
        <a:srgbClr val="954F72"/>
      </a:folHlink>
    </a:clrScheme>
    <a:fontScheme name="Осадки и пояса давления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781</Words>
  <Application>Microsoft Macintosh PowerPoint</Application>
  <PresentationFormat>Широкоэкранный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Осадки и пояса давления</vt:lpstr>
      <vt:lpstr>Закономерности распределения атмосферных осадков</vt:lpstr>
      <vt:lpstr>Основные понятия</vt:lpstr>
      <vt:lpstr>Пояса давления и количество осадков</vt:lpstr>
      <vt:lpstr>Презентация PowerPoint</vt:lpstr>
      <vt:lpstr>Связь давления и осадков</vt:lpstr>
      <vt:lpstr>Осадки по широтам</vt:lpstr>
      <vt:lpstr>Презентация PowerPoint</vt:lpstr>
      <vt:lpstr>Практика</vt:lpstr>
      <vt:lpstr>Итоги урока</vt:lpstr>
      <vt:lpstr>Домашнее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Осадки и пояса давления</dc:title>
  <dc:subject/>
  <dc:creator/>
  <cp:lastModifiedBy>Немичев Алексей Владимирович</cp:lastModifiedBy>
  <cp:revision>3</cp:revision>
  <dcterms:created xsi:type="dcterms:W3CDTF">2026-10-13T18:17:12Z</dcterms:created>
  <dcterms:modified xsi:type="dcterms:W3CDTF">2026-10-13T18:38:15Z</dcterms:modified>
</cp:coreProperties>
</file>