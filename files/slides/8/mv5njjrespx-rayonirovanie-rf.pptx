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 мин. Приветствие. Тема урока объединяет три темы: федеративное устройство и субъекты РФ, федеральные округа и районирование, макрорегионы и крупные районы. Формат обзорный, поэтому всё держится на опорном конспекте: определения записываем в тетрадь, таблицу заполняем сами. Оборудование: политико-административная карта России, карта федеральных округов, атласы. Если не успеваете, сокращайте в таком порядке: слайд 7 (разнообразие субъектов), затем слайд 9 (оставьте три вида районирования: административное, природное, экономическое), затем слайд 13 (только названия районов). Определения, слайды 5, 10 и 16 сокращению не подлежат.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Около 1 мин. Планируемые результаты по ФГОС ООО. Предметные: знать определения (федерация, субъект РФ, федеральный округ, районирование, макрорегион); называть виды субъектов и примеры; объяснять равноправие и разнообразие; показывать на карте 8 федеральных округов и называть центры; различать виды районирования, называть макрорегионы и крупные районы. Метапредметные (УУД): познавательные: сравнивать, классифицировать, работать с картой и таблицей; коммуникативные: отвечать с использованием терминов; регулятивные: самооценка по критериям в конце урока. Личностные: осознание целостности и многообразия России, гражданская идентичность, интерес к своему региону.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Минуты 1–3. Задайте вопрос классу: Россия огромна, 17,1 млн км² и 11 часовых поясов. Как управлять такой страной и как её удобно изучать? Ответ задаёт структуру урока. Запишите на доске три слова: субъекты, округа, районы. Субъекты нужны для управления. Федеральные округа нужны для контроля и координации. Районы и макрорегионы нужны для изучения и хозяйственного планирования.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Блок 1: минуты 3–14. Определения записываем в тетрадь. Государственное устройство: способ территориальной организации государства. Федерация: форма государственного устройства, при которой государство состоит из относительно самостоятельных государственных образований, называемых субъектами. Унитарное государство: государство, в котором нет самостоятельных государственных образований, есть только административные единицы. Для сравнения: Франция. Федеративное устройство: система отношений между федеральным центром и субъектами, закреплённая в Конституции РФ.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Состав России закреплён в статье 65 Конституции РФ. Определение: субъект Российской Федерации — равноправная часть России с собственными органами власти и территорией. Сумма по таблице: 24 + 9 + 48 + 3 + 1 + 4 = 89. Полный список автономных округов: Ненецкий, Ханты-Мансийский (Югра), Ямало-Ненецкий, Чукотский. Автономная область одна: Еврейская. Список субъектов менялся в 2014 и 2022 годах. Сверьтесь с той редакцией учебника, по которой работаете: в старых изданиях может быть другое число. Задание классу (1 минута): найти на политико-административной карте свой субъект и назвать его вид.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Равноправие закреплено в статье 5 Конституции РФ. Что оно означает на практике: 1. У каждого субъекта по 2 представителя в Совете Федерации. 2. Все подчиняются Конституции и федеральным законам. 3. У всех одинаковые права при распределении полномочий между центром и регионами. 4. Субъекты не могут выйти из состава РФ самовольно. Подведите к мысли: равноправие не значит одинаковость. Это подготовка к следующему слайду о разнообразии.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Если не хватает времени, этот слайд сокращается первым: достаточно назвать вывод. По статусу: республики имеют собственную конституцию и могут устанавливать свой государственный язык наряду с русским; края, области, города федерального значения, автономные округа и автономная область принимают уставы. По площади: самый большой субъект Якутия (Саха), более 3 млн км2; самый маленький Севастополь, менее 1 тыс. км2. По населению: в Москве живёт более 13 млн человек, в Ненецком АО и на Чукотке около 40–50 тыс.: разница в сотни раз. По природным условиям, хозяйству и национальному составу субъекты тоже очень разные. Вывод для тетради: субъекты РФ равноправны по Конституции, но очень разные по размеру, населению, природе и экономике.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Блок 2: минуты 14–26. Определения записываем в тетрадь. Федеральный округ: территориальное объединение нескольких субъектов РФ, созданное для контроля за исполнением решений федеральной власти. Это не субъект Федерации и не самостоятельная единица управления. Во главе округа стоит полномочный представитель Президента РФ. Районирование: разделение территории на части (районы) по определённым признакам: однородности, связям, управлению. Район: часть территории страны, отличающаяся от других по набору признаков. Справка для себя: федеральные округа появились в 2000 году (тогда их было семь), сейчас их восемь.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Пять видов районирования, коротко и без углубления. 1. Административное: по управлению (субъекты РФ, федеральные округа). 2. Природное, или физико-географическое: по рельефу, климату, природным зонам. 3. Экономическое: по специализации хозяйства и экономическим связям (экономические районы). 4. Историко-культурное: по этническому составу, традициям, истории освоения. 5. Комплексное, или интегральное: учитывает природу, хозяйство, население вместе. Принципы районирования: однородность территории, целостность, наличие центра, учёт хозяйственных связей. Если не хватает времени, оставьте три основных вида: административное, природное, экономическое.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Это ключевой слайд, он сокращению не подлежит: округа и их центры должны быть и в тетради, и на карте. Центр Дальневосточного округа с 2018 года Владивосток, раньше был Хабаровск. Эта ошибка часто встречается в старых пособиях. Работа с картой, 2–3 минуты: ученики находят на карте федеральных округов самый большой округ (Дальневосточный) и самый густонаселённый (Центральный). Затем по одному ученику показывают у доски любой округ и называют его центр.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Блок 3: минуты 26–34. Определения записываем в тетрадь. Макрорегион: крупная часть страны, объединяющая несколько соседних районов со сходными природными, историческими и хозяйственными чертами. Географический район: территория, выделенная по комплексу природных, хозяйственных и социальных признаков. Свяжите с предыдущим блоком: районирование делит страну на районы, а из районов складываются макрорегионы.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 России выделяют два макрорегиона. Западный (европейская часть): Центральная Россия, Северо-Запад, Европейский Север, Европейский Юг (включая Северный Кавказ), Поволжье, Урал. Больше населения и городов, развитая промышленность, густая транспортная сеть, равнины. Восточный (азиатская часть): Западная Сибирь, Восточная Сибирь, Дальний Восток. Огромная территория, малая плотность населения, богатые ресурсы, суровый климат, горы. Граница между ними условно проходит по Уралу. Урал часто выделяют как район, связывающий оба макрорегиона.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Девять крупных географических районов, которые подробно изучаются в курсе географии 8–9 классов. Сейчас достаточно назвать их и отнести к макрорегиону. Запад: Центральная Россия, Северо-Запад, Европейский Север, Европейский Юг (включая Северный Кавказ), Поволжье, Урал. Восток: Западная Сибирь, Восточная Сибирь, Дальний Восток. Если не хватает времени, этот слайд сокращается до чтения названий.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Ключевая мысль блока 3. Макрорегионы и районы не совпадают с федеральными округами: округа это административное деление, районы это учебное и научное деление. Три уровня, которые мы записали на доске в начале урока: субъекты (89) нужны для управления; федеральные округа (8) нужны для контроля и координации; макрорегионы (2) и районы (9) нужны для изучения и хозяйственного планирования. Если останется время, попросите кого-то из учеников привести пример: Урал это район, Уральский федеральный округ это административная единица, и их границы не совпадают.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Минуты 34–38. Быстрый устный опрос, 2 минуты на вопросы и 2 минуты на таблицу. Ожидаемые ответы. 1. Федеральный округ это объединение нескольких субъектов для контроля за исполнением решений федеральной власти, он не является субъектом Федерации. Субъект это равноправная часть России с собственными органами власти. 2. Например: республика Татарстан, Краснодарский край, Московская область (подойдут и города федерального значения, автономный округ, автономная область). 3. Западный (европейская часть) и Восточный (азиатская часть). Условно их разделяет Урал. Критерии по ФГОС: умение дать определение, привести пример, показать объект на карте.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Ученики заполняют эту таблицу в тетради по ходу ответов на вопросы. Если класс не успевает, можно оставить в таблице только столбцы «Понятие» и «Определение» и дописать примеры дома. Это основа проверки знаний: определения из таблицы сокращению не подлежат.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Минуты 38–40. Рефлексия «Светофор»: ученики поднимают карточку. Зелёная: всё понял. Жёлтая: нужны уточнения. Красная: не разобрался. Тем, у кого красная или жёлтая карточка, можно предложить повторить определения по сводной таблице. Домашнее задание: прочитать параграфы по теме; заполнить контурную карту (границы 8 федеральных округов, подписать центры); найти свой субъект РФ и определить его вид и федеральный округ. Самооценка по критериям: умение показать объект на карте, дать определение, привести пример.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4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00150"/>
            <a:ext cx="10566400" cy="444500"/>
          </a:xfrm>
          <a:prstGeom prst="rect">
            <a:avLst/>
          </a:prstGeom>
          <a:noFill/>
          <a:ln/>
        </p:spPr>
        <p:txBody>
          <a:bodyPr wrap="square" lIns="0" tIns="0" rIns="0" bIns="0" rtlCol="0" anchor="t"/>
          <a:lstStyle>
            <a:lvl1pPr algn="l" indent="0" marL="0">
              <a:lnSpc>
                <a:spcPct val="115000"/>
              </a:lnSpc>
              <a:buNone/>
              <a:defRPr lang="en-US" sz="3200" dirty="0">
                <a:solidFill>
                  <a:srgbClr val="12263A"/>
                </a:solidFill>
                <a:latin typeface="Arial" pitchFamily="34" charset="0"/>
                <a:ea typeface="Arial" pitchFamily="34" charset="-122"/>
                <a:cs typeface="Arial"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949450"/>
            <a:ext cx="10566400" cy="4095750"/>
          </a:xfrm>
          <a:prstGeom prst="rect">
            <a:avLst/>
          </a:prstGeom>
          <a:noFill/>
          <a:ln/>
        </p:spPr>
        <p:txBody>
          <a:bodyPr wrap="square" lIns="0" tIns="0" rIns="0" bIns="0" rtlCol="0" anchor="t"/>
          <a:lstStyle>
            <a:lvl1pPr algn="l" indent="0" marL="0">
              <a:lnSpc>
                <a:spcPct val="140000"/>
              </a:lnSpc>
              <a:buNone/>
              <a:defRPr lang="en-US" sz="1600" dirty="0">
                <a:solidFill>
                  <a:srgbClr val="12263A"/>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4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00150"/>
            <a:ext cx="10566400" cy="444500"/>
          </a:xfrm>
          <a:prstGeom prst="rect">
            <a:avLst/>
          </a:prstGeom>
          <a:noFill/>
          <a:ln/>
        </p:spPr>
        <p:txBody>
          <a:bodyPr wrap="square" lIns="0" tIns="0" rIns="0" bIns="0" rtlCol="0" anchor="t"/>
          <a:lstStyle>
            <a:lvl1pPr algn="l" indent="0" marL="0">
              <a:lnSpc>
                <a:spcPct val="115000"/>
              </a:lnSpc>
              <a:buNone/>
              <a:defRPr lang="en-US" sz="3200" dirty="0">
                <a:solidFill>
                  <a:srgbClr val="12263A"/>
                </a:solidFill>
                <a:latin typeface="Arial" pitchFamily="34" charset="0"/>
                <a:ea typeface="Arial" pitchFamily="34" charset="-122"/>
                <a:cs typeface="Arial"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949450"/>
            <a:ext cx="10566400" cy="4095750"/>
          </a:xfrm>
          <a:prstGeom prst="rect">
            <a:avLst/>
          </a:prstGeom>
          <a:noFill/>
          <a:ln/>
        </p:spPr>
        <p:txBody>
          <a:bodyPr wrap="square" lIns="0" tIns="0" rIns="0" bIns="0" rtlCol="0" anchor="t"/>
          <a:lstStyle>
            <a:lvl1pPr algn="l" indent="0" marL="0">
              <a:lnSpc>
                <a:spcPct val="140000"/>
              </a:lnSpc>
              <a:buNone/>
              <a:defRPr lang="en-US" sz="1600" dirty="0">
                <a:solidFill>
                  <a:srgbClr val="12263A"/>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63A"/>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A65A"/>
                </a:solidFill>
                <a:latin typeface="Arial" pitchFamily="34" charset="0"/>
                <a:ea typeface="Arial" pitchFamily="34" charset="-122"/>
                <a:cs typeface="Arial" pitchFamily="34" charset="-120"/>
              </a:rPr>
              <a:t>География · 8 класс · 40 минут</a:t>
            </a:r>
            <a:endParaRPr lang="en-US" sz="1200" dirty="0"/>
          </a:p>
        </p:txBody>
      </p:sp>
      <p:sp>
        <p:nvSpPr>
          <p:cNvPr id="3" name="Text 1"/>
          <p:cNvSpPr/>
          <p:nvPr>
            <p:ph type="title"/>
          </p:nvPr>
        </p:nvSpPr>
        <p:spPr>
          <a:xfrm>
            <a:off x="812800" y="2241550"/>
            <a:ext cx="10883392" cy="1244600"/>
          </a:xfrm>
          <a:prstGeom prst="rect">
            <a:avLst/>
          </a:prstGeom>
          <a:noFill/>
          <a:ln/>
        </p:spPr>
        <p:txBody>
          <a:bodyPr wrap="square" lIns="0" tIns="0" rIns="0" bIns="0" rtlCol="0" anchor="t">
            <a:normAutofit/>
          </a:bodyPr>
          <a:lstStyle/>
          <a:p>
            <a:pPr algn="l" indent="0" marL="0">
              <a:lnSpc>
                <a:spcPts val="4840"/>
              </a:lnSpc>
              <a:buNone/>
            </a:pPr>
            <a:r>
              <a:rPr lang="en-US" sz="4400" b="1" i="0" dirty="0">
                <a:solidFill>
                  <a:srgbClr val="F7F4EC"/>
                </a:solidFill>
                <a:latin typeface="Arial" pitchFamily="34" charset="0"/>
                <a:ea typeface="Arial" pitchFamily="34" charset="-122"/>
                <a:cs typeface="Arial" pitchFamily="34" charset="-120"/>
              </a:rPr>
              <a:t>Как устроена Россия:</a:t>
            </a:r>
            <a:endParaRPr lang="en-US" sz="4400" dirty="0"/>
          </a:p>
          <a:p>
            <a:pPr algn="l" indent="0" marL="0">
              <a:lnSpc>
                <a:spcPts val="4840"/>
              </a:lnSpc>
              <a:buNone/>
            </a:pPr>
            <a:r>
              <a:rPr lang="en-US" sz="4400" b="1" i="0" dirty="0">
                <a:solidFill>
                  <a:srgbClr val="F7F4EC"/>
                </a:solidFill>
                <a:latin typeface="Arial" pitchFamily="34" charset="0"/>
                <a:ea typeface="Arial" pitchFamily="34" charset="-122"/>
                <a:cs typeface="Arial" pitchFamily="34" charset="-120"/>
              </a:rPr>
              <a:t>субъекты, округа, районы</a:t>
            </a:r>
            <a:endParaRPr lang="en-US" sz="4400" dirty="0"/>
          </a:p>
        </p:txBody>
      </p:sp>
      <p:sp>
        <p:nvSpPr>
          <p:cNvPr id="4" name="Text 2"/>
          <p:cNvSpPr/>
          <p:nvPr/>
        </p:nvSpPr>
        <p:spPr>
          <a:xfrm>
            <a:off x="812800" y="3663950"/>
            <a:ext cx="10883392" cy="3048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FD3DD"/>
                </a:solidFill>
                <a:latin typeface="Arial" pitchFamily="34" charset="0"/>
                <a:ea typeface="Arial" pitchFamily="34" charset="-122"/>
                <a:cs typeface="Arial" pitchFamily="34" charset="-120"/>
              </a:rPr>
              <a:t>Федеративное устройство · Федеральные округа и районирование · Макрорегионы</a:t>
            </a:r>
            <a:endParaRPr lang="en-US" sz="1600" dirty="0"/>
          </a:p>
        </p:txBody>
      </p:sp>
      <p:sp>
        <p:nvSpPr>
          <p:cNvPr id="5" name="Shape 3"/>
          <p:cNvSpPr/>
          <p:nvPr/>
        </p:nvSpPr>
        <p:spPr>
          <a:xfrm>
            <a:off x="812800" y="5175250"/>
            <a:ext cx="3386634" cy="0"/>
          </a:xfrm>
          <a:prstGeom prst="line">
            <a:avLst/>
          </a:prstGeom>
          <a:noFill/>
          <a:ln w="25400">
            <a:solidFill>
              <a:srgbClr val="F2A65A"/>
            </a:solidFill>
            <a:prstDash val="solid"/>
          </a:ln>
        </p:spPr>
      </p:sp>
      <p:sp>
        <p:nvSpPr>
          <p:cNvPr id="6" name="Text 4"/>
          <p:cNvSpPr/>
          <p:nvPr/>
        </p:nvSpPr>
        <p:spPr>
          <a:xfrm>
            <a:off x="812800" y="5340350"/>
            <a:ext cx="3488233" cy="46990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F7F4EC"/>
                </a:solidFill>
                <a:latin typeface="Arial" pitchFamily="34" charset="0"/>
                <a:ea typeface="Arial" pitchFamily="34" charset="-122"/>
                <a:cs typeface="Arial" pitchFamily="34" charset="-120"/>
              </a:rPr>
              <a:t>89</a:t>
            </a:r>
            <a:endParaRPr lang="en-US" sz="3200" dirty="0"/>
          </a:p>
        </p:txBody>
      </p:sp>
      <p:sp>
        <p:nvSpPr>
          <p:cNvPr id="7" name="Text 5"/>
          <p:cNvSpPr/>
          <p:nvPr/>
        </p:nvSpPr>
        <p:spPr>
          <a:xfrm>
            <a:off x="812800" y="5835650"/>
            <a:ext cx="3488233"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D3DD"/>
                </a:solidFill>
                <a:latin typeface="Arial" pitchFamily="34" charset="0"/>
                <a:ea typeface="Arial" pitchFamily="34" charset="-122"/>
                <a:cs typeface="Arial" pitchFamily="34" charset="-120"/>
              </a:rPr>
              <a:t>субъектов в составе России</a:t>
            </a:r>
            <a:endParaRPr lang="en-US" sz="1200" dirty="0"/>
          </a:p>
        </p:txBody>
      </p:sp>
      <p:sp>
        <p:nvSpPr>
          <p:cNvPr id="8" name="Shape 6"/>
          <p:cNvSpPr/>
          <p:nvPr/>
        </p:nvSpPr>
        <p:spPr>
          <a:xfrm>
            <a:off x="4402634" y="5175250"/>
            <a:ext cx="3386634" cy="0"/>
          </a:xfrm>
          <a:prstGeom prst="line">
            <a:avLst/>
          </a:prstGeom>
          <a:noFill/>
          <a:ln w="25400">
            <a:solidFill>
              <a:srgbClr val="F2A65A"/>
            </a:solidFill>
            <a:prstDash val="solid"/>
          </a:ln>
        </p:spPr>
      </p:sp>
      <p:sp>
        <p:nvSpPr>
          <p:cNvPr id="9" name="Text 7"/>
          <p:cNvSpPr/>
          <p:nvPr/>
        </p:nvSpPr>
        <p:spPr>
          <a:xfrm>
            <a:off x="4402634" y="5340350"/>
            <a:ext cx="3488233" cy="46990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F7F4EC"/>
                </a:solidFill>
                <a:latin typeface="Arial" pitchFamily="34" charset="0"/>
                <a:ea typeface="Arial" pitchFamily="34" charset="-122"/>
                <a:cs typeface="Arial" pitchFamily="34" charset="-120"/>
              </a:rPr>
              <a:t>8</a:t>
            </a:r>
            <a:endParaRPr lang="en-US" sz="3200" dirty="0"/>
          </a:p>
        </p:txBody>
      </p:sp>
      <p:sp>
        <p:nvSpPr>
          <p:cNvPr id="10" name="Text 8"/>
          <p:cNvSpPr/>
          <p:nvPr/>
        </p:nvSpPr>
        <p:spPr>
          <a:xfrm>
            <a:off x="4402634" y="5835650"/>
            <a:ext cx="3488233"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D3DD"/>
                </a:solidFill>
                <a:latin typeface="Arial" pitchFamily="34" charset="0"/>
                <a:ea typeface="Arial" pitchFamily="34" charset="-122"/>
                <a:cs typeface="Arial" pitchFamily="34" charset="-120"/>
              </a:rPr>
              <a:t>федеральных округов</a:t>
            </a:r>
            <a:endParaRPr lang="en-US" sz="1200" dirty="0"/>
          </a:p>
        </p:txBody>
      </p:sp>
      <p:sp>
        <p:nvSpPr>
          <p:cNvPr id="11" name="Shape 9"/>
          <p:cNvSpPr/>
          <p:nvPr/>
        </p:nvSpPr>
        <p:spPr>
          <a:xfrm>
            <a:off x="7992467" y="5175250"/>
            <a:ext cx="3386634" cy="0"/>
          </a:xfrm>
          <a:prstGeom prst="line">
            <a:avLst/>
          </a:prstGeom>
          <a:noFill/>
          <a:ln w="25400">
            <a:solidFill>
              <a:srgbClr val="F2A65A"/>
            </a:solidFill>
            <a:prstDash val="solid"/>
          </a:ln>
        </p:spPr>
      </p:sp>
      <p:sp>
        <p:nvSpPr>
          <p:cNvPr id="12" name="Text 10"/>
          <p:cNvSpPr/>
          <p:nvPr/>
        </p:nvSpPr>
        <p:spPr>
          <a:xfrm>
            <a:off x="7992467" y="5340350"/>
            <a:ext cx="3488233" cy="46990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F7F4EC"/>
                </a:solidFill>
                <a:latin typeface="Arial" pitchFamily="34" charset="0"/>
                <a:ea typeface="Arial" pitchFamily="34" charset="-122"/>
                <a:cs typeface="Arial" pitchFamily="34" charset="-120"/>
              </a:rPr>
              <a:t>2</a:t>
            </a:r>
            <a:endParaRPr lang="en-US" sz="3200" dirty="0"/>
          </a:p>
        </p:txBody>
      </p:sp>
      <p:sp>
        <p:nvSpPr>
          <p:cNvPr id="13" name="Text 11"/>
          <p:cNvSpPr/>
          <p:nvPr/>
        </p:nvSpPr>
        <p:spPr>
          <a:xfrm>
            <a:off x="7992467" y="5835650"/>
            <a:ext cx="3488233"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D3DD"/>
                </a:solidFill>
                <a:latin typeface="Arial" pitchFamily="34" charset="0"/>
                <a:ea typeface="Arial" pitchFamily="34" charset="-122"/>
                <a:cs typeface="Arial" pitchFamily="34" charset="-120"/>
              </a:rPr>
              <a:t>макрорегиона</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70F"/>
                </a:solidFill>
                <a:latin typeface="Arial" pitchFamily="34" charset="0"/>
                <a:ea typeface="Arial" pitchFamily="34" charset="-122"/>
                <a:cs typeface="Arial" pitchFamily="34" charset="-120"/>
              </a:rPr>
              <a:t>Старт урока · цели по ФГОС ООО</a:t>
            </a:r>
            <a:endParaRPr lang="en-US" sz="1200" dirty="0"/>
          </a:p>
        </p:txBody>
      </p:sp>
      <p:sp>
        <p:nvSpPr>
          <p:cNvPr id="3" name="Text 1"/>
          <p:cNvSpPr/>
          <p:nvPr>
            <p:ph type="title"/>
          </p:nvPr>
        </p:nvSpPr>
        <p:spPr>
          <a:xfrm>
            <a:off x="812800" y="1200150"/>
            <a:ext cx="10883392" cy="46990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63A"/>
                </a:solidFill>
                <a:latin typeface="Arial" pitchFamily="34" charset="0"/>
                <a:ea typeface="Arial" pitchFamily="34" charset="-122"/>
                <a:cs typeface="Arial" pitchFamily="34" charset="-120"/>
              </a:rPr>
              <a:t>Цели урока</a:t>
            </a:r>
            <a:endParaRPr lang="en-US" sz="3200" dirty="0"/>
          </a:p>
        </p:txBody>
      </p:sp>
      <p:sp>
        <p:nvSpPr>
          <p:cNvPr id="4" name="Shape 2"/>
          <p:cNvSpPr/>
          <p:nvPr/>
        </p:nvSpPr>
        <p:spPr>
          <a:xfrm>
            <a:off x="815975" y="1825625"/>
            <a:ext cx="10560050" cy="539750"/>
          </a:xfrm>
          <a:prstGeom prst="roundRect">
            <a:avLst>
              <a:gd name="adj" fmla="val 18235"/>
            </a:avLst>
          </a:prstGeom>
          <a:solidFill>
            <a:srgbClr val="FFFDF8"/>
          </a:solidFill>
          <a:ln w="6350">
            <a:solidFill>
              <a:srgbClr val="E2DCCB"/>
            </a:solidFill>
            <a:prstDash val="solid"/>
          </a:ln>
        </p:spPr>
      </p:sp>
      <p:sp>
        <p:nvSpPr>
          <p:cNvPr id="5" name="Text 3"/>
          <p:cNvSpPr/>
          <p:nvPr/>
        </p:nvSpPr>
        <p:spPr>
          <a:xfrm>
            <a:off x="1022350" y="1955800"/>
            <a:ext cx="406400"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A8470F"/>
                </a:solidFill>
                <a:latin typeface="Arial" pitchFamily="34" charset="0"/>
                <a:ea typeface="Arial" pitchFamily="34" charset="-122"/>
                <a:cs typeface="Arial" pitchFamily="34" charset="-120"/>
              </a:rPr>
              <a:t>1</a:t>
            </a:r>
            <a:endParaRPr lang="en-US" sz="2000" dirty="0"/>
          </a:p>
        </p:txBody>
      </p:sp>
      <p:sp>
        <p:nvSpPr>
          <p:cNvPr id="6" name="Text 4"/>
          <p:cNvSpPr/>
          <p:nvPr/>
        </p:nvSpPr>
        <p:spPr>
          <a:xfrm>
            <a:off x="1581150" y="1955800"/>
            <a:ext cx="9876155" cy="3048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263A"/>
                </a:solidFill>
                <a:latin typeface="Arial" pitchFamily="34" charset="0"/>
                <a:ea typeface="Arial" pitchFamily="34" charset="-122"/>
                <a:cs typeface="Arial" pitchFamily="34" charset="-120"/>
              </a:rPr>
              <a:t>Определять понятия: федерация, субъект РФ, федеральный округ, районирование, макрорегион</a:t>
            </a:r>
            <a:endParaRPr lang="en-US" sz="1600" dirty="0"/>
          </a:p>
        </p:txBody>
      </p:sp>
      <p:sp>
        <p:nvSpPr>
          <p:cNvPr id="7" name="Shape 5"/>
          <p:cNvSpPr/>
          <p:nvPr/>
        </p:nvSpPr>
        <p:spPr>
          <a:xfrm>
            <a:off x="815975" y="2473325"/>
            <a:ext cx="10560050" cy="539750"/>
          </a:xfrm>
          <a:prstGeom prst="roundRect">
            <a:avLst>
              <a:gd name="adj" fmla="val 18235"/>
            </a:avLst>
          </a:prstGeom>
          <a:solidFill>
            <a:srgbClr val="FFFDF8"/>
          </a:solidFill>
          <a:ln w="6350">
            <a:solidFill>
              <a:srgbClr val="E2DCCB"/>
            </a:solidFill>
            <a:prstDash val="solid"/>
          </a:ln>
        </p:spPr>
      </p:sp>
      <p:sp>
        <p:nvSpPr>
          <p:cNvPr id="8" name="Text 6"/>
          <p:cNvSpPr/>
          <p:nvPr/>
        </p:nvSpPr>
        <p:spPr>
          <a:xfrm>
            <a:off x="1022350" y="2603500"/>
            <a:ext cx="406400"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A8470F"/>
                </a:solidFill>
                <a:latin typeface="Arial" pitchFamily="34" charset="0"/>
                <a:ea typeface="Arial" pitchFamily="34" charset="-122"/>
                <a:cs typeface="Arial" pitchFamily="34" charset="-120"/>
              </a:rPr>
              <a:t>2</a:t>
            </a:r>
            <a:endParaRPr lang="en-US" sz="2000" dirty="0"/>
          </a:p>
        </p:txBody>
      </p:sp>
      <p:sp>
        <p:nvSpPr>
          <p:cNvPr id="9" name="Text 7"/>
          <p:cNvSpPr/>
          <p:nvPr/>
        </p:nvSpPr>
        <p:spPr>
          <a:xfrm>
            <a:off x="1581150" y="2603500"/>
            <a:ext cx="9876155" cy="3048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263A"/>
                </a:solidFill>
                <a:latin typeface="Arial" pitchFamily="34" charset="0"/>
                <a:ea typeface="Arial" pitchFamily="34" charset="-122"/>
                <a:cs typeface="Arial" pitchFamily="34" charset="-120"/>
              </a:rPr>
              <a:t>Называть виды субъектов РФ и приводить примеры каждого вида</a:t>
            </a:r>
            <a:endParaRPr lang="en-US" sz="1600" dirty="0"/>
          </a:p>
        </p:txBody>
      </p:sp>
      <p:sp>
        <p:nvSpPr>
          <p:cNvPr id="10" name="Shape 8"/>
          <p:cNvSpPr/>
          <p:nvPr/>
        </p:nvSpPr>
        <p:spPr>
          <a:xfrm>
            <a:off x="815975" y="3121025"/>
            <a:ext cx="10560050" cy="539750"/>
          </a:xfrm>
          <a:prstGeom prst="roundRect">
            <a:avLst>
              <a:gd name="adj" fmla="val 18235"/>
            </a:avLst>
          </a:prstGeom>
          <a:solidFill>
            <a:srgbClr val="FFFDF8"/>
          </a:solidFill>
          <a:ln w="6350">
            <a:solidFill>
              <a:srgbClr val="E2DCCB"/>
            </a:solidFill>
            <a:prstDash val="solid"/>
          </a:ln>
        </p:spPr>
      </p:sp>
      <p:sp>
        <p:nvSpPr>
          <p:cNvPr id="11" name="Text 9"/>
          <p:cNvSpPr/>
          <p:nvPr/>
        </p:nvSpPr>
        <p:spPr>
          <a:xfrm>
            <a:off x="1022350" y="3251200"/>
            <a:ext cx="406400"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A8470F"/>
                </a:solidFill>
                <a:latin typeface="Arial" pitchFamily="34" charset="0"/>
                <a:ea typeface="Arial" pitchFamily="34" charset="-122"/>
                <a:cs typeface="Arial" pitchFamily="34" charset="-120"/>
              </a:rPr>
              <a:t>3</a:t>
            </a:r>
            <a:endParaRPr lang="en-US" sz="2000" dirty="0"/>
          </a:p>
        </p:txBody>
      </p:sp>
      <p:sp>
        <p:nvSpPr>
          <p:cNvPr id="12" name="Text 10"/>
          <p:cNvSpPr/>
          <p:nvPr/>
        </p:nvSpPr>
        <p:spPr>
          <a:xfrm>
            <a:off x="1581150" y="3251200"/>
            <a:ext cx="9876155" cy="3048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263A"/>
                </a:solidFill>
                <a:latin typeface="Arial" pitchFamily="34" charset="0"/>
                <a:ea typeface="Arial" pitchFamily="34" charset="-122"/>
                <a:cs typeface="Arial" pitchFamily="34" charset="-120"/>
              </a:rPr>
              <a:t>Объяснять, в чём равноправие и в чём разнообразие субъектов</a:t>
            </a:r>
            <a:endParaRPr lang="en-US" sz="1600" dirty="0"/>
          </a:p>
        </p:txBody>
      </p:sp>
      <p:sp>
        <p:nvSpPr>
          <p:cNvPr id="13" name="Shape 11"/>
          <p:cNvSpPr/>
          <p:nvPr/>
        </p:nvSpPr>
        <p:spPr>
          <a:xfrm>
            <a:off x="815975" y="3768725"/>
            <a:ext cx="10560050" cy="539750"/>
          </a:xfrm>
          <a:prstGeom prst="roundRect">
            <a:avLst>
              <a:gd name="adj" fmla="val 18235"/>
            </a:avLst>
          </a:prstGeom>
          <a:solidFill>
            <a:srgbClr val="FFFDF8"/>
          </a:solidFill>
          <a:ln w="6350">
            <a:solidFill>
              <a:srgbClr val="E2DCCB"/>
            </a:solidFill>
            <a:prstDash val="solid"/>
          </a:ln>
        </p:spPr>
      </p:sp>
      <p:sp>
        <p:nvSpPr>
          <p:cNvPr id="14" name="Text 12"/>
          <p:cNvSpPr/>
          <p:nvPr/>
        </p:nvSpPr>
        <p:spPr>
          <a:xfrm>
            <a:off x="1022350" y="3898900"/>
            <a:ext cx="406400"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A8470F"/>
                </a:solidFill>
                <a:latin typeface="Arial" pitchFamily="34" charset="0"/>
                <a:ea typeface="Arial" pitchFamily="34" charset="-122"/>
                <a:cs typeface="Arial" pitchFamily="34" charset="-120"/>
              </a:rPr>
              <a:t>4</a:t>
            </a:r>
            <a:endParaRPr lang="en-US" sz="2000" dirty="0"/>
          </a:p>
        </p:txBody>
      </p:sp>
      <p:sp>
        <p:nvSpPr>
          <p:cNvPr id="15" name="Text 13"/>
          <p:cNvSpPr/>
          <p:nvPr/>
        </p:nvSpPr>
        <p:spPr>
          <a:xfrm>
            <a:off x="1581150" y="3898900"/>
            <a:ext cx="9876155" cy="3048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263A"/>
                </a:solidFill>
                <a:latin typeface="Arial" pitchFamily="34" charset="0"/>
                <a:ea typeface="Arial" pitchFamily="34" charset="-122"/>
                <a:cs typeface="Arial" pitchFamily="34" charset="-120"/>
              </a:rPr>
              <a:t>Показывать на карте 8 федеральных округов и называть их центры</a:t>
            </a:r>
            <a:endParaRPr lang="en-US" sz="1600" dirty="0"/>
          </a:p>
        </p:txBody>
      </p:sp>
      <p:sp>
        <p:nvSpPr>
          <p:cNvPr id="16" name="Shape 14"/>
          <p:cNvSpPr/>
          <p:nvPr/>
        </p:nvSpPr>
        <p:spPr>
          <a:xfrm>
            <a:off x="815975" y="4416425"/>
            <a:ext cx="10560050" cy="539750"/>
          </a:xfrm>
          <a:prstGeom prst="roundRect">
            <a:avLst>
              <a:gd name="adj" fmla="val 18235"/>
            </a:avLst>
          </a:prstGeom>
          <a:solidFill>
            <a:srgbClr val="FFFDF8"/>
          </a:solidFill>
          <a:ln w="6350">
            <a:solidFill>
              <a:srgbClr val="E2DCCB"/>
            </a:solidFill>
            <a:prstDash val="solid"/>
          </a:ln>
        </p:spPr>
      </p:sp>
      <p:sp>
        <p:nvSpPr>
          <p:cNvPr id="17" name="Text 15"/>
          <p:cNvSpPr/>
          <p:nvPr/>
        </p:nvSpPr>
        <p:spPr>
          <a:xfrm>
            <a:off x="1022350" y="4546600"/>
            <a:ext cx="406400"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A8470F"/>
                </a:solidFill>
                <a:latin typeface="Arial" pitchFamily="34" charset="0"/>
                <a:ea typeface="Arial" pitchFamily="34" charset="-122"/>
                <a:cs typeface="Arial" pitchFamily="34" charset="-120"/>
              </a:rPr>
              <a:t>5</a:t>
            </a:r>
            <a:endParaRPr lang="en-US" sz="2000" dirty="0"/>
          </a:p>
        </p:txBody>
      </p:sp>
      <p:sp>
        <p:nvSpPr>
          <p:cNvPr id="18" name="Text 16"/>
          <p:cNvSpPr/>
          <p:nvPr/>
        </p:nvSpPr>
        <p:spPr>
          <a:xfrm>
            <a:off x="1581150" y="4546600"/>
            <a:ext cx="9876155" cy="3048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263A"/>
                </a:solidFill>
                <a:latin typeface="Arial" pitchFamily="34" charset="0"/>
                <a:ea typeface="Arial" pitchFamily="34" charset="-122"/>
                <a:cs typeface="Arial" pitchFamily="34" charset="-120"/>
              </a:rPr>
              <a:t>Различать виды районирования, называть два макрорегиона и крупные районы</a:t>
            </a:r>
            <a:endParaRPr lang="en-US" sz="1600" dirty="0"/>
          </a:p>
        </p:txBody>
      </p:sp>
      <p:sp>
        <p:nvSpPr>
          <p:cNvPr id="19" name="Text 17"/>
          <p:cNvSpPr/>
          <p:nvPr/>
        </p:nvSpPr>
        <p:spPr>
          <a:xfrm>
            <a:off x="812800" y="624205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672"/>
                </a:solidFill>
                <a:latin typeface="Arial" pitchFamily="34" charset="0"/>
                <a:ea typeface="Arial" pitchFamily="34" charset="-122"/>
                <a:cs typeface="Arial" pitchFamily="34" charset="-120"/>
              </a:rPr>
              <a:t>02 / 17 · География, 8 класс · Федеративное устройство и районы России</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263A"/>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A65A"/>
                </a:solidFill>
                <a:latin typeface="Arial" pitchFamily="34" charset="0"/>
                <a:ea typeface="Arial" pitchFamily="34" charset="-122"/>
                <a:cs typeface="Arial" pitchFamily="34" charset="-120"/>
              </a:rPr>
              <a:t>Старт урока · проблемный вопрос</a:t>
            </a:r>
            <a:endParaRPr lang="en-US" sz="1200" dirty="0"/>
          </a:p>
        </p:txBody>
      </p:sp>
      <p:sp>
        <p:nvSpPr>
          <p:cNvPr id="3" name="Text 1"/>
          <p:cNvSpPr/>
          <p:nvPr>
            <p:ph type="title"/>
          </p:nvPr>
        </p:nvSpPr>
        <p:spPr>
          <a:xfrm>
            <a:off x="812800" y="1276350"/>
            <a:ext cx="10883392" cy="46990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7F4EC"/>
                </a:solidFill>
                <a:latin typeface="Arial" pitchFamily="34" charset="0"/>
                <a:ea typeface="Arial" pitchFamily="34" charset="-122"/>
                <a:cs typeface="Arial" pitchFamily="34" charset="-120"/>
              </a:rPr>
              <a:t>Россия: 17,1 млн км² и 11 часовых поясов</a:t>
            </a:r>
            <a:endParaRPr lang="en-US" sz="3200" dirty="0"/>
          </a:p>
        </p:txBody>
      </p:sp>
      <p:sp>
        <p:nvSpPr>
          <p:cNvPr id="4" name="Text 2"/>
          <p:cNvSpPr/>
          <p:nvPr/>
        </p:nvSpPr>
        <p:spPr>
          <a:xfrm>
            <a:off x="812800" y="1974850"/>
            <a:ext cx="10883392"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F2A65A"/>
                </a:solidFill>
                <a:latin typeface="Arial" pitchFamily="34" charset="0"/>
                <a:ea typeface="Arial" pitchFamily="34" charset="-122"/>
                <a:cs typeface="Arial" pitchFamily="34" charset="-120"/>
              </a:rPr>
              <a:t>Как управлять такой страной и как её удобно изучать?</a:t>
            </a:r>
            <a:endParaRPr lang="en-US" sz="2000" dirty="0"/>
          </a:p>
        </p:txBody>
      </p:sp>
      <p:sp>
        <p:nvSpPr>
          <p:cNvPr id="5" name="Shape 3"/>
          <p:cNvSpPr/>
          <p:nvPr/>
        </p:nvSpPr>
        <p:spPr>
          <a:xfrm>
            <a:off x="812800" y="2559050"/>
            <a:ext cx="3048000" cy="1422400"/>
          </a:xfrm>
          <a:prstGeom prst="roundRect">
            <a:avLst>
              <a:gd name="adj" fmla="val 8929"/>
            </a:avLst>
          </a:prstGeom>
          <a:solidFill>
            <a:srgbClr val="1D3A54"/>
          </a:solidFill>
          <a:ln/>
        </p:spPr>
      </p:sp>
      <p:sp>
        <p:nvSpPr>
          <p:cNvPr id="6" name="Text 4"/>
          <p:cNvSpPr/>
          <p:nvPr/>
        </p:nvSpPr>
        <p:spPr>
          <a:xfrm>
            <a:off x="1041400" y="2787650"/>
            <a:ext cx="266852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7F4EC"/>
                </a:solidFill>
                <a:latin typeface="Arial" pitchFamily="34" charset="0"/>
                <a:ea typeface="Arial" pitchFamily="34" charset="-122"/>
                <a:cs typeface="Arial" pitchFamily="34" charset="-120"/>
              </a:rPr>
              <a:t>Субъекты</a:t>
            </a:r>
            <a:endParaRPr lang="en-US" sz="2000" dirty="0"/>
          </a:p>
        </p:txBody>
      </p:sp>
      <p:sp>
        <p:nvSpPr>
          <p:cNvPr id="7" name="Text 5"/>
          <p:cNvSpPr/>
          <p:nvPr/>
        </p:nvSpPr>
        <p:spPr>
          <a:xfrm>
            <a:off x="1041400" y="3168650"/>
            <a:ext cx="2668524" cy="3048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FD3DD"/>
                </a:solidFill>
                <a:latin typeface="Arial" pitchFamily="34" charset="0"/>
                <a:ea typeface="Arial" pitchFamily="34" charset="-122"/>
                <a:cs typeface="Arial" pitchFamily="34" charset="-120"/>
              </a:rPr>
              <a:t>управление</a:t>
            </a:r>
            <a:endParaRPr lang="en-US" sz="1600" dirty="0"/>
          </a:p>
        </p:txBody>
      </p:sp>
      <p:pic>
        <p:nvPicPr>
          <p:cNvPr id="8" name="Image 0" descr="arrow-right">    </p:cNvPr>
          <p:cNvPicPr>
            <a:picLocks noChangeAspect="1"/>
          </p:cNvPicPr>
          <p:nvPr/>
        </p:nvPicPr>
        <p:blipFill>
          <a:blip r:embed="rId1"/>
          <a:srcRect l="0" r="0" t="0" b="0"/>
          <a:stretch/>
        </p:blipFill>
        <p:spPr>
          <a:xfrm>
            <a:off x="4013200" y="3168650"/>
            <a:ext cx="406400" cy="203200"/>
          </a:xfrm>
          <a:prstGeom prst="rect">
            <a:avLst/>
          </a:prstGeom>
        </p:spPr>
      </p:pic>
      <p:sp>
        <p:nvSpPr>
          <p:cNvPr id="9" name="Shape 6"/>
          <p:cNvSpPr/>
          <p:nvPr/>
        </p:nvSpPr>
        <p:spPr>
          <a:xfrm>
            <a:off x="4572000" y="2559050"/>
            <a:ext cx="3048000" cy="1422400"/>
          </a:xfrm>
          <a:prstGeom prst="roundRect">
            <a:avLst>
              <a:gd name="adj" fmla="val 8929"/>
            </a:avLst>
          </a:prstGeom>
          <a:solidFill>
            <a:srgbClr val="1D3A54"/>
          </a:solidFill>
          <a:ln/>
        </p:spPr>
      </p:sp>
      <p:sp>
        <p:nvSpPr>
          <p:cNvPr id="10" name="Text 7"/>
          <p:cNvSpPr/>
          <p:nvPr/>
        </p:nvSpPr>
        <p:spPr>
          <a:xfrm>
            <a:off x="4800600" y="2787650"/>
            <a:ext cx="2668524"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7F4EC"/>
                </a:solidFill>
                <a:latin typeface="Arial" pitchFamily="34" charset="0"/>
                <a:ea typeface="Arial" pitchFamily="34" charset="-122"/>
                <a:cs typeface="Arial" pitchFamily="34" charset="-120"/>
              </a:rPr>
              <a:t>Федеральные округа</a:t>
            </a:r>
            <a:endParaRPr lang="en-US" sz="2000" dirty="0"/>
          </a:p>
        </p:txBody>
      </p:sp>
      <p:sp>
        <p:nvSpPr>
          <p:cNvPr id="11" name="Text 8"/>
          <p:cNvSpPr/>
          <p:nvPr/>
        </p:nvSpPr>
        <p:spPr>
          <a:xfrm>
            <a:off x="4800600" y="3473450"/>
            <a:ext cx="2668524" cy="3048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FD3DD"/>
                </a:solidFill>
                <a:latin typeface="Arial" pitchFamily="34" charset="0"/>
                <a:ea typeface="Arial" pitchFamily="34" charset="-122"/>
                <a:cs typeface="Arial" pitchFamily="34" charset="-120"/>
              </a:rPr>
              <a:t>контроль и координация</a:t>
            </a:r>
            <a:endParaRPr lang="en-US" sz="1600" dirty="0"/>
          </a:p>
        </p:txBody>
      </p:sp>
      <p:pic>
        <p:nvPicPr>
          <p:cNvPr id="12" name="Image 1" descr="arrow-right">    </p:cNvPr>
          <p:cNvPicPr>
            <a:picLocks noChangeAspect="1"/>
          </p:cNvPicPr>
          <p:nvPr/>
        </p:nvPicPr>
        <p:blipFill>
          <a:blip r:embed="rId2"/>
          <a:srcRect l="0" r="0" t="0" b="0"/>
          <a:stretch/>
        </p:blipFill>
        <p:spPr>
          <a:xfrm>
            <a:off x="7772400" y="3168650"/>
            <a:ext cx="406400" cy="203200"/>
          </a:xfrm>
          <a:prstGeom prst="rect">
            <a:avLst/>
          </a:prstGeom>
        </p:spPr>
      </p:pic>
      <p:sp>
        <p:nvSpPr>
          <p:cNvPr id="13" name="Shape 9"/>
          <p:cNvSpPr/>
          <p:nvPr/>
        </p:nvSpPr>
        <p:spPr>
          <a:xfrm>
            <a:off x="8331200" y="2559050"/>
            <a:ext cx="3048000" cy="1422400"/>
          </a:xfrm>
          <a:prstGeom prst="roundRect">
            <a:avLst>
              <a:gd name="adj" fmla="val 8929"/>
            </a:avLst>
          </a:prstGeom>
          <a:solidFill>
            <a:srgbClr val="1D3A54"/>
          </a:solidFill>
          <a:ln/>
        </p:spPr>
      </p:sp>
      <p:sp>
        <p:nvSpPr>
          <p:cNvPr id="14" name="Text 10"/>
          <p:cNvSpPr/>
          <p:nvPr/>
        </p:nvSpPr>
        <p:spPr>
          <a:xfrm>
            <a:off x="8559800" y="2787650"/>
            <a:ext cx="2668524"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7F4EC"/>
                </a:solidFill>
                <a:latin typeface="Arial" pitchFamily="34" charset="0"/>
                <a:ea typeface="Arial" pitchFamily="34" charset="-122"/>
                <a:cs typeface="Arial" pitchFamily="34" charset="-120"/>
              </a:rPr>
              <a:t>Районы и макрорегионы</a:t>
            </a:r>
            <a:endParaRPr lang="en-US" sz="2000" dirty="0"/>
          </a:p>
        </p:txBody>
      </p:sp>
      <p:sp>
        <p:nvSpPr>
          <p:cNvPr id="15" name="Text 11"/>
          <p:cNvSpPr/>
          <p:nvPr/>
        </p:nvSpPr>
        <p:spPr>
          <a:xfrm>
            <a:off x="8559800" y="3473450"/>
            <a:ext cx="2668524" cy="3048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FD3DD"/>
                </a:solidFill>
                <a:latin typeface="Arial" pitchFamily="34" charset="0"/>
                <a:ea typeface="Arial" pitchFamily="34" charset="-122"/>
                <a:cs typeface="Arial" pitchFamily="34" charset="-120"/>
              </a:rPr>
              <a:t>изучение и планирование</a:t>
            </a:r>
            <a:endParaRPr lang="en-US" sz="1600" dirty="0"/>
          </a:p>
        </p:txBody>
      </p:sp>
      <p:sp>
        <p:nvSpPr>
          <p:cNvPr id="16" name="Text 12"/>
          <p:cNvSpPr/>
          <p:nvPr/>
        </p:nvSpPr>
        <p:spPr>
          <a:xfrm>
            <a:off x="812800" y="624205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7B8"/>
                </a:solidFill>
                <a:latin typeface="Arial" pitchFamily="34" charset="0"/>
                <a:ea typeface="Arial" pitchFamily="34" charset="-122"/>
                <a:cs typeface="Arial" pitchFamily="34" charset="-120"/>
              </a:rPr>
              <a:t>03 / 17 · География, 8 класс · Федеративное устройство и районы России</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70F"/>
                </a:solidFill>
                <a:latin typeface="Arial" pitchFamily="34" charset="0"/>
                <a:ea typeface="Arial" pitchFamily="34" charset="-122"/>
                <a:cs typeface="Arial" pitchFamily="34" charset="-120"/>
              </a:rPr>
              <a:t>Блок 1 · Федеративное устройство</a:t>
            </a:r>
            <a:endParaRPr lang="en-US" sz="1200" dirty="0"/>
          </a:p>
        </p:txBody>
      </p:sp>
      <p:sp>
        <p:nvSpPr>
          <p:cNvPr id="3" name="Text 1"/>
          <p:cNvSpPr/>
          <p:nvPr>
            <p:ph type="title"/>
          </p:nvPr>
        </p:nvSpPr>
        <p:spPr>
          <a:xfrm>
            <a:off x="812800" y="1200150"/>
            <a:ext cx="10883392" cy="46990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63A"/>
                </a:solidFill>
                <a:latin typeface="Arial" pitchFamily="34" charset="0"/>
                <a:ea typeface="Arial" pitchFamily="34" charset="-122"/>
                <a:cs typeface="Arial" pitchFamily="34" charset="-120"/>
              </a:rPr>
              <a:t>Федерация и государственное устройство</a:t>
            </a:r>
            <a:endParaRPr lang="en-US" sz="3200" dirty="0"/>
          </a:p>
        </p:txBody>
      </p:sp>
      <p:sp>
        <p:nvSpPr>
          <p:cNvPr id="4" name="Shape 2"/>
          <p:cNvSpPr/>
          <p:nvPr/>
        </p:nvSpPr>
        <p:spPr>
          <a:xfrm>
            <a:off x="812800" y="1825625"/>
            <a:ext cx="10566400" cy="0"/>
          </a:xfrm>
          <a:prstGeom prst="line">
            <a:avLst/>
          </a:prstGeom>
          <a:noFill/>
          <a:ln w="6350">
            <a:solidFill>
              <a:srgbClr val="D9D2BE"/>
            </a:solidFill>
            <a:prstDash val="solid"/>
          </a:ln>
        </p:spPr>
      </p:sp>
      <p:sp>
        <p:nvSpPr>
          <p:cNvPr id="5" name="Text 3"/>
          <p:cNvSpPr/>
          <p:nvPr/>
        </p:nvSpPr>
        <p:spPr>
          <a:xfrm>
            <a:off x="812800" y="1981200"/>
            <a:ext cx="2877820" cy="5080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A8470F"/>
                </a:solidFill>
                <a:latin typeface="Arial" pitchFamily="34" charset="0"/>
                <a:ea typeface="Arial" pitchFamily="34" charset="-122"/>
                <a:cs typeface="Arial" pitchFamily="34" charset="-120"/>
              </a:rPr>
              <a:t>Государственное устройство</a:t>
            </a:r>
            <a:endParaRPr lang="en-US" sz="1600" dirty="0"/>
          </a:p>
        </p:txBody>
      </p:sp>
      <p:sp>
        <p:nvSpPr>
          <p:cNvPr id="6" name="Text 4"/>
          <p:cNvSpPr/>
          <p:nvPr/>
        </p:nvSpPr>
        <p:spPr>
          <a:xfrm>
            <a:off x="3860800" y="1981200"/>
            <a:ext cx="7743952" cy="3048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263A"/>
                </a:solidFill>
                <a:latin typeface="Arial" pitchFamily="34" charset="0"/>
                <a:ea typeface="Arial" pitchFamily="34" charset="-122"/>
                <a:cs typeface="Arial" pitchFamily="34" charset="-120"/>
              </a:rPr>
              <a:t>способ территориальной организации государства</a:t>
            </a:r>
            <a:endParaRPr lang="en-US" sz="1600" dirty="0"/>
          </a:p>
        </p:txBody>
      </p:sp>
      <p:sp>
        <p:nvSpPr>
          <p:cNvPr id="7" name="Shape 5"/>
          <p:cNvSpPr/>
          <p:nvPr/>
        </p:nvSpPr>
        <p:spPr>
          <a:xfrm>
            <a:off x="812800" y="2619375"/>
            <a:ext cx="10566400" cy="0"/>
          </a:xfrm>
          <a:prstGeom prst="line">
            <a:avLst/>
          </a:prstGeom>
          <a:noFill/>
          <a:ln w="6350">
            <a:solidFill>
              <a:srgbClr val="D9D2BE"/>
            </a:solidFill>
            <a:prstDash val="solid"/>
          </a:ln>
        </p:spPr>
      </p:sp>
      <p:sp>
        <p:nvSpPr>
          <p:cNvPr id="8" name="Text 6"/>
          <p:cNvSpPr/>
          <p:nvPr/>
        </p:nvSpPr>
        <p:spPr>
          <a:xfrm>
            <a:off x="812800" y="2774950"/>
            <a:ext cx="2877820"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A8470F"/>
                </a:solidFill>
                <a:latin typeface="Arial" pitchFamily="34" charset="0"/>
                <a:ea typeface="Arial" pitchFamily="34" charset="-122"/>
                <a:cs typeface="Arial" pitchFamily="34" charset="-120"/>
              </a:rPr>
              <a:t>Федерация</a:t>
            </a:r>
            <a:endParaRPr lang="en-US" sz="1600" dirty="0"/>
          </a:p>
        </p:txBody>
      </p:sp>
      <p:sp>
        <p:nvSpPr>
          <p:cNvPr id="9" name="Text 7"/>
          <p:cNvSpPr/>
          <p:nvPr/>
        </p:nvSpPr>
        <p:spPr>
          <a:xfrm>
            <a:off x="3860800" y="2774950"/>
            <a:ext cx="7743952" cy="5842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263A"/>
                </a:solidFill>
                <a:latin typeface="Arial" pitchFamily="34" charset="0"/>
                <a:ea typeface="Arial" pitchFamily="34" charset="-122"/>
                <a:cs typeface="Arial" pitchFamily="34" charset="-120"/>
              </a:rPr>
              <a:t>форма государственного устройства, при которой государство состоит из относительно самостоятельных государственных образований — субъектов</a:t>
            </a:r>
            <a:endParaRPr lang="en-US" sz="1600" dirty="0"/>
          </a:p>
        </p:txBody>
      </p:sp>
      <p:sp>
        <p:nvSpPr>
          <p:cNvPr id="10" name="Shape 8"/>
          <p:cNvSpPr/>
          <p:nvPr/>
        </p:nvSpPr>
        <p:spPr>
          <a:xfrm>
            <a:off x="812800" y="3489325"/>
            <a:ext cx="10566400" cy="0"/>
          </a:xfrm>
          <a:prstGeom prst="line">
            <a:avLst/>
          </a:prstGeom>
          <a:noFill/>
          <a:ln w="6350">
            <a:solidFill>
              <a:srgbClr val="D9D2BE"/>
            </a:solidFill>
            <a:prstDash val="solid"/>
          </a:ln>
        </p:spPr>
      </p:sp>
      <p:sp>
        <p:nvSpPr>
          <p:cNvPr id="11" name="Text 9"/>
          <p:cNvSpPr/>
          <p:nvPr/>
        </p:nvSpPr>
        <p:spPr>
          <a:xfrm>
            <a:off x="812800" y="3644900"/>
            <a:ext cx="2877820"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A8470F"/>
                </a:solidFill>
                <a:latin typeface="Arial" pitchFamily="34" charset="0"/>
                <a:ea typeface="Arial" pitchFamily="34" charset="-122"/>
                <a:cs typeface="Arial" pitchFamily="34" charset="-120"/>
              </a:rPr>
              <a:t>Унитарное государство</a:t>
            </a:r>
            <a:endParaRPr lang="en-US" sz="1600" dirty="0"/>
          </a:p>
        </p:txBody>
      </p:sp>
      <p:sp>
        <p:nvSpPr>
          <p:cNvPr id="12" name="Text 10"/>
          <p:cNvSpPr/>
          <p:nvPr/>
        </p:nvSpPr>
        <p:spPr>
          <a:xfrm>
            <a:off x="3860800" y="3644900"/>
            <a:ext cx="7743952" cy="5842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263A"/>
                </a:solidFill>
                <a:latin typeface="Arial" pitchFamily="34" charset="0"/>
                <a:ea typeface="Arial" pitchFamily="34" charset="-122"/>
                <a:cs typeface="Arial" pitchFamily="34" charset="-120"/>
              </a:rPr>
              <a:t>государство без самостоятельных государственных образований; есть только административные единицы (например, Франция)</a:t>
            </a:r>
            <a:endParaRPr lang="en-US" sz="1600" dirty="0"/>
          </a:p>
        </p:txBody>
      </p:sp>
      <p:sp>
        <p:nvSpPr>
          <p:cNvPr id="13" name="Shape 11"/>
          <p:cNvSpPr/>
          <p:nvPr/>
        </p:nvSpPr>
        <p:spPr>
          <a:xfrm>
            <a:off x="812800" y="4359275"/>
            <a:ext cx="10566400" cy="0"/>
          </a:xfrm>
          <a:prstGeom prst="line">
            <a:avLst/>
          </a:prstGeom>
          <a:noFill/>
          <a:ln w="6350">
            <a:solidFill>
              <a:srgbClr val="D9D2BE"/>
            </a:solidFill>
            <a:prstDash val="solid"/>
          </a:ln>
        </p:spPr>
      </p:sp>
      <p:sp>
        <p:nvSpPr>
          <p:cNvPr id="14" name="Text 12"/>
          <p:cNvSpPr/>
          <p:nvPr/>
        </p:nvSpPr>
        <p:spPr>
          <a:xfrm>
            <a:off x="812800" y="4514850"/>
            <a:ext cx="2877820"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A8470F"/>
                </a:solidFill>
                <a:latin typeface="Arial" pitchFamily="34" charset="0"/>
                <a:ea typeface="Arial" pitchFamily="34" charset="-122"/>
                <a:cs typeface="Arial" pitchFamily="34" charset="-120"/>
              </a:rPr>
              <a:t>Федеративное устройство</a:t>
            </a:r>
            <a:endParaRPr lang="en-US" sz="1600" dirty="0"/>
          </a:p>
        </p:txBody>
      </p:sp>
      <p:sp>
        <p:nvSpPr>
          <p:cNvPr id="15" name="Text 13"/>
          <p:cNvSpPr/>
          <p:nvPr/>
        </p:nvSpPr>
        <p:spPr>
          <a:xfrm>
            <a:off x="3860800" y="4514850"/>
            <a:ext cx="7743952" cy="5842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263A"/>
                </a:solidFill>
                <a:latin typeface="Arial" pitchFamily="34" charset="0"/>
                <a:ea typeface="Arial" pitchFamily="34" charset="-122"/>
                <a:cs typeface="Arial" pitchFamily="34" charset="-120"/>
              </a:rPr>
              <a:t>система отношений между федеральным центром и субъектами, закреплённая в Конституции РФ</a:t>
            </a:r>
            <a:endParaRPr lang="en-US" sz="1600" dirty="0"/>
          </a:p>
        </p:txBody>
      </p:sp>
      <p:sp>
        <p:nvSpPr>
          <p:cNvPr id="16" name="Text 14"/>
          <p:cNvSpPr/>
          <p:nvPr/>
        </p:nvSpPr>
        <p:spPr>
          <a:xfrm>
            <a:off x="812800" y="624205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672"/>
                </a:solidFill>
                <a:latin typeface="Arial" pitchFamily="34" charset="0"/>
                <a:ea typeface="Arial" pitchFamily="34" charset="-122"/>
                <a:cs typeface="Arial" pitchFamily="34" charset="-120"/>
              </a:rPr>
              <a:t>04 / 17 · География, 8 класс · Федеративное устройство и районы России</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EE7D6"/>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70F"/>
                </a:solidFill>
                <a:latin typeface="Arial" pitchFamily="34" charset="0"/>
                <a:ea typeface="Arial" pitchFamily="34" charset="-122"/>
                <a:cs typeface="Arial" pitchFamily="34" charset="-120"/>
              </a:rPr>
              <a:t>Блок 1 · Федеративное устройство</a:t>
            </a:r>
            <a:endParaRPr lang="en-US" sz="1200" dirty="0"/>
          </a:p>
        </p:txBody>
      </p:sp>
      <p:sp>
        <p:nvSpPr>
          <p:cNvPr id="3" name="Text 1"/>
          <p:cNvSpPr/>
          <p:nvPr>
            <p:ph type="title"/>
          </p:nvPr>
        </p:nvSpPr>
        <p:spPr>
          <a:xfrm>
            <a:off x="812800" y="1200150"/>
            <a:ext cx="10883392" cy="46990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63A"/>
                </a:solidFill>
                <a:latin typeface="Arial" pitchFamily="34" charset="0"/>
                <a:ea typeface="Arial" pitchFamily="34" charset="-122"/>
                <a:cs typeface="Arial" pitchFamily="34" charset="-120"/>
              </a:rPr>
              <a:t>Состав России: 89 субъектов</a:t>
            </a:r>
            <a:endParaRPr lang="en-US" sz="3200" dirty="0"/>
          </a:p>
        </p:txBody>
      </p:sp>
      <p:sp>
        <p:nvSpPr>
          <p:cNvPr id="4" name="Text 2"/>
          <p:cNvSpPr/>
          <p:nvPr/>
        </p:nvSpPr>
        <p:spPr>
          <a:xfrm>
            <a:off x="812800" y="1822450"/>
            <a:ext cx="10883392" cy="30480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2263A"/>
                </a:solidFill>
                <a:latin typeface="Arial" pitchFamily="34" charset="0"/>
                <a:ea typeface="Arial" pitchFamily="34" charset="-122"/>
                <a:cs typeface="Arial" pitchFamily="34" charset="-120"/>
              </a:rPr>
              <a:t>Субъект РФ</a:t>
            </a:r>
            <a:r>
              <a:rPr lang="en-US" sz="1600" dirty="0">
                <a:solidFill>
                  <a:srgbClr val="12263A"/>
                </a:solidFill>
                <a:latin typeface="Arial" pitchFamily="34" charset="0"/>
                <a:ea typeface="Arial" pitchFamily="34" charset="-122"/>
                <a:cs typeface="Arial" pitchFamily="34" charset="-120"/>
              </a:rPr>
              <a:t> — равноправная часть России с собственными органами власти и территорией.</a:t>
            </a:r>
            <a:endParaRPr lang="en-US" sz="1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2292350"/>
          <a:ext cx="10553700" cy="3074690"/>
        </p:xfrm>
        <a:graphic>
          <a:graphicData uri="http://schemas.openxmlformats.org/drawingml/2006/table">
            <a:tbl>
              <a:tblPr/>
              <a:tblGrid>
                <a:gridCol w="3588258"/>
                <a:gridCol w="1055370"/>
                <a:gridCol w="5910072"/>
              </a:tblGrid>
              <a:tr h="439241">
                <a:tc>
                  <a:txBody>
                    <a:bodyPr/>
                    <a:lstStyle/>
                    <a:p>
                      <a:pPr indent="0" marL="0">
                        <a:lnSpc>
                          <a:spcPts val="2240"/>
                        </a:lnSpc>
                        <a:buNone/>
                      </a:pPr>
                      <a:r>
                        <a:rPr lang="en-US" sz="1600" b="1" dirty="0">
                          <a:solidFill>
                            <a:srgbClr val="F7F4EC"/>
                          </a:solidFill>
                          <a:latin typeface="Arial" pitchFamily="34" charset="0"/>
                          <a:ea typeface="Arial" pitchFamily="34" charset="-122"/>
                          <a:cs typeface="Arial" pitchFamily="34" charset="-120"/>
                        </a:rPr>
                        <a:t>Вид субъекта</a:t>
                      </a:r>
                      <a:endParaRPr lang="en-US" sz="1600" dirty="0">
                        <a:latin typeface="Arial" charset="0"/>
                        <a:ea typeface="Arial" charset="0"/>
                        <a:cs typeface="Arial" charset="0"/>
                      </a:endParaRPr>
                    </a:p>
                  </a:txBody>
                  <a:tcPr marL="71120" marR="71120" marT="71120" marB="71120" anchor="t">
                    <a:lnL w="12700" cap="flat" cmpd="sng" algn="ctr">
                      <a:solidFill>
                        <a:srgbClr val="BEB9AB"/>
                      </a:solidFill>
                      <a:prstDash val="solid"/>
                      <a:round/>
                      <a:headEnd type="none" w="med" len="med"/>
                      <a:tailEnd type="none" w="med" len="med"/>
                    </a:lnL>
                    <a:lnR w="12700" cap="flat" cmpd="sng" algn="ctr">
                      <a:solidFill>
                        <a:srgbClr val="122231"/>
                      </a:solidFill>
                      <a:prstDash val="solid"/>
                      <a:round/>
                      <a:headEnd type="none" w="med" len="med"/>
                      <a:tailEnd type="none" w="med" len="med"/>
                    </a:lnR>
                    <a:lnT w="12700" cap="flat" cmpd="sng" algn="ctr">
                      <a:solidFill>
                        <a:srgbClr val="BEB9AB"/>
                      </a:solidFill>
                      <a:prstDash val="solid"/>
                      <a:round/>
                      <a:headEnd type="none" w="med" len="med"/>
                      <a:tailEnd type="none" w="med" len="med"/>
                    </a:lnT>
                    <a:lnB w="12700" cap="flat" cmpd="sng" algn="ctr">
                      <a:solidFill>
                        <a:srgbClr val="122231"/>
                      </a:solidFill>
                      <a:prstDash val="solid"/>
                      <a:round/>
                      <a:headEnd type="none" w="med" len="med"/>
                      <a:tailEnd type="none" w="med" len="med"/>
                    </a:lnB>
                    <a:solidFill>
                      <a:srgbClr val="12263A"/>
                    </a:solidFill>
                  </a:tcPr>
                </a:tc>
                <a:tc>
                  <a:txBody>
                    <a:bodyPr/>
                    <a:lstStyle/>
                    <a:p>
                      <a:pPr indent="0" marL="0">
                        <a:lnSpc>
                          <a:spcPts val="2240"/>
                        </a:lnSpc>
                        <a:buNone/>
                      </a:pPr>
                      <a:r>
                        <a:rPr lang="en-US" sz="1600" b="1" dirty="0">
                          <a:solidFill>
                            <a:srgbClr val="F7F4EC"/>
                          </a:solidFill>
                          <a:latin typeface="Arial" pitchFamily="34" charset="0"/>
                          <a:ea typeface="Arial" pitchFamily="34" charset="-122"/>
                          <a:cs typeface="Arial" pitchFamily="34" charset="-120"/>
                        </a:rPr>
                        <a:t>Число</a:t>
                      </a:r>
                      <a:endParaRPr lang="en-US" sz="1600" dirty="0">
                        <a:latin typeface="Arial" charset="0"/>
                        <a:ea typeface="Arial" charset="0"/>
                        <a:cs typeface="Arial" charset="0"/>
                      </a:endParaRPr>
                    </a:p>
                  </a:txBody>
                  <a:tcPr marL="71120" marR="71120" marT="71120" marB="71120" anchor="t">
                    <a:lnL w="12700" cap="flat" cmpd="sng" algn="ctr">
                      <a:solidFill>
                        <a:srgbClr val="122231"/>
                      </a:solidFill>
                      <a:prstDash val="solid"/>
                      <a:round/>
                      <a:headEnd type="none" w="med" len="med"/>
                      <a:tailEnd type="none" w="med" len="med"/>
                    </a:lnL>
                    <a:lnR w="12700" cap="flat" cmpd="sng" algn="ctr">
                      <a:solidFill>
                        <a:srgbClr val="122231"/>
                      </a:solidFill>
                      <a:prstDash val="solid"/>
                      <a:round/>
                      <a:headEnd type="none" w="med" len="med"/>
                      <a:tailEnd type="none" w="med" len="med"/>
                    </a:lnR>
                    <a:lnT w="12700" cap="flat" cmpd="sng" algn="ctr">
                      <a:solidFill>
                        <a:srgbClr val="BEB9AB"/>
                      </a:solidFill>
                      <a:prstDash val="solid"/>
                      <a:round/>
                      <a:headEnd type="none" w="med" len="med"/>
                      <a:tailEnd type="none" w="med" len="med"/>
                    </a:lnT>
                    <a:lnB w="12700" cap="flat" cmpd="sng" algn="ctr">
                      <a:solidFill>
                        <a:srgbClr val="122231"/>
                      </a:solidFill>
                      <a:prstDash val="solid"/>
                      <a:round/>
                      <a:headEnd type="none" w="med" len="med"/>
                      <a:tailEnd type="none" w="med" len="med"/>
                    </a:lnB>
                    <a:solidFill>
                      <a:srgbClr val="12263A"/>
                    </a:solidFill>
                  </a:tcPr>
                </a:tc>
                <a:tc>
                  <a:txBody>
                    <a:bodyPr/>
                    <a:lstStyle/>
                    <a:p>
                      <a:pPr indent="0" marL="0">
                        <a:lnSpc>
                          <a:spcPts val="2240"/>
                        </a:lnSpc>
                        <a:buNone/>
                      </a:pPr>
                      <a:r>
                        <a:rPr lang="en-US" sz="1600" b="1" dirty="0">
                          <a:solidFill>
                            <a:srgbClr val="F7F4EC"/>
                          </a:solidFill>
                          <a:latin typeface="Arial" pitchFamily="34" charset="0"/>
                          <a:ea typeface="Arial" pitchFamily="34" charset="-122"/>
                          <a:cs typeface="Arial" pitchFamily="34" charset="-120"/>
                        </a:rPr>
                        <a:t>Примеры</a:t>
                      </a:r>
                      <a:endParaRPr lang="en-US" sz="1600" dirty="0">
                        <a:latin typeface="Arial" charset="0"/>
                        <a:ea typeface="Arial" charset="0"/>
                        <a:cs typeface="Arial" charset="0"/>
                      </a:endParaRPr>
                    </a:p>
                  </a:txBody>
                  <a:tcPr marL="71120" marR="71120" marT="71120" marB="71120" anchor="t">
                    <a:lnL w="12700" cap="flat" cmpd="sng" algn="ctr">
                      <a:solidFill>
                        <a:srgbClr val="122231"/>
                      </a:solidFill>
                      <a:prstDash val="solid"/>
                      <a:round/>
                      <a:headEnd type="none" w="med" len="med"/>
                      <a:tailEnd type="none" w="med" len="med"/>
                    </a:lnL>
                    <a:lnR w="12700" cap="flat" cmpd="sng" algn="ctr">
                      <a:solidFill>
                        <a:srgbClr val="122231"/>
                      </a:solidFill>
                      <a:prstDash val="solid"/>
                      <a:round/>
                      <a:headEnd type="none" w="med" len="med"/>
                      <a:tailEnd type="none" w="med" len="med"/>
                    </a:lnR>
                    <a:lnT w="12700" cap="flat" cmpd="sng" algn="ctr">
                      <a:solidFill>
                        <a:srgbClr val="BEB9AB"/>
                      </a:solidFill>
                      <a:prstDash val="solid"/>
                      <a:round/>
                      <a:headEnd type="none" w="med" len="med"/>
                      <a:tailEnd type="none" w="med" len="med"/>
                    </a:lnT>
                    <a:lnB w="12700" cap="flat" cmpd="sng" algn="ctr">
                      <a:solidFill>
                        <a:srgbClr val="122231"/>
                      </a:solidFill>
                      <a:prstDash val="solid"/>
                      <a:round/>
                      <a:headEnd type="none" w="med" len="med"/>
                      <a:tailEnd type="none" w="med" len="med"/>
                    </a:lnB>
                    <a:solidFill>
                      <a:srgbClr val="12263A"/>
                    </a:solidFill>
                  </a:tcPr>
                </a:tc>
              </a:tr>
              <a:tr h="439241">
                <a:tc>
                  <a:txBody>
                    <a:bodyPr/>
                    <a:lstStyle/>
                    <a:p>
                      <a:pPr indent="0" marL="0">
                        <a:lnSpc>
                          <a:spcPts val="2240"/>
                        </a:lnSpc>
                        <a:buNone/>
                      </a:pPr>
                      <a:r>
                        <a:rPr lang="en-US" sz="1600" dirty="0">
                          <a:solidFill>
                            <a:srgbClr val="12263A"/>
                          </a:solidFill>
                          <a:latin typeface="Arial" pitchFamily="34" charset="0"/>
                          <a:ea typeface="Arial" pitchFamily="34" charset="-122"/>
                          <a:cs typeface="Arial" pitchFamily="34" charset="-120"/>
                        </a:rPr>
                        <a:t>Республики</a:t>
                      </a:r>
                      <a:endParaRPr lang="en-US" sz="1600" dirty="0">
                        <a:latin typeface="Arial" charset="0"/>
                        <a:ea typeface="Arial" charset="0"/>
                        <a:cs typeface="Arial" charset="0"/>
                      </a:endParaRPr>
                    </a:p>
                  </a:txBody>
                  <a:tcPr marL="71120" marR="71120" marT="71120" marB="71120" anchor="t">
                    <a:lnL w="12700" cap="flat" cmpd="sng" algn="ctr">
                      <a:solidFill>
                        <a:srgbClr val="BEB9AB"/>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22231"/>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2240"/>
                        </a:lnSpc>
                        <a:buNone/>
                      </a:pPr>
                      <a:r>
                        <a:rPr lang="en-US" sz="1600" dirty="0">
                          <a:solidFill>
                            <a:srgbClr val="12263A"/>
                          </a:solidFill>
                          <a:latin typeface="Arial" pitchFamily="34" charset="0"/>
                          <a:ea typeface="Arial" pitchFamily="34" charset="-122"/>
                          <a:cs typeface="Arial" pitchFamily="34" charset="-120"/>
                        </a:rPr>
                        <a:t>24</a:t>
                      </a:r>
                      <a:endParaRPr lang="en-US" sz="1600" dirty="0">
                        <a:latin typeface="Arial" charset="0"/>
                        <a:ea typeface="Arial" charset="0"/>
                        <a:cs typeface="Arial" charset="0"/>
                      </a:endParaRPr>
                    </a:p>
                  </a:txBody>
                  <a:tcPr marL="71120" marR="71120" marT="71120" marB="7112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22231"/>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2240"/>
                        </a:lnSpc>
                        <a:buNone/>
                      </a:pPr>
                      <a:r>
                        <a:rPr lang="en-US" sz="1600" dirty="0">
                          <a:solidFill>
                            <a:srgbClr val="12263A"/>
                          </a:solidFill>
                          <a:latin typeface="Arial" pitchFamily="34" charset="0"/>
                          <a:ea typeface="Arial" pitchFamily="34" charset="-122"/>
                          <a:cs typeface="Arial" pitchFamily="34" charset="-120"/>
                        </a:rPr>
                        <a:t>Татарстан, Башкортостан, Карелия, Саха (Якутия)</a:t>
                      </a:r>
                      <a:endParaRPr lang="en-US" sz="1600" dirty="0">
                        <a:latin typeface="Arial" charset="0"/>
                        <a:ea typeface="Arial" charset="0"/>
                        <a:cs typeface="Arial" charset="0"/>
                      </a:endParaRPr>
                    </a:p>
                  </a:txBody>
                  <a:tcPr marL="71120" marR="71120" marT="71120" marB="7112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22231"/>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439241">
                <a:tc>
                  <a:txBody>
                    <a:bodyPr/>
                    <a:lstStyle/>
                    <a:p>
                      <a:pPr indent="0" marL="0">
                        <a:lnSpc>
                          <a:spcPts val="2240"/>
                        </a:lnSpc>
                        <a:buNone/>
                      </a:pPr>
                      <a:r>
                        <a:rPr lang="en-US" sz="1600" dirty="0">
                          <a:solidFill>
                            <a:srgbClr val="12263A"/>
                          </a:solidFill>
                          <a:latin typeface="Arial" pitchFamily="34" charset="0"/>
                          <a:ea typeface="Arial" pitchFamily="34" charset="-122"/>
                          <a:cs typeface="Arial" pitchFamily="34" charset="-120"/>
                        </a:rPr>
                        <a:t>Края</a:t>
                      </a:r>
                      <a:endParaRPr lang="en-US" sz="1600" dirty="0">
                        <a:latin typeface="Arial" charset="0"/>
                        <a:ea typeface="Arial" charset="0"/>
                        <a:cs typeface="Arial" charset="0"/>
                      </a:endParaRPr>
                    </a:p>
                  </a:txBody>
                  <a:tcPr marL="71120" marR="71120" marT="71120" marB="71120" anchor="t">
                    <a:lnL w="12700" cap="flat" cmpd="sng" algn="ctr">
                      <a:solidFill>
                        <a:srgbClr val="BEB9AB"/>
                      </a:solidFill>
                      <a:prstDash val="solid"/>
                      <a:round/>
                      <a:headEnd type="none" w="med" len="med"/>
                      <a:tailEnd type="none" w="med" len="med"/>
                    </a:lnL>
                    <a:lnR w="12700" cap="flat" cmpd="sng" algn="ctr">
                      <a:solidFill>
                        <a:srgbClr val="C4C0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0B5"/>
                      </a:solidFill>
                      <a:prstDash val="solid"/>
                      <a:round/>
                      <a:headEnd type="none" w="med" len="med"/>
                      <a:tailEnd type="none" w="med" len="med"/>
                    </a:lnB>
                    <a:solidFill>
                      <a:srgbClr val="F6F1E3"/>
                    </a:solidFill>
                  </a:tcPr>
                </a:tc>
                <a:tc>
                  <a:txBody>
                    <a:bodyPr/>
                    <a:lstStyle/>
                    <a:p>
                      <a:pPr indent="0" marL="0">
                        <a:lnSpc>
                          <a:spcPts val="2240"/>
                        </a:lnSpc>
                        <a:buNone/>
                      </a:pPr>
                      <a:r>
                        <a:rPr lang="en-US" sz="1600" dirty="0">
                          <a:solidFill>
                            <a:srgbClr val="12263A"/>
                          </a:solidFill>
                          <a:latin typeface="Arial" pitchFamily="34" charset="0"/>
                          <a:ea typeface="Arial" pitchFamily="34" charset="-122"/>
                          <a:cs typeface="Arial" pitchFamily="34" charset="-120"/>
                        </a:rPr>
                        <a:t>9</a:t>
                      </a:r>
                      <a:endParaRPr lang="en-US" sz="1600" dirty="0">
                        <a:latin typeface="Arial" charset="0"/>
                        <a:ea typeface="Arial" charset="0"/>
                        <a:cs typeface="Arial" charset="0"/>
                      </a:endParaRPr>
                    </a:p>
                  </a:txBody>
                  <a:tcPr marL="71120" marR="71120" marT="71120" marB="71120" anchor="t">
                    <a:lnL w="12700" cap="flat" cmpd="sng" algn="ctr">
                      <a:solidFill>
                        <a:srgbClr val="C4C0B5"/>
                      </a:solidFill>
                      <a:prstDash val="solid"/>
                      <a:round/>
                      <a:headEnd type="none" w="med" len="med"/>
                      <a:tailEnd type="none" w="med" len="med"/>
                    </a:lnL>
                    <a:lnR w="12700" cap="flat" cmpd="sng" algn="ctr">
                      <a:solidFill>
                        <a:srgbClr val="C4C0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0B5"/>
                      </a:solidFill>
                      <a:prstDash val="solid"/>
                      <a:round/>
                      <a:headEnd type="none" w="med" len="med"/>
                      <a:tailEnd type="none" w="med" len="med"/>
                    </a:lnB>
                    <a:solidFill>
                      <a:srgbClr val="F6F1E3"/>
                    </a:solidFill>
                  </a:tcPr>
                </a:tc>
                <a:tc>
                  <a:txBody>
                    <a:bodyPr/>
                    <a:lstStyle/>
                    <a:p>
                      <a:pPr indent="0" marL="0">
                        <a:lnSpc>
                          <a:spcPts val="2240"/>
                        </a:lnSpc>
                        <a:buNone/>
                      </a:pPr>
                      <a:r>
                        <a:rPr lang="en-US" sz="1600" dirty="0">
                          <a:solidFill>
                            <a:srgbClr val="12263A"/>
                          </a:solidFill>
                          <a:latin typeface="Arial" pitchFamily="34" charset="0"/>
                          <a:ea typeface="Arial" pitchFamily="34" charset="-122"/>
                          <a:cs typeface="Arial" pitchFamily="34" charset="-120"/>
                        </a:rPr>
                        <a:t>Краснодарский, Красноярский, Приморский</a:t>
                      </a:r>
                      <a:endParaRPr lang="en-US" sz="1600" dirty="0">
                        <a:latin typeface="Arial" charset="0"/>
                        <a:ea typeface="Arial" charset="0"/>
                        <a:cs typeface="Arial" charset="0"/>
                      </a:endParaRPr>
                    </a:p>
                  </a:txBody>
                  <a:tcPr marL="71120" marR="71120" marT="71120" marB="71120" anchor="t">
                    <a:lnL w="12700" cap="flat" cmpd="sng" algn="ctr">
                      <a:solidFill>
                        <a:srgbClr val="C4C0B5"/>
                      </a:solidFill>
                      <a:prstDash val="solid"/>
                      <a:round/>
                      <a:headEnd type="none" w="med" len="med"/>
                      <a:tailEnd type="none" w="med" len="med"/>
                    </a:lnL>
                    <a:lnR w="12700" cap="flat" cmpd="sng" algn="ctr">
                      <a:solidFill>
                        <a:srgbClr val="C4C0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0B5"/>
                      </a:solidFill>
                      <a:prstDash val="solid"/>
                      <a:round/>
                      <a:headEnd type="none" w="med" len="med"/>
                      <a:tailEnd type="none" w="med" len="med"/>
                    </a:lnB>
                    <a:solidFill>
                      <a:srgbClr val="F6F1E3"/>
                    </a:solidFill>
                  </a:tcPr>
                </a:tc>
              </a:tr>
              <a:tr h="439241">
                <a:tc>
                  <a:txBody>
                    <a:bodyPr/>
                    <a:lstStyle/>
                    <a:p>
                      <a:pPr indent="0" marL="0">
                        <a:lnSpc>
                          <a:spcPts val="2240"/>
                        </a:lnSpc>
                        <a:buNone/>
                      </a:pPr>
                      <a:r>
                        <a:rPr lang="en-US" sz="1600" dirty="0">
                          <a:solidFill>
                            <a:srgbClr val="12263A"/>
                          </a:solidFill>
                          <a:latin typeface="Arial" pitchFamily="34" charset="0"/>
                          <a:ea typeface="Arial" pitchFamily="34" charset="-122"/>
                          <a:cs typeface="Arial" pitchFamily="34" charset="-120"/>
                        </a:rPr>
                        <a:t>Области</a:t>
                      </a:r>
                      <a:endParaRPr lang="en-US" sz="1600" dirty="0">
                        <a:latin typeface="Arial" charset="0"/>
                        <a:ea typeface="Arial" charset="0"/>
                        <a:cs typeface="Arial" charset="0"/>
                      </a:endParaRPr>
                    </a:p>
                  </a:txBody>
                  <a:tcPr marL="71120" marR="71120" marT="71120" marB="71120" anchor="t">
                    <a:lnL w="12700" cap="flat" cmpd="sng" algn="ctr">
                      <a:solidFill>
                        <a:srgbClr val="BEB9AB"/>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0B5"/>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2240"/>
                        </a:lnSpc>
                        <a:buNone/>
                      </a:pPr>
                      <a:r>
                        <a:rPr lang="en-US" sz="1600" dirty="0">
                          <a:solidFill>
                            <a:srgbClr val="12263A"/>
                          </a:solidFill>
                          <a:latin typeface="Arial" pitchFamily="34" charset="0"/>
                          <a:ea typeface="Arial" pitchFamily="34" charset="-122"/>
                          <a:cs typeface="Arial" pitchFamily="34" charset="-120"/>
                        </a:rPr>
                        <a:t>48</a:t>
                      </a:r>
                      <a:endParaRPr lang="en-US" sz="1600" dirty="0">
                        <a:latin typeface="Arial" charset="0"/>
                        <a:ea typeface="Arial" charset="0"/>
                        <a:cs typeface="Arial" charset="0"/>
                      </a:endParaRPr>
                    </a:p>
                  </a:txBody>
                  <a:tcPr marL="71120" marR="71120" marT="71120" marB="7112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0B5"/>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2240"/>
                        </a:lnSpc>
                        <a:buNone/>
                      </a:pPr>
                      <a:r>
                        <a:rPr lang="en-US" sz="1600" dirty="0">
                          <a:solidFill>
                            <a:srgbClr val="12263A"/>
                          </a:solidFill>
                          <a:latin typeface="Arial" pitchFamily="34" charset="0"/>
                          <a:ea typeface="Arial" pitchFamily="34" charset="-122"/>
                          <a:cs typeface="Arial" pitchFamily="34" charset="-120"/>
                        </a:rPr>
                        <a:t>Московская, Новосибирская, Свердловская</a:t>
                      </a:r>
                      <a:endParaRPr lang="en-US" sz="1600" dirty="0">
                        <a:latin typeface="Arial" charset="0"/>
                        <a:ea typeface="Arial" charset="0"/>
                        <a:cs typeface="Arial" charset="0"/>
                      </a:endParaRPr>
                    </a:p>
                  </a:txBody>
                  <a:tcPr marL="71120" marR="71120" marT="71120" marB="7112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0B5"/>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439241">
                <a:tc>
                  <a:txBody>
                    <a:bodyPr/>
                    <a:lstStyle/>
                    <a:p>
                      <a:pPr indent="0" marL="0">
                        <a:lnSpc>
                          <a:spcPts val="2240"/>
                        </a:lnSpc>
                        <a:buNone/>
                      </a:pPr>
                      <a:r>
                        <a:rPr lang="en-US" sz="1600" dirty="0">
                          <a:solidFill>
                            <a:srgbClr val="12263A"/>
                          </a:solidFill>
                          <a:latin typeface="Arial" pitchFamily="34" charset="0"/>
                          <a:ea typeface="Arial" pitchFamily="34" charset="-122"/>
                          <a:cs typeface="Arial" pitchFamily="34" charset="-120"/>
                        </a:rPr>
                        <a:t>Города федерального значения</a:t>
                      </a:r>
                      <a:endParaRPr lang="en-US" sz="1600" dirty="0">
                        <a:latin typeface="Arial" charset="0"/>
                        <a:ea typeface="Arial" charset="0"/>
                        <a:cs typeface="Arial" charset="0"/>
                      </a:endParaRPr>
                    </a:p>
                  </a:txBody>
                  <a:tcPr marL="71120" marR="71120" marT="71120" marB="71120" anchor="t">
                    <a:lnL w="12700" cap="flat" cmpd="sng" algn="ctr">
                      <a:solidFill>
                        <a:srgbClr val="BEB9AB"/>
                      </a:solidFill>
                      <a:prstDash val="solid"/>
                      <a:round/>
                      <a:headEnd type="none" w="med" len="med"/>
                      <a:tailEnd type="none" w="med" len="med"/>
                    </a:lnL>
                    <a:lnR w="12700" cap="flat" cmpd="sng" algn="ctr">
                      <a:solidFill>
                        <a:srgbClr val="C4C0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0B5"/>
                      </a:solidFill>
                      <a:prstDash val="solid"/>
                      <a:round/>
                      <a:headEnd type="none" w="med" len="med"/>
                      <a:tailEnd type="none" w="med" len="med"/>
                    </a:lnB>
                    <a:solidFill>
                      <a:srgbClr val="F6F1E3"/>
                    </a:solidFill>
                  </a:tcPr>
                </a:tc>
                <a:tc>
                  <a:txBody>
                    <a:bodyPr/>
                    <a:lstStyle/>
                    <a:p>
                      <a:pPr indent="0" marL="0">
                        <a:lnSpc>
                          <a:spcPts val="2240"/>
                        </a:lnSpc>
                        <a:buNone/>
                      </a:pPr>
                      <a:r>
                        <a:rPr lang="en-US" sz="1600" dirty="0">
                          <a:solidFill>
                            <a:srgbClr val="12263A"/>
                          </a:solidFill>
                          <a:latin typeface="Arial" pitchFamily="34" charset="0"/>
                          <a:ea typeface="Arial" pitchFamily="34" charset="-122"/>
                          <a:cs typeface="Arial" pitchFamily="34" charset="-120"/>
                        </a:rPr>
                        <a:t>3</a:t>
                      </a:r>
                      <a:endParaRPr lang="en-US" sz="1600" dirty="0">
                        <a:latin typeface="Arial" charset="0"/>
                        <a:ea typeface="Arial" charset="0"/>
                        <a:cs typeface="Arial" charset="0"/>
                      </a:endParaRPr>
                    </a:p>
                  </a:txBody>
                  <a:tcPr marL="71120" marR="71120" marT="71120" marB="71120" anchor="t">
                    <a:lnL w="12700" cap="flat" cmpd="sng" algn="ctr">
                      <a:solidFill>
                        <a:srgbClr val="C4C0B5"/>
                      </a:solidFill>
                      <a:prstDash val="solid"/>
                      <a:round/>
                      <a:headEnd type="none" w="med" len="med"/>
                      <a:tailEnd type="none" w="med" len="med"/>
                    </a:lnL>
                    <a:lnR w="12700" cap="flat" cmpd="sng" algn="ctr">
                      <a:solidFill>
                        <a:srgbClr val="C4C0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0B5"/>
                      </a:solidFill>
                      <a:prstDash val="solid"/>
                      <a:round/>
                      <a:headEnd type="none" w="med" len="med"/>
                      <a:tailEnd type="none" w="med" len="med"/>
                    </a:lnB>
                    <a:solidFill>
                      <a:srgbClr val="F6F1E3"/>
                    </a:solidFill>
                  </a:tcPr>
                </a:tc>
                <a:tc>
                  <a:txBody>
                    <a:bodyPr/>
                    <a:lstStyle/>
                    <a:p>
                      <a:pPr indent="0" marL="0">
                        <a:lnSpc>
                          <a:spcPts val="2240"/>
                        </a:lnSpc>
                        <a:buNone/>
                      </a:pPr>
                      <a:r>
                        <a:rPr lang="en-US" sz="1600" dirty="0">
                          <a:solidFill>
                            <a:srgbClr val="12263A"/>
                          </a:solidFill>
                          <a:latin typeface="Arial" pitchFamily="34" charset="0"/>
                          <a:ea typeface="Arial" pitchFamily="34" charset="-122"/>
                          <a:cs typeface="Arial" pitchFamily="34" charset="-120"/>
                        </a:rPr>
                        <a:t>Москва, Санкт-Петербург, Севастополь</a:t>
                      </a:r>
                      <a:endParaRPr lang="en-US" sz="1600" dirty="0">
                        <a:latin typeface="Arial" charset="0"/>
                        <a:ea typeface="Arial" charset="0"/>
                        <a:cs typeface="Arial" charset="0"/>
                      </a:endParaRPr>
                    </a:p>
                  </a:txBody>
                  <a:tcPr marL="71120" marR="71120" marT="71120" marB="71120" anchor="t">
                    <a:lnL w="12700" cap="flat" cmpd="sng" algn="ctr">
                      <a:solidFill>
                        <a:srgbClr val="C4C0B5"/>
                      </a:solidFill>
                      <a:prstDash val="solid"/>
                      <a:round/>
                      <a:headEnd type="none" w="med" len="med"/>
                      <a:tailEnd type="none" w="med" len="med"/>
                    </a:lnL>
                    <a:lnR w="12700" cap="flat" cmpd="sng" algn="ctr">
                      <a:solidFill>
                        <a:srgbClr val="C4C0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0B5"/>
                      </a:solidFill>
                      <a:prstDash val="solid"/>
                      <a:round/>
                      <a:headEnd type="none" w="med" len="med"/>
                      <a:tailEnd type="none" w="med" len="med"/>
                    </a:lnB>
                    <a:solidFill>
                      <a:srgbClr val="F6F1E3"/>
                    </a:solidFill>
                  </a:tcPr>
                </a:tc>
              </a:tr>
              <a:tr h="439241">
                <a:tc>
                  <a:txBody>
                    <a:bodyPr/>
                    <a:lstStyle/>
                    <a:p>
                      <a:pPr indent="0" marL="0">
                        <a:lnSpc>
                          <a:spcPts val="2240"/>
                        </a:lnSpc>
                        <a:buNone/>
                      </a:pPr>
                      <a:r>
                        <a:rPr lang="en-US" sz="1600" dirty="0">
                          <a:solidFill>
                            <a:srgbClr val="12263A"/>
                          </a:solidFill>
                          <a:latin typeface="Arial" pitchFamily="34" charset="0"/>
                          <a:ea typeface="Arial" pitchFamily="34" charset="-122"/>
                          <a:cs typeface="Arial" pitchFamily="34" charset="-120"/>
                        </a:rPr>
                        <a:t>Автономная область</a:t>
                      </a:r>
                      <a:endParaRPr lang="en-US" sz="1600" dirty="0">
                        <a:latin typeface="Arial" charset="0"/>
                        <a:ea typeface="Arial" charset="0"/>
                        <a:cs typeface="Arial" charset="0"/>
                      </a:endParaRPr>
                    </a:p>
                  </a:txBody>
                  <a:tcPr marL="71120" marR="71120" marT="71120" marB="71120" anchor="t">
                    <a:lnL w="12700" cap="flat" cmpd="sng" algn="ctr">
                      <a:solidFill>
                        <a:srgbClr val="BEB9AB"/>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0B5"/>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2240"/>
                        </a:lnSpc>
                        <a:buNone/>
                      </a:pPr>
                      <a:r>
                        <a:rPr lang="en-US" sz="1600" dirty="0">
                          <a:solidFill>
                            <a:srgbClr val="12263A"/>
                          </a:solidFill>
                          <a:latin typeface="Arial" pitchFamily="34" charset="0"/>
                          <a:ea typeface="Arial" pitchFamily="34" charset="-122"/>
                          <a:cs typeface="Arial" pitchFamily="34" charset="-120"/>
                        </a:rPr>
                        <a:t>1</a:t>
                      </a:r>
                      <a:endParaRPr lang="en-US" sz="1600" dirty="0">
                        <a:latin typeface="Arial" charset="0"/>
                        <a:ea typeface="Arial" charset="0"/>
                        <a:cs typeface="Arial" charset="0"/>
                      </a:endParaRPr>
                    </a:p>
                  </a:txBody>
                  <a:tcPr marL="71120" marR="71120" marT="71120" marB="7112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0B5"/>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2240"/>
                        </a:lnSpc>
                        <a:buNone/>
                      </a:pPr>
                      <a:r>
                        <a:rPr lang="en-US" sz="1600" dirty="0">
                          <a:solidFill>
                            <a:srgbClr val="12263A"/>
                          </a:solidFill>
                          <a:latin typeface="Arial" pitchFamily="34" charset="0"/>
                          <a:ea typeface="Arial" pitchFamily="34" charset="-122"/>
                          <a:cs typeface="Arial" pitchFamily="34" charset="-120"/>
                        </a:rPr>
                        <a:t>Еврейская автономная область</a:t>
                      </a:r>
                      <a:endParaRPr lang="en-US" sz="1600" dirty="0">
                        <a:latin typeface="Arial" charset="0"/>
                        <a:ea typeface="Arial" charset="0"/>
                        <a:cs typeface="Arial" charset="0"/>
                      </a:endParaRPr>
                    </a:p>
                  </a:txBody>
                  <a:tcPr marL="71120" marR="71120" marT="71120" marB="7112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0B5"/>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439241">
                <a:tc>
                  <a:txBody>
                    <a:bodyPr/>
                    <a:lstStyle/>
                    <a:p>
                      <a:pPr indent="0" marL="0">
                        <a:lnSpc>
                          <a:spcPts val="2240"/>
                        </a:lnSpc>
                        <a:buNone/>
                      </a:pPr>
                      <a:r>
                        <a:rPr lang="en-US" sz="1600" dirty="0">
                          <a:solidFill>
                            <a:srgbClr val="12263A"/>
                          </a:solidFill>
                          <a:latin typeface="Arial" pitchFamily="34" charset="0"/>
                          <a:ea typeface="Arial" pitchFamily="34" charset="-122"/>
                          <a:cs typeface="Arial" pitchFamily="34" charset="-120"/>
                        </a:rPr>
                        <a:t>Автономные округа</a:t>
                      </a:r>
                      <a:endParaRPr lang="en-US" sz="1600" dirty="0">
                        <a:latin typeface="Arial" charset="0"/>
                        <a:ea typeface="Arial" charset="0"/>
                        <a:cs typeface="Arial" charset="0"/>
                      </a:endParaRPr>
                    </a:p>
                  </a:txBody>
                  <a:tcPr marL="71120" marR="71120" marT="71120" marB="71120" anchor="t">
                    <a:lnL w="12700" cap="flat" cmpd="sng" algn="ctr">
                      <a:solidFill>
                        <a:srgbClr val="BEB9AB"/>
                      </a:solidFill>
                      <a:prstDash val="solid"/>
                      <a:round/>
                      <a:headEnd type="none" w="med" len="med"/>
                      <a:tailEnd type="none" w="med" len="med"/>
                    </a:lnL>
                    <a:lnR w="12700" cap="flat" cmpd="sng" algn="ctr">
                      <a:solidFill>
                        <a:srgbClr val="C4C0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0B5"/>
                      </a:solidFill>
                      <a:prstDash val="solid"/>
                      <a:round/>
                      <a:headEnd type="none" w="med" len="med"/>
                      <a:tailEnd type="none" w="med" len="med"/>
                    </a:lnB>
                    <a:solidFill>
                      <a:srgbClr val="F6F1E3"/>
                    </a:solidFill>
                  </a:tcPr>
                </a:tc>
                <a:tc>
                  <a:txBody>
                    <a:bodyPr/>
                    <a:lstStyle/>
                    <a:p>
                      <a:pPr indent="0" marL="0">
                        <a:lnSpc>
                          <a:spcPts val="2240"/>
                        </a:lnSpc>
                        <a:buNone/>
                      </a:pPr>
                      <a:r>
                        <a:rPr lang="en-US" sz="1600" dirty="0">
                          <a:solidFill>
                            <a:srgbClr val="12263A"/>
                          </a:solidFill>
                          <a:latin typeface="Arial" pitchFamily="34" charset="0"/>
                          <a:ea typeface="Arial" pitchFamily="34" charset="-122"/>
                          <a:cs typeface="Arial" pitchFamily="34" charset="-120"/>
                        </a:rPr>
                        <a:t>4</a:t>
                      </a:r>
                      <a:endParaRPr lang="en-US" sz="1600" dirty="0">
                        <a:latin typeface="Arial" charset="0"/>
                        <a:ea typeface="Arial" charset="0"/>
                        <a:cs typeface="Arial" charset="0"/>
                      </a:endParaRPr>
                    </a:p>
                  </a:txBody>
                  <a:tcPr marL="71120" marR="71120" marT="71120" marB="71120" anchor="t">
                    <a:lnL w="12700" cap="flat" cmpd="sng" algn="ctr">
                      <a:solidFill>
                        <a:srgbClr val="C4C0B5"/>
                      </a:solidFill>
                      <a:prstDash val="solid"/>
                      <a:round/>
                      <a:headEnd type="none" w="med" len="med"/>
                      <a:tailEnd type="none" w="med" len="med"/>
                    </a:lnL>
                    <a:lnR w="12700" cap="flat" cmpd="sng" algn="ctr">
                      <a:solidFill>
                        <a:srgbClr val="C4C0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0B5"/>
                      </a:solidFill>
                      <a:prstDash val="solid"/>
                      <a:round/>
                      <a:headEnd type="none" w="med" len="med"/>
                      <a:tailEnd type="none" w="med" len="med"/>
                    </a:lnB>
                    <a:solidFill>
                      <a:srgbClr val="F6F1E3"/>
                    </a:solidFill>
                  </a:tcPr>
                </a:tc>
                <a:tc>
                  <a:txBody>
                    <a:bodyPr/>
                    <a:lstStyle/>
                    <a:p>
                      <a:pPr indent="0" marL="0">
                        <a:lnSpc>
                          <a:spcPts val="2240"/>
                        </a:lnSpc>
                        <a:buNone/>
                      </a:pPr>
                      <a:r>
                        <a:rPr lang="en-US" sz="1600" dirty="0">
                          <a:solidFill>
                            <a:srgbClr val="12263A"/>
                          </a:solidFill>
                          <a:latin typeface="Arial" pitchFamily="34" charset="0"/>
                          <a:ea typeface="Arial" pitchFamily="34" charset="-122"/>
                          <a:cs typeface="Arial" pitchFamily="34" charset="-120"/>
                        </a:rPr>
                        <a:t>Ненецкий, Чукотский, Ямало-Ненецкий</a:t>
                      </a:r>
                      <a:endParaRPr lang="en-US" sz="1600" dirty="0">
                        <a:latin typeface="Arial" charset="0"/>
                        <a:ea typeface="Arial" charset="0"/>
                        <a:cs typeface="Arial" charset="0"/>
                      </a:endParaRPr>
                    </a:p>
                  </a:txBody>
                  <a:tcPr marL="71120" marR="71120" marT="71120" marB="71120" anchor="t">
                    <a:lnL w="12700" cap="flat" cmpd="sng" algn="ctr">
                      <a:solidFill>
                        <a:srgbClr val="C4C0B5"/>
                      </a:solidFill>
                      <a:prstDash val="solid"/>
                      <a:round/>
                      <a:headEnd type="none" w="med" len="med"/>
                      <a:tailEnd type="none" w="med" len="med"/>
                    </a:lnL>
                    <a:lnR w="12700" cap="flat" cmpd="sng" algn="ctr">
                      <a:solidFill>
                        <a:srgbClr val="C4C0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0B5"/>
                      </a:solidFill>
                      <a:prstDash val="solid"/>
                      <a:round/>
                      <a:headEnd type="none" w="med" len="med"/>
                      <a:tailEnd type="none" w="med" len="med"/>
                    </a:lnB>
                    <a:solidFill>
                      <a:srgbClr val="F6F1E3"/>
                    </a:solidFill>
                  </a:tcPr>
                </a:tc>
              </a:tr>
            </a:tbl>
          </a:graphicData>
        </a:graphic>
      </p:graphicFrame>
      <p:sp>
        <p:nvSpPr>
          <p:cNvPr id="6" name="Text 3"/>
          <p:cNvSpPr/>
          <p:nvPr/>
        </p:nvSpPr>
        <p:spPr>
          <a:xfrm>
            <a:off x="812800" y="624205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672"/>
                </a:solidFill>
                <a:latin typeface="Arial" pitchFamily="34" charset="0"/>
                <a:ea typeface="Arial" pitchFamily="34" charset="-122"/>
                <a:cs typeface="Arial" pitchFamily="34" charset="-120"/>
              </a:rPr>
              <a:t>05 / 17 · География, 8 класс · Федеративное устройство и районы России</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70F"/>
                </a:solidFill>
                <a:latin typeface="Arial" pitchFamily="34" charset="0"/>
                <a:ea typeface="Arial" pitchFamily="34" charset="-122"/>
                <a:cs typeface="Arial" pitchFamily="34" charset="-120"/>
              </a:rPr>
              <a:t>Блок 1 · Федеративное устройство</a:t>
            </a:r>
            <a:endParaRPr lang="en-US" sz="1200" dirty="0"/>
          </a:p>
        </p:txBody>
      </p:sp>
      <p:sp>
        <p:nvSpPr>
          <p:cNvPr id="3" name="Text 1"/>
          <p:cNvSpPr/>
          <p:nvPr>
            <p:ph type="title"/>
          </p:nvPr>
        </p:nvSpPr>
        <p:spPr>
          <a:xfrm>
            <a:off x="812800" y="1200150"/>
            <a:ext cx="10883392" cy="46990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63A"/>
                </a:solidFill>
                <a:latin typeface="Arial" pitchFamily="34" charset="0"/>
                <a:ea typeface="Arial" pitchFamily="34" charset="-122"/>
                <a:cs typeface="Arial" pitchFamily="34" charset="-120"/>
              </a:rPr>
              <a:t>Равноправие субъектов</a:t>
            </a:r>
            <a:endParaRPr lang="en-US" sz="3200" dirty="0"/>
          </a:p>
        </p:txBody>
      </p:sp>
      <p:sp>
        <p:nvSpPr>
          <p:cNvPr id="4" name="Shape 2"/>
          <p:cNvSpPr/>
          <p:nvPr/>
        </p:nvSpPr>
        <p:spPr>
          <a:xfrm>
            <a:off x="812800" y="1822450"/>
            <a:ext cx="10566400" cy="1403350"/>
          </a:xfrm>
          <a:prstGeom prst="roundRect">
            <a:avLst>
              <a:gd name="adj" fmla="val 9050"/>
            </a:avLst>
          </a:prstGeom>
          <a:solidFill>
            <a:srgbClr val="12263A"/>
          </a:solidFill>
          <a:ln/>
        </p:spPr>
      </p:sp>
      <p:sp>
        <p:nvSpPr>
          <p:cNvPr id="5" name="Text 3"/>
          <p:cNvSpPr/>
          <p:nvPr/>
        </p:nvSpPr>
        <p:spPr>
          <a:xfrm>
            <a:off x="1041400" y="2051050"/>
            <a:ext cx="10412476"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A65A"/>
                </a:solidFill>
                <a:latin typeface="Arial" pitchFamily="34" charset="0"/>
                <a:ea typeface="Arial" pitchFamily="34" charset="-122"/>
                <a:cs typeface="Arial" pitchFamily="34" charset="-120"/>
              </a:rPr>
              <a:t>Статья 5 Конституции РФ</a:t>
            </a:r>
            <a:endParaRPr lang="en-US" sz="1200" dirty="0"/>
          </a:p>
        </p:txBody>
      </p:sp>
      <p:sp>
        <p:nvSpPr>
          <p:cNvPr id="6" name="Text 4"/>
          <p:cNvSpPr/>
          <p:nvPr/>
        </p:nvSpPr>
        <p:spPr>
          <a:xfrm>
            <a:off x="1041400" y="2336800"/>
            <a:ext cx="10412476" cy="6858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F7F4EC"/>
                </a:solidFill>
                <a:latin typeface="Arial" pitchFamily="34" charset="0"/>
                <a:ea typeface="Arial" pitchFamily="34" charset="-122"/>
                <a:cs typeface="Arial" pitchFamily="34" charset="-120"/>
              </a:rPr>
              <a:t>Все субъекты равноправны во взаимоотношениях с федеральными органами власти</a:t>
            </a:r>
            <a:endParaRPr lang="en-US" sz="2000" dirty="0"/>
          </a:p>
        </p:txBody>
      </p:sp>
      <p:sp>
        <p:nvSpPr>
          <p:cNvPr id="7" name="Shape 5"/>
          <p:cNvSpPr/>
          <p:nvPr/>
        </p:nvSpPr>
        <p:spPr>
          <a:xfrm>
            <a:off x="815975" y="3406775"/>
            <a:ext cx="5200650" cy="920750"/>
          </a:xfrm>
          <a:prstGeom prst="roundRect">
            <a:avLst>
              <a:gd name="adj" fmla="val 10690"/>
            </a:avLst>
          </a:prstGeom>
          <a:solidFill>
            <a:srgbClr val="FFFDF8"/>
          </a:solidFill>
          <a:ln w="6350">
            <a:solidFill>
              <a:srgbClr val="E2DCCB"/>
            </a:solidFill>
            <a:prstDash val="solid"/>
          </a:ln>
        </p:spPr>
      </p:sp>
      <p:pic>
        <p:nvPicPr>
          <p:cNvPr id="8" name="Image 0" descr="Users">    </p:cNvPr>
          <p:cNvPicPr>
            <a:picLocks noChangeAspect="1"/>
          </p:cNvPicPr>
          <p:nvPr/>
        </p:nvPicPr>
        <p:blipFill>
          <a:blip r:embed="rId1"/>
          <a:srcRect l="0" r="0" t="0" b="0"/>
          <a:stretch/>
        </p:blipFill>
        <p:spPr>
          <a:xfrm>
            <a:off x="996950" y="3689350"/>
            <a:ext cx="355600" cy="355600"/>
          </a:xfrm>
          <a:prstGeom prst="rect">
            <a:avLst/>
          </a:prstGeom>
        </p:spPr>
      </p:pic>
      <p:sp>
        <p:nvSpPr>
          <p:cNvPr id="9" name="Text 6"/>
          <p:cNvSpPr/>
          <p:nvPr/>
        </p:nvSpPr>
        <p:spPr>
          <a:xfrm>
            <a:off x="1504950" y="3587750"/>
            <a:ext cx="4460621" cy="5842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263A"/>
                </a:solidFill>
                <a:latin typeface="Arial" pitchFamily="34" charset="0"/>
                <a:ea typeface="Arial" pitchFamily="34" charset="-122"/>
                <a:cs typeface="Arial" pitchFamily="34" charset="-120"/>
              </a:rPr>
              <a:t>По 2 представителя от каждого субъекта в Совете Федерации</a:t>
            </a:r>
            <a:endParaRPr lang="en-US" sz="1600" dirty="0"/>
          </a:p>
        </p:txBody>
      </p:sp>
      <p:sp>
        <p:nvSpPr>
          <p:cNvPr id="10" name="Shape 7"/>
          <p:cNvSpPr/>
          <p:nvPr/>
        </p:nvSpPr>
        <p:spPr>
          <a:xfrm>
            <a:off x="6175375" y="3406775"/>
            <a:ext cx="5200650" cy="920750"/>
          </a:xfrm>
          <a:prstGeom prst="roundRect">
            <a:avLst>
              <a:gd name="adj" fmla="val 10690"/>
            </a:avLst>
          </a:prstGeom>
          <a:solidFill>
            <a:srgbClr val="FFFDF8"/>
          </a:solidFill>
          <a:ln w="6350">
            <a:solidFill>
              <a:srgbClr val="E2DCCB"/>
            </a:solidFill>
            <a:prstDash val="solid"/>
          </a:ln>
        </p:spPr>
      </p:sp>
      <p:pic>
        <p:nvPicPr>
          <p:cNvPr id="11" name="Image 1" descr="Book">    </p:cNvPr>
          <p:cNvPicPr>
            <a:picLocks noChangeAspect="1"/>
          </p:cNvPicPr>
          <p:nvPr/>
        </p:nvPicPr>
        <p:blipFill>
          <a:blip r:embed="rId2"/>
          <a:srcRect l="0" r="0" t="0" b="0"/>
          <a:stretch/>
        </p:blipFill>
        <p:spPr>
          <a:xfrm>
            <a:off x="6356350" y="3689350"/>
            <a:ext cx="355600" cy="355600"/>
          </a:xfrm>
          <a:prstGeom prst="rect">
            <a:avLst/>
          </a:prstGeom>
        </p:spPr>
      </p:pic>
      <p:sp>
        <p:nvSpPr>
          <p:cNvPr id="12" name="Text 8"/>
          <p:cNvSpPr/>
          <p:nvPr/>
        </p:nvSpPr>
        <p:spPr>
          <a:xfrm>
            <a:off x="6864350" y="3587750"/>
            <a:ext cx="4460621" cy="5842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263A"/>
                </a:solidFill>
                <a:latin typeface="Arial" pitchFamily="34" charset="0"/>
                <a:ea typeface="Arial" pitchFamily="34" charset="-122"/>
                <a:cs typeface="Arial" pitchFamily="34" charset="-120"/>
              </a:rPr>
              <a:t>Единые Конституция и федеральные законы для всех</a:t>
            </a:r>
            <a:endParaRPr lang="en-US" sz="1600" dirty="0"/>
          </a:p>
        </p:txBody>
      </p:sp>
      <p:sp>
        <p:nvSpPr>
          <p:cNvPr id="13" name="Shape 9"/>
          <p:cNvSpPr/>
          <p:nvPr/>
        </p:nvSpPr>
        <p:spPr>
          <a:xfrm>
            <a:off x="815975" y="4486275"/>
            <a:ext cx="5200650" cy="920750"/>
          </a:xfrm>
          <a:prstGeom prst="roundRect">
            <a:avLst>
              <a:gd name="adj" fmla="val 10690"/>
            </a:avLst>
          </a:prstGeom>
          <a:solidFill>
            <a:srgbClr val="FFFDF8"/>
          </a:solidFill>
          <a:ln w="6350">
            <a:solidFill>
              <a:srgbClr val="E2DCCB"/>
            </a:solidFill>
            <a:prstDash val="solid"/>
          </a:ln>
        </p:spPr>
      </p:sp>
      <p:pic>
        <p:nvPicPr>
          <p:cNvPr id="14" name="Image 2" descr="Check">    </p:cNvPr>
          <p:cNvPicPr>
            <a:picLocks noChangeAspect="1"/>
          </p:cNvPicPr>
          <p:nvPr/>
        </p:nvPicPr>
        <p:blipFill>
          <a:blip r:embed="rId3"/>
          <a:srcRect l="0" r="0" t="0" b="0"/>
          <a:stretch/>
        </p:blipFill>
        <p:spPr>
          <a:xfrm>
            <a:off x="996950" y="4768850"/>
            <a:ext cx="355600" cy="355600"/>
          </a:xfrm>
          <a:prstGeom prst="rect">
            <a:avLst/>
          </a:prstGeom>
        </p:spPr>
      </p:pic>
      <p:sp>
        <p:nvSpPr>
          <p:cNvPr id="15" name="Text 10"/>
          <p:cNvSpPr/>
          <p:nvPr/>
        </p:nvSpPr>
        <p:spPr>
          <a:xfrm>
            <a:off x="1504950" y="4667250"/>
            <a:ext cx="4460621" cy="5842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263A"/>
                </a:solidFill>
                <a:latin typeface="Arial" pitchFamily="34" charset="0"/>
                <a:ea typeface="Arial" pitchFamily="34" charset="-122"/>
                <a:cs typeface="Arial" pitchFamily="34" charset="-120"/>
              </a:rPr>
              <a:t>Одинаковые права при распределении полномочий с центром</a:t>
            </a:r>
            <a:endParaRPr lang="en-US" sz="1600" dirty="0"/>
          </a:p>
        </p:txBody>
      </p:sp>
      <p:sp>
        <p:nvSpPr>
          <p:cNvPr id="16" name="Shape 11"/>
          <p:cNvSpPr/>
          <p:nvPr/>
        </p:nvSpPr>
        <p:spPr>
          <a:xfrm>
            <a:off x="6175375" y="4486275"/>
            <a:ext cx="5200650" cy="920750"/>
          </a:xfrm>
          <a:prstGeom prst="roundRect">
            <a:avLst>
              <a:gd name="adj" fmla="val 10690"/>
            </a:avLst>
          </a:prstGeom>
          <a:solidFill>
            <a:srgbClr val="FFFDF8"/>
          </a:solidFill>
          <a:ln w="6350">
            <a:solidFill>
              <a:srgbClr val="E2DCCB"/>
            </a:solidFill>
            <a:prstDash val="solid"/>
          </a:ln>
        </p:spPr>
      </p:sp>
      <p:pic>
        <p:nvPicPr>
          <p:cNvPr id="17" name="Image 3" descr="Lock">    </p:cNvPr>
          <p:cNvPicPr>
            <a:picLocks noChangeAspect="1"/>
          </p:cNvPicPr>
          <p:nvPr/>
        </p:nvPicPr>
        <p:blipFill>
          <a:blip r:embed="rId4"/>
          <a:srcRect l="0" r="0" t="0" b="0"/>
          <a:stretch/>
        </p:blipFill>
        <p:spPr>
          <a:xfrm>
            <a:off x="6356350" y="4768850"/>
            <a:ext cx="355600" cy="355600"/>
          </a:xfrm>
          <a:prstGeom prst="rect">
            <a:avLst/>
          </a:prstGeom>
        </p:spPr>
      </p:pic>
      <p:sp>
        <p:nvSpPr>
          <p:cNvPr id="18" name="Text 12"/>
          <p:cNvSpPr/>
          <p:nvPr/>
        </p:nvSpPr>
        <p:spPr>
          <a:xfrm>
            <a:off x="6864350" y="4667250"/>
            <a:ext cx="4460621" cy="5842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263A"/>
                </a:solidFill>
                <a:latin typeface="Arial" pitchFamily="34" charset="0"/>
                <a:ea typeface="Arial" pitchFamily="34" charset="-122"/>
                <a:cs typeface="Arial" pitchFamily="34" charset="-120"/>
              </a:rPr>
              <a:t>Самовольный выход из состава России невозможен</a:t>
            </a:r>
            <a:endParaRPr lang="en-US" sz="1600" dirty="0"/>
          </a:p>
        </p:txBody>
      </p:sp>
      <p:sp>
        <p:nvSpPr>
          <p:cNvPr id="19" name="Text 13"/>
          <p:cNvSpPr/>
          <p:nvPr/>
        </p:nvSpPr>
        <p:spPr>
          <a:xfrm>
            <a:off x="812800" y="624205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672"/>
                </a:solidFill>
                <a:latin typeface="Arial" pitchFamily="34" charset="0"/>
                <a:ea typeface="Arial" pitchFamily="34" charset="-122"/>
                <a:cs typeface="Arial" pitchFamily="34" charset="-120"/>
              </a:rPr>
              <a:t>06 / 17 · География, 8 класс · Федеративное устройство и районы России</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EE7D6"/>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70F"/>
                </a:solidFill>
                <a:latin typeface="Arial" pitchFamily="34" charset="0"/>
                <a:ea typeface="Arial" pitchFamily="34" charset="-122"/>
                <a:cs typeface="Arial" pitchFamily="34" charset="-120"/>
              </a:rPr>
              <a:t>Блок 1 · Федеративное устройство</a:t>
            </a:r>
            <a:endParaRPr lang="en-US" sz="1200" dirty="0"/>
          </a:p>
        </p:txBody>
      </p:sp>
      <p:sp>
        <p:nvSpPr>
          <p:cNvPr id="3" name="Text 1"/>
          <p:cNvSpPr/>
          <p:nvPr>
            <p:ph type="title"/>
          </p:nvPr>
        </p:nvSpPr>
        <p:spPr>
          <a:xfrm>
            <a:off x="812800" y="1200150"/>
            <a:ext cx="10883392" cy="46990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63A"/>
                </a:solidFill>
                <a:latin typeface="Arial" pitchFamily="34" charset="0"/>
                <a:ea typeface="Arial" pitchFamily="34" charset="-122"/>
                <a:cs typeface="Arial" pitchFamily="34" charset="-120"/>
              </a:rPr>
              <a:t>Разнообразие субъектов</a:t>
            </a:r>
            <a:endParaRPr lang="en-US" sz="3200" dirty="0"/>
          </a:p>
        </p:txBody>
      </p:sp>
      <p:sp>
        <p:nvSpPr>
          <p:cNvPr id="4" name="Shape 2"/>
          <p:cNvSpPr/>
          <p:nvPr/>
        </p:nvSpPr>
        <p:spPr>
          <a:xfrm>
            <a:off x="815975" y="1825625"/>
            <a:ext cx="5200650" cy="1492250"/>
          </a:xfrm>
          <a:prstGeom prst="roundRect">
            <a:avLst>
              <a:gd name="adj" fmla="val 8298"/>
            </a:avLst>
          </a:prstGeom>
          <a:solidFill>
            <a:srgbClr val="FFFDF8"/>
          </a:solidFill>
          <a:ln w="6350">
            <a:solidFill>
              <a:srgbClr val="E2DCCB"/>
            </a:solidFill>
            <a:prstDash val="solid"/>
          </a:ln>
        </p:spPr>
      </p:sp>
      <p:sp>
        <p:nvSpPr>
          <p:cNvPr id="5" name="Text 3"/>
          <p:cNvSpPr/>
          <p:nvPr/>
        </p:nvSpPr>
        <p:spPr>
          <a:xfrm>
            <a:off x="996950" y="2006600"/>
            <a:ext cx="4983861"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A8470F"/>
                </a:solidFill>
                <a:latin typeface="Arial" pitchFamily="34" charset="0"/>
                <a:ea typeface="Arial" pitchFamily="34" charset="-122"/>
                <a:cs typeface="Arial" pitchFamily="34" charset="-120"/>
              </a:rPr>
              <a:t>По статусу</a:t>
            </a:r>
            <a:endParaRPr lang="en-US" sz="1600" dirty="0"/>
          </a:p>
        </p:txBody>
      </p:sp>
      <p:sp>
        <p:nvSpPr>
          <p:cNvPr id="6" name="Text 4"/>
          <p:cNvSpPr/>
          <p:nvPr/>
        </p:nvSpPr>
        <p:spPr>
          <a:xfrm>
            <a:off x="996950" y="2298700"/>
            <a:ext cx="4983861" cy="8636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263A"/>
                </a:solidFill>
                <a:latin typeface="Arial" pitchFamily="34" charset="0"/>
                <a:ea typeface="Arial" pitchFamily="34" charset="-122"/>
                <a:cs typeface="Arial" pitchFamily="34" charset="-120"/>
              </a:rPr>
              <a:t>Республики имеют конституцию и свои государственные языки; остальные принимают уставы</a:t>
            </a:r>
            <a:endParaRPr lang="en-US" sz="1600" dirty="0"/>
          </a:p>
        </p:txBody>
      </p:sp>
      <p:sp>
        <p:nvSpPr>
          <p:cNvPr id="7" name="Shape 5"/>
          <p:cNvSpPr/>
          <p:nvPr/>
        </p:nvSpPr>
        <p:spPr>
          <a:xfrm>
            <a:off x="6175375" y="1825625"/>
            <a:ext cx="5200650" cy="1492250"/>
          </a:xfrm>
          <a:prstGeom prst="roundRect">
            <a:avLst>
              <a:gd name="adj" fmla="val 8298"/>
            </a:avLst>
          </a:prstGeom>
          <a:solidFill>
            <a:srgbClr val="FFFDF8"/>
          </a:solidFill>
          <a:ln w="6350">
            <a:solidFill>
              <a:srgbClr val="E2DCCB"/>
            </a:solidFill>
            <a:prstDash val="solid"/>
          </a:ln>
        </p:spPr>
      </p:sp>
      <p:sp>
        <p:nvSpPr>
          <p:cNvPr id="8" name="Text 6"/>
          <p:cNvSpPr/>
          <p:nvPr/>
        </p:nvSpPr>
        <p:spPr>
          <a:xfrm>
            <a:off x="6356350" y="2006600"/>
            <a:ext cx="4983861"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A8470F"/>
                </a:solidFill>
                <a:latin typeface="Arial" pitchFamily="34" charset="0"/>
                <a:ea typeface="Arial" pitchFamily="34" charset="-122"/>
                <a:cs typeface="Arial" pitchFamily="34" charset="-120"/>
              </a:rPr>
              <a:t>По площади</a:t>
            </a:r>
            <a:endParaRPr lang="en-US" sz="1600" dirty="0"/>
          </a:p>
        </p:txBody>
      </p:sp>
      <p:sp>
        <p:nvSpPr>
          <p:cNvPr id="9" name="Text 7"/>
          <p:cNvSpPr/>
          <p:nvPr/>
        </p:nvSpPr>
        <p:spPr>
          <a:xfrm>
            <a:off x="6356350" y="2298700"/>
            <a:ext cx="4983861" cy="5842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263A"/>
                </a:solidFill>
                <a:latin typeface="Arial" pitchFamily="34" charset="0"/>
                <a:ea typeface="Arial" pitchFamily="34" charset="-122"/>
                <a:cs typeface="Arial" pitchFamily="34" charset="-120"/>
              </a:rPr>
              <a:t>от Якутии (более 3 млн км²) до Севастополя (менее 1 тыс. км²)</a:t>
            </a:r>
            <a:endParaRPr lang="en-US" sz="1600" dirty="0"/>
          </a:p>
        </p:txBody>
      </p:sp>
      <p:sp>
        <p:nvSpPr>
          <p:cNvPr id="10" name="Shape 8"/>
          <p:cNvSpPr/>
          <p:nvPr/>
        </p:nvSpPr>
        <p:spPr>
          <a:xfrm>
            <a:off x="815975" y="3476625"/>
            <a:ext cx="5200650" cy="1212850"/>
          </a:xfrm>
          <a:prstGeom prst="roundRect">
            <a:avLst>
              <a:gd name="adj" fmla="val 10209"/>
            </a:avLst>
          </a:prstGeom>
          <a:solidFill>
            <a:srgbClr val="FFFDF8"/>
          </a:solidFill>
          <a:ln w="6350">
            <a:solidFill>
              <a:srgbClr val="E2DCCB"/>
            </a:solidFill>
            <a:prstDash val="solid"/>
          </a:ln>
        </p:spPr>
      </p:sp>
      <p:sp>
        <p:nvSpPr>
          <p:cNvPr id="11" name="Text 9"/>
          <p:cNvSpPr/>
          <p:nvPr/>
        </p:nvSpPr>
        <p:spPr>
          <a:xfrm>
            <a:off x="996950" y="3657600"/>
            <a:ext cx="4983861"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A8470F"/>
                </a:solidFill>
                <a:latin typeface="Arial" pitchFamily="34" charset="0"/>
                <a:ea typeface="Arial" pitchFamily="34" charset="-122"/>
                <a:cs typeface="Arial" pitchFamily="34" charset="-120"/>
              </a:rPr>
              <a:t>По населению</a:t>
            </a:r>
            <a:endParaRPr lang="en-US" sz="1600" dirty="0"/>
          </a:p>
        </p:txBody>
      </p:sp>
      <p:sp>
        <p:nvSpPr>
          <p:cNvPr id="12" name="Text 10"/>
          <p:cNvSpPr/>
          <p:nvPr/>
        </p:nvSpPr>
        <p:spPr>
          <a:xfrm>
            <a:off x="996950" y="3949700"/>
            <a:ext cx="4983861" cy="5842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263A"/>
                </a:solidFill>
                <a:latin typeface="Arial" pitchFamily="34" charset="0"/>
                <a:ea typeface="Arial" pitchFamily="34" charset="-122"/>
                <a:cs typeface="Arial" pitchFamily="34" charset="-120"/>
              </a:rPr>
              <a:t>Москва — более 13 млн человек, Ненецкий АО — около 40 тыс.</a:t>
            </a:r>
            <a:endParaRPr lang="en-US" sz="1600" dirty="0"/>
          </a:p>
        </p:txBody>
      </p:sp>
      <p:sp>
        <p:nvSpPr>
          <p:cNvPr id="13" name="Shape 11"/>
          <p:cNvSpPr/>
          <p:nvPr/>
        </p:nvSpPr>
        <p:spPr>
          <a:xfrm>
            <a:off x="6175375" y="3476625"/>
            <a:ext cx="5200650" cy="1212850"/>
          </a:xfrm>
          <a:prstGeom prst="roundRect">
            <a:avLst>
              <a:gd name="adj" fmla="val 10209"/>
            </a:avLst>
          </a:prstGeom>
          <a:solidFill>
            <a:srgbClr val="FFFDF8"/>
          </a:solidFill>
          <a:ln w="6350">
            <a:solidFill>
              <a:srgbClr val="E2DCCB"/>
            </a:solidFill>
            <a:prstDash val="solid"/>
          </a:ln>
        </p:spPr>
      </p:sp>
      <p:sp>
        <p:nvSpPr>
          <p:cNvPr id="14" name="Text 12"/>
          <p:cNvSpPr/>
          <p:nvPr/>
        </p:nvSpPr>
        <p:spPr>
          <a:xfrm>
            <a:off x="6356350" y="3657600"/>
            <a:ext cx="4983861"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A8470F"/>
                </a:solidFill>
                <a:latin typeface="Arial" pitchFamily="34" charset="0"/>
                <a:ea typeface="Arial" pitchFamily="34" charset="-122"/>
                <a:cs typeface="Arial" pitchFamily="34" charset="-120"/>
              </a:rPr>
              <a:t>По природе и хозяйству</a:t>
            </a:r>
            <a:endParaRPr lang="en-US" sz="1600" dirty="0"/>
          </a:p>
        </p:txBody>
      </p:sp>
      <p:sp>
        <p:nvSpPr>
          <p:cNvPr id="15" name="Text 13"/>
          <p:cNvSpPr/>
          <p:nvPr/>
        </p:nvSpPr>
        <p:spPr>
          <a:xfrm>
            <a:off x="6356350" y="3949700"/>
            <a:ext cx="4983861" cy="5842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263A"/>
                </a:solidFill>
                <a:latin typeface="Arial" pitchFamily="34" charset="0"/>
                <a:ea typeface="Arial" pitchFamily="34" charset="-122"/>
                <a:cs typeface="Arial" pitchFamily="34" charset="-120"/>
              </a:rPr>
              <a:t>разные природные условия, специализация хозяйства, национальный состав</a:t>
            </a:r>
            <a:endParaRPr lang="en-US" sz="1600" dirty="0"/>
          </a:p>
        </p:txBody>
      </p:sp>
      <p:sp>
        <p:nvSpPr>
          <p:cNvPr id="16" name="Shape 14"/>
          <p:cNvSpPr/>
          <p:nvPr/>
        </p:nvSpPr>
        <p:spPr>
          <a:xfrm>
            <a:off x="812800" y="4870450"/>
            <a:ext cx="10566400" cy="914400"/>
          </a:xfrm>
          <a:prstGeom prst="roundRect">
            <a:avLst>
              <a:gd name="adj" fmla="val 13889"/>
            </a:avLst>
          </a:prstGeom>
          <a:solidFill>
            <a:srgbClr val="12263A"/>
          </a:solidFill>
          <a:ln/>
        </p:spPr>
      </p:sp>
      <p:sp>
        <p:nvSpPr>
          <p:cNvPr id="17" name="Text 15"/>
          <p:cNvSpPr/>
          <p:nvPr/>
        </p:nvSpPr>
        <p:spPr>
          <a:xfrm>
            <a:off x="1041400" y="5048250"/>
            <a:ext cx="10412476" cy="58420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7F4EC"/>
                </a:solidFill>
                <a:latin typeface="Arial" pitchFamily="34" charset="0"/>
                <a:ea typeface="Arial" pitchFamily="34" charset="-122"/>
                <a:cs typeface="Arial" pitchFamily="34" charset="-120"/>
              </a:rPr>
              <a:t>Вывод:</a:t>
            </a:r>
            <a:r>
              <a:rPr lang="en-US" sz="1600" dirty="0">
                <a:solidFill>
                  <a:srgbClr val="F7F4EC"/>
                </a:solidFill>
                <a:latin typeface="Arial" pitchFamily="34" charset="0"/>
                <a:ea typeface="Arial" pitchFamily="34" charset="-122"/>
                <a:cs typeface="Arial" pitchFamily="34" charset="-120"/>
              </a:rPr>
              <a:t> по Конституции субъекты равноправны, но сильно различаются по размеру, населению, природе и экономике.</a:t>
            </a:r>
            <a:endParaRPr lang="en-US" sz="1600" dirty="0"/>
          </a:p>
        </p:txBody>
      </p:sp>
      <p:sp>
        <p:nvSpPr>
          <p:cNvPr id="18" name="Text 16"/>
          <p:cNvSpPr/>
          <p:nvPr/>
        </p:nvSpPr>
        <p:spPr>
          <a:xfrm>
            <a:off x="812800" y="624205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672"/>
                </a:solidFill>
                <a:latin typeface="Arial" pitchFamily="34" charset="0"/>
                <a:ea typeface="Arial" pitchFamily="34" charset="-122"/>
                <a:cs typeface="Arial" pitchFamily="34" charset="-120"/>
              </a:rPr>
              <a:t>07 / 17 · География, 8 класс · Федеративное устройство и районы России</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70F"/>
                </a:solidFill>
                <a:latin typeface="Arial" pitchFamily="34" charset="0"/>
                <a:ea typeface="Arial" pitchFamily="34" charset="-122"/>
                <a:cs typeface="Arial" pitchFamily="34" charset="-120"/>
              </a:rPr>
              <a:t>Блок 2 · Округа и районирование</a:t>
            </a:r>
            <a:endParaRPr lang="en-US" sz="1200" dirty="0"/>
          </a:p>
        </p:txBody>
      </p:sp>
      <p:sp>
        <p:nvSpPr>
          <p:cNvPr id="3" name="Text 1"/>
          <p:cNvSpPr/>
          <p:nvPr>
            <p:ph type="title"/>
          </p:nvPr>
        </p:nvSpPr>
        <p:spPr>
          <a:xfrm>
            <a:off x="812800" y="1200150"/>
            <a:ext cx="10883392" cy="46990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63A"/>
                </a:solidFill>
                <a:latin typeface="Arial" pitchFamily="34" charset="0"/>
                <a:ea typeface="Arial" pitchFamily="34" charset="-122"/>
                <a:cs typeface="Arial" pitchFamily="34" charset="-120"/>
              </a:rPr>
              <a:t>Федеральный округ и районирование</a:t>
            </a:r>
            <a:endParaRPr lang="en-US" sz="3200" dirty="0"/>
          </a:p>
        </p:txBody>
      </p:sp>
      <p:sp>
        <p:nvSpPr>
          <p:cNvPr id="4" name="Shape 2"/>
          <p:cNvSpPr/>
          <p:nvPr/>
        </p:nvSpPr>
        <p:spPr>
          <a:xfrm>
            <a:off x="812800" y="1825625"/>
            <a:ext cx="10566400" cy="0"/>
          </a:xfrm>
          <a:prstGeom prst="line">
            <a:avLst/>
          </a:prstGeom>
          <a:noFill/>
          <a:ln w="6350">
            <a:solidFill>
              <a:srgbClr val="D9D2BE"/>
            </a:solidFill>
            <a:prstDash val="solid"/>
          </a:ln>
        </p:spPr>
      </p:sp>
      <p:sp>
        <p:nvSpPr>
          <p:cNvPr id="5" name="Text 3"/>
          <p:cNvSpPr/>
          <p:nvPr/>
        </p:nvSpPr>
        <p:spPr>
          <a:xfrm>
            <a:off x="812800" y="1981200"/>
            <a:ext cx="2877820"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A8470F"/>
                </a:solidFill>
                <a:latin typeface="Arial" pitchFamily="34" charset="0"/>
                <a:ea typeface="Arial" pitchFamily="34" charset="-122"/>
                <a:cs typeface="Arial" pitchFamily="34" charset="-120"/>
              </a:rPr>
              <a:t>Федеральный округ</a:t>
            </a:r>
            <a:endParaRPr lang="en-US" sz="1600" dirty="0"/>
          </a:p>
        </p:txBody>
      </p:sp>
      <p:sp>
        <p:nvSpPr>
          <p:cNvPr id="6" name="Text 4"/>
          <p:cNvSpPr/>
          <p:nvPr/>
        </p:nvSpPr>
        <p:spPr>
          <a:xfrm>
            <a:off x="3860800" y="1981200"/>
            <a:ext cx="7743952" cy="5842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263A"/>
                </a:solidFill>
                <a:latin typeface="Arial" pitchFamily="34" charset="0"/>
                <a:ea typeface="Arial" pitchFamily="34" charset="-122"/>
                <a:cs typeface="Arial" pitchFamily="34" charset="-120"/>
              </a:rPr>
              <a:t>территориальное объединение нескольких субъектов РФ для контроля за исполнением решений федеральной власти</a:t>
            </a:r>
            <a:endParaRPr lang="en-US" sz="1600" dirty="0"/>
          </a:p>
        </p:txBody>
      </p:sp>
      <p:sp>
        <p:nvSpPr>
          <p:cNvPr id="7" name="Shape 5"/>
          <p:cNvSpPr/>
          <p:nvPr/>
        </p:nvSpPr>
        <p:spPr>
          <a:xfrm>
            <a:off x="812800" y="2695575"/>
            <a:ext cx="10566400" cy="0"/>
          </a:xfrm>
          <a:prstGeom prst="line">
            <a:avLst/>
          </a:prstGeom>
          <a:noFill/>
          <a:ln w="6350">
            <a:solidFill>
              <a:srgbClr val="D9D2BE"/>
            </a:solidFill>
            <a:prstDash val="solid"/>
          </a:ln>
        </p:spPr>
      </p:sp>
      <p:sp>
        <p:nvSpPr>
          <p:cNvPr id="8" name="Text 6"/>
          <p:cNvSpPr/>
          <p:nvPr/>
        </p:nvSpPr>
        <p:spPr>
          <a:xfrm>
            <a:off x="812800" y="2851150"/>
            <a:ext cx="2877820"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A8470F"/>
                </a:solidFill>
                <a:latin typeface="Arial" pitchFamily="34" charset="0"/>
                <a:ea typeface="Arial" pitchFamily="34" charset="-122"/>
                <a:cs typeface="Arial" pitchFamily="34" charset="-120"/>
              </a:rPr>
              <a:t>Районирование</a:t>
            </a:r>
            <a:endParaRPr lang="en-US" sz="1600" dirty="0"/>
          </a:p>
        </p:txBody>
      </p:sp>
      <p:sp>
        <p:nvSpPr>
          <p:cNvPr id="9" name="Text 7"/>
          <p:cNvSpPr/>
          <p:nvPr/>
        </p:nvSpPr>
        <p:spPr>
          <a:xfrm>
            <a:off x="3860800" y="2851150"/>
            <a:ext cx="7743952" cy="5842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263A"/>
                </a:solidFill>
                <a:latin typeface="Arial" pitchFamily="34" charset="0"/>
                <a:ea typeface="Arial" pitchFamily="34" charset="-122"/>
                <a:cs typeface="Arial" pitchFamily="34" charset="-120"/>
              </a:rPr>
              <a:t>разделение территории на части (районы) по определённым признакам: однородности, связям, управлению</a:t>
            </a:r>
            <a:endParaRPr lang="en-US" sz="1600" dirty="0"/>
          </a:p>
        </p:txBody>
      </p:sp>
      <p:sp>
        <p:nvSpPr>
          <p:cNvPr id="10" name="Shape 8"/>
          <p:cNvSpPr/>
          <p:nvPr/>
        </p:nvSpPr>
        <p:spPr>
          <a:xfrm>
            <a:off x="812800" y="3565525"/>
            <a:ext cx="10566400" cy="0"/>
          </a:xfrm>
          <a:prstGeom prst="line">
            <a:avLst/>
          </a:prstGeom>
          <a:noFill/>
          <a:ln w="6350">
            <a:solidFill>
              <a:srgbClr val="D9D2BE"/>
            </a:solidFill>
            <a:prstDash val="solid"/>
          </a:ln>
        </p:spPr>
      </p:sp>
      <p:sp>
        <p:nvSpPr>
          <p:cNvPr id="11" name="Text 9"/>
          <p:cNvSpPr/>
          <p:nvPr/>
        </p:nvSpPr>
        <p:spPr>
          <a:xfrm>
            <a:off x="812800" y="3721100"/>
            <a:ext cx="2877820"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A8470F"/>
                </a:solidFill>
                <a:latin typeface="Arial" pitchFamily="34" charset="0"/>
                <a:ea typeface="Arial" pitchFamily="34" charset="-122"/>
                <a:cs typeface="Arial" pitchFamily="34" charset="-120"/>
              </a:rPr>
              <a:t>Район</a:t>
            </a:r>
            <a:endParaRPr lang="en-US" sz="1600" dirty="0"/>
          </a:p>
        </p:txBody>
      </p:sp>
      <p:sp>
        <p:nvSpPr>
          <p:cNvPr id="12" name="Text 10"/>
          <p:cNvSpPr/>
          <p:nvPr/>
        </p:nvSpPr>
        <p:spPr>
          <a:xfrm>
            <a:off x="3860800" y="3721100"/>
            <a:ext cx="7743952" cy="3048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263A"/>
                </a:solidFill>
                <a:latin typeface="Arial" pitchFamily="34" charset="0"/>
                <a:ea typeface="Arial" pitchFamily="34" charset="-122"/>
                <a:cs typeface="Arial" pitchFamily="34" charset="-120"/>
              </a:rPr>
              <a:t>часть территории страны, отличающаяся от других набором признаков</a:t>
            </a:r>
            <a:endParaRPr lang="en-US" sz="1600" dirty="0"/>
          </a:p>
        </p:txBody>
      </p:sp>
      <p:sp>
        <p:nvSpPr>
          <p:cNvPr id="13" name="Shape 11"/>
          <p:cNvSpPr/>
          <p:nvPr/>
        </p:nvSpPr>
        <p:spPr>
          <a:xfrm>
            <a:off x="812800" y="4330700"/>
            <a:ext cx="10566400" cy="914400"/>
          </a:xfrm>
          <a:prstGeom prst="roundRect">
            <a:avLst>
              <a:gd name="adj" fmla="val 13889"/>
            </a:avLst>
          </a:prstGeom>
          <a:solidFill>
            <a:srgbClr val="E8873A"/>
          </a:solidFill>
          <a:ln/>
        </p:spPr>
      </p:sp>
      <p:sp>
        <p:nvSpPr>
          <p:cNvPr id="14" name="Text 12"/>
          <p:cNvSpPr/>
          <p:nvPr/>
        </p:nvSpPr>
        <p:spPr>
          <a:xfrm>
            <a:off x="1041400" y="4508500"/>
            <a:ext cx="10412476" cy="58420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2263A"/>
                </a:solidFill>
                <a:latin typeface="Arial" pitchFamily="34" charset="0"/>
                <a:ea typeface="Arial" pitchFamily="34" charset="-122"/>
                <a:cs typeface="Arial" pitchFamily="34" charset="-120"/>
              </a:rPr>
              <a:t>Федеральный округ не является субъектом Федерации. Во главе округа стоит полномочный представитель Президента РФ.</a:t>
            </a:r>
            <a:endParaRPr lang="en-US" sz="1600" dirty="0"/>
          </a:p>
        </p:txBody>
      </p:sp>
      <p:sp>
        <p:nvSpPr>
          <p:cNvPr id="15" name="Text 13"/>
          <p:cNvSpPr/>
          <p:nvPr/>
        </p:nvSpPr>
        <p:spPr>
          <a:xfrm>
            <a:off x="812800" y="624205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672"/>
                </a:solidFill>
                <a:latin typeface="Arial" pitchFamily="34" charset="0"/>
                <a:ea typeface="Arial" pitchFamily="34" charset="-122"/>
                <a:cs typeface="Arial" pitchFamily="34" charset="-120"/>
              </a:rPr>
              <a:t>08 / 17 · География, 8 класс · Федеративное устройство и районы России</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EE7D6"/>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70F"/>
                </a:solidFill>
                <a:latin typeface="Arial" pitchFamily="34" charset="0"/>
                <a:ea typeface="Arial" pitchFamily="34" charset="-122"/>
                <a:cs typeface="Arial" pitchFamily="34" charset="-120"/>
              </a:rPr>
              <a:t>Блок 2 · Округа и районирование</a:t>
            </a:r>
            <a:endParaRPr lang="en-US" sz="1200" dirty="0"/>
          </a:p>
        </p:txBody>
      </p:sp>
      <p:sp>
        <p:nvSpPr>
          <p:cNvPr id="3" name="Text 1"/>
          <p:cNvSpPr/>
          <p:nvPr>
            <p:ph type="title"/>
          </p:nvPr>
        </p:nvSpPr>
        <p:spPr>
          <a:xfrm>
            <a:off x="812800" y="1200150"/>
            <a:ext cx="10883392" cy="46990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63A"/>
                </a:solidFill>
                <a:latin typeface="Arial" pitchFamily="34" charset="0"/>
                <a:ea typeface="Arial" pitchFamily="34" charset="-122"/>
                <a:cs typeface="Arial" pitchFamily="34" charset="-120"/>
              </a:rPr>
              <a:t>Виды районирования</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35150"/>
          <a:ext cx="10553700" cy="2635448"/>
        </p:xfrm>
        <a:graphic>
          <a:graphicData uri="http://schemas.openxmlformats.org/drawingml/2006/table">
            <a:tbl>
              <a:tblPr/>
              <a:tblGrid>
                <a:gridCol w="4221480"/>
                <a:gridCol w="6332220"/>
              </a:tblGrid>
              <a:tr h="439241">
                <a:tc>
                  <a:txBody>
                    <a:bodyPr/>
                    <a:lstStyle/>
                    <a:p>
                      <a:pPr indent="0" marL="0">
                        <a:lnSpc>
                          <a:spcPts val="2240"/>
                        </a:lnSpc>
                        <a:buNone/>
                      </a:pPr>
                      <a:r>
                        <a:rPr lang="en-US" sz="1600" b="1" dirty="0">
                          <a:solidFill>
                            <a:srgbClr val="F7F4EC"/>
                          </a:solidFill>
                          <a:latin typeface="Arial" pitchFamily="34" charset="0"/>
                          <a:ea typeface="Arial" pitchFamily="34" charset="-122"/>
                          <a:cs typeface="Arial" pitchFamily="34" charset="-120"/>
                        </a:rPr>
                        <a:t>Вид</a:t>
                      </a:r>
                      <a:endParaRPr lang="en-US" sz="1600" dirty="0">
                        <a:latin typeface="Arial" charset="0"/>
                        <a:ea typeface="Arial" charset="0"/>
                        <a:cs typeface="Arial" charset="0"/>
                      </a:endParaRPr>
                    </a:p>
                  </a:txBody>
                  <a:tcPr marL="71120" marR="71120" marT="71120" marB="71120" anchor="t">
                    <a:lnL w="12700" cap="flat" cmpd="sng" algn="ctr">
                      <a:solidFill>
                        <a:srgbClr val="BEB9AB"/>
                      </a:solidFill>
                      <a:prstDash val="solid"/>
                      <a:round/>
                      <a:headEnd type="none" w="med" len="med"/>
                      <a:tailEnd type="none" w="med" len="med"/>
                    </a:lnL>
                    <a:lnR w="12700" cap="flat" cmpd="sng" algn="ctr">
                      <a:solidFill>
                        <a:srgbClr val="122231"/>
                      </a:solidFill>
                      <a:prstDash val="solid"/>
                      <a:round/>
                      <a:headEnd type="none" w="med" len="med"/>
                      <a:tailEnd type="none" w="med" len="med"/>
                    </a:lnR>
                    <a:lnT w="12700" cap="flat" cmpd="sng" algn="ctr">
                      <a:solidFill>
                        <a:srgbClr val="BEB9AB"/>
                      </a:solidFill>
                      <a:prstDash val="solid"/>
                      <a:round/>
                      <a:headEnd type="none" w="med" len="med"/>
                      <a:tailEnd type="none" w="med" len="med"/>
                    </a:lnT>
                    <a:lnB w="12700" cap="flat" cmpd="sng" algn="ctr">
                      <a:solidFill>
                        <a:srgbClr val="122231"/>
                      </a:solidFill>
                      <a:prstDash val="solid"/>
                      <a:round/>
                      <a:headEnd type="none" w="med" len="med"/>
                      <a:tailEnd type="none" w="med" len="med"/>
                    </a:lnB>
                    <a:solidFill>
                      <a:srgbClr val="12263A"/>
                    </a:solidFill>
                  </a:tcPr>
                </a:tc>
                <a:tc>
                  <a:txBody>
                    <a:bodyPr/>
                    <a:lstStyle/>
                    <a:p>
                      <a:pPr indent="0" marL="0">
                        <a:lnSpc>
                          <a:spcPts val="2240"/>
                        </a:lnSpc>
                        <a:buNone/>
                      </a:pPr>
                      <a:r>
                        <a:rPr lang="en-US" sz="1600" b="1" dirty="0">
                          <a:solidFill>
                            <a:srgbClr val="F7F4EC"/>
                          </a:solidFill>
                          <a:latin typeface="Arial" pitchFamily="34" charset="0"/>
                          <a:ea typeface="Arial" pitchFamily="34" charset="-122"/>
                          <a:cs typeface="Arial" pitchFamily="34" charset="-120"/>
                        </a:rPr>
                        <a:t>На чём основано</a:t>
                      </a:r>
                      <a:endParaRPr lang="en-US" sz="1600" dirty="0">
                        <a:latin typeface="Arial" charset="0"/>
                        <a:ea typeface="Arial" charset="0"/>
                        <a:cs typeface="Arial" charset="0"/>
                      </a:endParaRPr>
                    </a:p>
                  </a:txBody>
                  <a:tcPr marL="71120" marR="71120" marT="71120" marB="71120" anchor="t">
                    <a:lnL w="12700" cap="flat" cmpd="sng" algn="ctr">
                      <a:solidFill>
                        <a:srgbClr val="122231"/>
                      </a:solidFill>
                      <a:prstDash val="solid"/>
                      <a:round/>
                      <a:headEnd type="none" w="med" len="med"/>
                      <a:tailEnd type="none" w="med" len="med"/>
                    </a:lnL>
                    <a:lnR w="12700" cap="flat" cmpd="sng" algn="ctr">
                      <a:solidFill>
                        <a:srgbClr val="122231"/>
                      </a:solidFill>
                      <a:prstDash val="solid"/>
                      <a:round/>
                      <a:headEnd type="none" w="med" len="med"/>
                      <a:tailEnd type="none" w="med" len="med"/>
                    </a:lnR>
                    <a:lnT w="12700" cap="flat" cmpd="sng" algn="ctr">
                      <a:solidFill>
                        <a:srgbClr val="BEB9AB"/>
                      </a:solidFill>
                      <a:prstDash val="solid"/>
                      <a:round/>
                      <a:headEnd type="none" w="med" len="med"/>
                      <a:tailEnd type="none" w="med" len="med"/>
                    </a:lnT>
                    <a:lnB w="12700" cap="flat" cmpd="sng" algn="ctr">
                      <a:solidFill>
                        <a:srgbClr val="122231"/>
                      </a:solidFill>
                      <a:prstDash val="solid"/>
                      <a:round/>
                      <a:headEnd type="none" w="med" len="med"/>
                      <a:tailEnd type="none" w="med" len="med"/>
                    </a:lnB>
                    <a:solidFill>
                      <a:srgbClr val="12263A"/>
                    </a:solidFill>
                  </a:tcPr>
                </a:tc>
              </a:tr>
              <a:tr h="439241">
                <a:tc>
                  <a:txBody>
                    <a:bodyPr/>
                    <a:lstStyle/>
                    <a:p>
                      <a:pPr indent="0" marL="0">
                        <a:lnSpc>
                          <a:spcPts val="2240"/>
                        </a:lnSpc>
                        <a:buNone/>
                      </a:pPr>
                      <a:r>
                        <a:rPr lang="en-US" sz="1600" dirty="0">
                          <a:solidFill>
                            <a:srgbClr val="12263A"/>
                          </a:solidFill>
                          <a:latin typeface="Arial" pitchFamily="34" charset="0"/>
                          <a:ea typeface="Arial" pitchFamily="34" charset="-122"/>
                          <a:cs typeface="Arial" pitchFamily="34" charset="-120"/>
                        </a:rPr>
                        <a:t>Административное</a:t>
                      </a:r>
                      <a:endParaRPr lang="en-US" sz="1600" dirty="0">
                        <a:latin typeface="Arial" charset="0"/>
                        <a:ea typeface="Arial" charset="0"/>
                        <a:cs typeface="Arial" charset="0"/>
                      </a:endParaRPr>
                    </a:p>
                  </a:txBody>
                  <a:tcPr marL="71120" marR="71120" marT="71120" marB="71120" anchor="t">
                    <a:lnL w="12700" cap="flat" cmpd="sng" algn="ctr">
                      <a:solidFill>
                        <a:srgbClr val="BEB9AB"/>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22231"/>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2240"/>
                        </a:lnSpc>
                        <a:buNone/>
                      </a:pPr>
                      <a:r>
                        <a:rPr lang="en-US" sz="1600" dirty="0">
                          <a:solidFill>
                            <a:srgbClr val="12263A"/>
                          </a:solidFill>
                          <a:latin typeface="Arial" pitchFamily="34" charset="0"/>
                          <a:ea typeface="Arial" pitchFamily="34" charset="-122"/>
                          <a:cs typeface="Arial" pitchFamily="34" charset="-120"/>
                        </a:rPr>
                        <a:t>по управлению: субъекты, округа</a:t>
                      </a:r>
                      <a:endParaRPr lang="en-US" sz="1600" dirty="0">
                        <a:latin typeface="Arial" charset="0"/>
                        <a:ea typeface="Arial" charset="0"/>
                        <a:cs typeface="Arial" charset="0"/>
                      </a:endParaRPr>
                    </a:p>
                  </a:txBody>
                  <a:tcPr marL="71120" marR="71120" marT="71120" marB="7112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22231"/>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439241">
                <a:tc>
                  <a:txBody>
                    <a:bodyPr/>
                    <a:lstStyle/>
                    <a:p>
                      <a:pPr indent="0" marL="0">
                        <a:lnSpc>
                          <a:spcPts val="2240"/>
                        </a:lnSpc>
                        <a:buNone/>
                      </a:pPr>
                      <a:r>
                        <a:rPr lang="en-US" sz="1600" dirty="0">
                          <a:solidFill>
                            <a:srgbClr val="12263A"/>
                          </a:solidFill>
                          <a:latin typeface="Arial" pitchFamily="34" charset="0"/>
                          <a:ea typeface="Arial" pitchFamily="34" charset="-122"/>
                          <a:cs typeface="Arial" pitchFamily="34" charset="-120"/>
                        </a:rPr>
                        <a:t>Природное (физико-географическое)</a:t>
                      </a:r>
                      <a:endParaRPr lang="en-US" sz="1600" dirty="0">
                        <a:latin typeface="Arial" charset="0"/>
                        <a:ea typeface="Arial" charset="0"/>
                        <a:cs typeface="Arial" charset="0"/>
                      </a:endParaRPr>
                    </a:p>
                  </a:txBody>
                  <a:tcPr marL="71120" marR="71120" marT="71120" marB="71120" anchor="t">
                    <a:lnL w="12700" cap="flat" cmpd="sng" algn="ctr">
                      <a:solidFill>
                        <a:srgbClr val="BEB9AB"/>
                      </a:solidFill>
                      <a:prstDash val="solid"/>
                      <a:round/>
                      <a:headEnd type="none" w="med" len="med"/>
                      <a:tailEnd type="none" w="med" len="med"/>
                    </a:lnL>
                    <a:lnR w="12700" cap="flat" cmpd="sng" algn="ctr">
                      <a:solidFill>
                        <a:srgbClr val="C4C0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0B5"/>
                      </a:solidFill>
                      <a:prstDash val="solid"/>
                      <a:round/>
                      <a:headEnd type="none" w="med" len="med"/>
                      <a:tailEnd type="none" w="med" len="med"/>
                    </a:lnB>
                    <a:solidFill>
                      <a:srgbClr val="F6F1E3"/>
                    </a:solidFill>
                  </a:tcPr>
                </a:tc>
                <a:tc>
                  <a:txBody>
                    <a:bodyPr/>
                    <a:lstStyle/>
                    <a:p>
                      <a:pPr indent="0" marL="0">
                        <a:lnSpc>
                          <a:spcPts val="2240"/>
                        </a:lnSpc>
                        <a:buNone/>
                      </a:pPr>
                      <a:r>
                        <a:rPr lang="en-US" sz="1600" dirty="0">
                          <a:solidFill>
                            <a:srgbClr val="12263A"/>
                          </a:solidFill>
                          <a:latin typeface="Arial" pitchFamily="34" charset="0"/>
                          <a:ea typeface="Arial" pitchFamily="34" charset="-122"/>
                          <a:cs typeface="Arial" pitchFamily="34" charset="-120"/>
                        </a:rPr>
                        <a:t>по рельефу, климату, природным зонам</a:t>
                      </a:r>
                      <a:endParaRPr lang="en-US" sz="1600" dirty="0">
                        <a:latin typeface="Arial" charset="0"/>
                        <a:ea typeface="Arial" charset="0"/>
                        <a:cs typeface="Arial" charset="0"/>
                      </a:endParaRPr>
                    </a:p>
                  </a:txBody>
                  <a:tcPr marL="71120" marR="71120" marT="71120" marB="71120" anchor="t">
                    <a:lnL w="12700" cap="flat" cmpd="sng" algn="ctr">
                      <a:solidFill>
                        <a:srgbClr val="C4C0B5"/>
                      </a:solidFill>
                      <a:prstDash val="solid"/>
                      <a:round/>
                      <a:headEnd type="none" w="med" len="med"/>
                      <a:tailEnd type="none" w="med" len="med"/>
                    </a:lnL>
                    <a:lnR w="12700" cap="flat" cmpd="sng" algn="ctr">
                      <a:solidFill>
                        <a:srgbClr val="C4C0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0B5"/>
                      </a:solidFill>
                      <a:prstDash val="solid"/>
                      <a:round/>
                      <a:headEnd type="none" w="med" len="med"/>
                      <a:tailEnd type="none" w="med" len="med"/>
                    </a:lnB>
                    <a:solidFill>
                      <a:srgbClr val="F6F1E3"/>
                    </a:solidFill>
                  </a:tcPr>
                </a:tc>
              </a:tr>
              <a:tr h="439241">
                <a:tc>
                  <a:txBody>
                    <a:bodyPr/>
                    <a:lstStyle/>
                    <a:p>
                      <a:pPr indent="0" marL="0">
                        <a:lnSpc>
                          <a:spcPts val="2240"/>
                        </a:lnSpc>
                        <a:buNone/>
                      </a:pPr>
                      <a:r>
                        <a:rPr lang="en-US" sz="1600" dirty="0">
                          <a:solidFill>
                            <a:srgbClr val="12263A"/>
                          </a:solidFill>
                          <a:latin typeface="Arial" pitchFamily="34" charset="0"/>
                          <a:ea typeface="Arial" pitchFamily="34" charset="-122"/>
                          <a:cs typeface="Arial" pitchFamily="34" charset="-120"/>
                        </a:rPr>
                        <a:t>Экономическое</a:t>
                      </a:r>
                      <a:endParaRPr lang="en-US" sz="1600" dirty="0">
                        <a:latin typeface="Arial" charset="0"/>
                        <a:ea typeface="Arial" charset="0"/>
                        <a:cs typeface="Arial" charset="0"/>
                      </a:endParaRPr>
                    </a:p>
                  </a:txBody>
                  <a:tcPr marL="71120" marR="71120" marT="71120" marB="71120" anchor="t">
                    <a:lnL w="12700" cap="flat" cmpd="sng" algn="ctr">
                      <a:solidFill>
                        <a:srgbClr val="BEB9AB"/>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0B5"/>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2240"/>
                        </a:lnSpc>
                        <a:buNone/>
                      </a:pPr>
                      <a:r>
                        <a:rPr lang="en-US" sz="1600" dirty="0">
                          <a:solidFill>
                            <a:srgbClr val="12263A"/>
                          </a:solidFill>
                          <a:latin typeface="Arial" pitchFamily="34" charset="0"/>
                          <a:ea typeface="Arial" pitchFamily="34" charset="-122"/>
                          <a:cs typeface="Arial" pitchFamily="34" charset="-120"/>
                        </a:rPr>
                        <a:t>по специализации хозяйства и связям</a:t>
                      </a:r>
                      <a:endParaRPr lang="en-US" sz="1600" dirty="0">
                        <a:latin typeface="Arial" charset="0"/>
                        <a:ea typeface="Arial" charset="0"/>
                        <a:cs typeface="Arial" charset="0"/>
                      </a:endParaRPr>
                    </a:p>
                  </a:txBody>
                  <a:tcPr marL="71120" marR="71120" marT="71120" marB="7112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0B5"/>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439241">
                <a:tc>
                  <a:txBody>
                    <a:bodyPr/>
                    <a:lstStyle/>
                    <a:p>
                      <a:pPr indent="0" marL="0">
                        <a:lnSpc>
                          <a:spcPts val="2240"/>
                        </a:lnSpc>
                        <a:buNone/>
                      </a:pPr>
                      <a:r>
                        <a:rPr lang="en-US" sz="1600" dirty="0">
                          <a:solidFill>
                            <a:srgbClr val="12263A"/>
                          </a:solidFill>
                          <a:latin typeface="Arial" pitchFamily="34" charset="0"/>
                          <a:ea typeface="Arial" pitchFamily="34" charset="-122"/>
                          <a:cs typeface="Arial" pitchFamily="34" charset="-120"/>
                        </a:rPr>
                        <a:t>Историко-культурное</a:t>
                      </a:r>
                      <a:endParaRPr lang="en-US" sz="1600" dirty="0">
                        <a:latin typeface="Arial" charset="0"/>
                        <a:ea typeface="Arial" charset="0"/>
                        <a:cs typeface="Arial" charset="0"/>
                      </a:endParaRPr>
                    </a:p>
                  </a:txBody>
                  <a:tcPr marL="71120" marR="71120" marT="71120" marB="71120" anchor="t">
                    <a:lnL w="12700" cap="flat" cmpd="sng" algn="ctr">
                      <a:solidFill>
                        <a:srgbClr val="BEB9AB"/>
                      </a:solidFill>
                      <a:prstDash val="solid"/>
                      <a:round/>
                      <a:headEnd type="none" w="med" len="med"/>
                      <a:tailEnd type="none" w="med" len="med"/>
                    </a:lnL>
                    <a:lnR w="12700" cap="flat" cmpd="sng" algn="ctr">
                      <a:solidFill>
                        <a:srgbClr val="C4C0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0B5"/>
                      </a:solidFill>
                      <a:prstDash val="solid"/>
                      <a:round/>
                      <a:headEnd type="none" w="med" len="med"/>
                      <a:tailEnd type="none" w="med" len="med"/>
                    </a:lnB>
                    <a:solidFill>
                      <a:srgbClr val="F6F1E3"/>
                    </a:solidFill>
                  </a:tcPr>
                </a:tc>
                <a:tc>
                  <a:txBody>
                    <a:bodyPr/>
                    <a:lstStyle/>
                    <a:p>
                      <a:pPr indent="0" marL="0">
                        <a:lnSpc>
                          <a:spcPts val="2240"/>
                        </a:lnSpc>
                        <a:buNone/>
                      </a:pPr>
                      <a:r>
                        <a:rPr lang="en-US" sz="1600" dirty="0">
                          <a:solidFill>
                            <a:srgbClr val="12263A"/>
                          </a:solidFill>
                          <a:latin typeface="Arial" pitchFamily="34" charset="0"/>
                          <a:ea typeface="Arial" pitchFamily="34" charset="-122"/>
                          <a:cs typeface="Arial" pitchFamily="34" charset="-120"/>
                        </a:rPr>
                        <a:t>по этническому составу, традициям, истории</a:t>
                      </a:r>
                      <a:endParaRPr lang="en-US" sz="1600" dirty="0">
                        <a:latin typeface="Arial" charset="0"/>
                        <a:ea typeface="Arial" charset="0"/>
                        <a:cs typeface="Arial" charset="0"/>
                      </a:endParaRPr>
                    </a:p>
                  </a:txBody>
                  <a:tcPr marL="71120" marR="71120" marT="71120" marB="71120" anchor="t">
                    <a:lnL w="12700" cap="flat" cmpd="sng" algn="ctr">
                      <a:solidFill>
                        <a:srgbClr val="C4C0B5"/>
                      </a:solidFill>
                      <a:prstDash val="solid"/>
                      <a:round/>
                      <a:headEnd type="none" w="med" len="med"/>
                      <a:tailEnd type="none" w="med" len="med"/>
                    </a:lnL>
                    <a:lnR w="12700" cap="flat" cmpd="sng" algn="ctr">
                      <a:solidFill>
                        <a:srgbClr val="C4C0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0B5"/>
                      </a:solidFill>
                      <a:prstDash val="solid"/>
                      <a:round/>
                      <a:headEnd type="none" w="med" len="med"/>
                      <a:tailEnd type="none" w="med" len="med"/>
                    </a:lnB>
                    <a:solidFill>
                      <a:srgbClr val="F6F1E3"/>
                    </a:solidFill>
                  </a:tcPr>
                </a:tc>
              </a:tr>
              <a:tr h="439241">
                <a:tc>
                  <a:txBody>
                    <a:bodyPr/>
                    <a:lstStyle/>
                    <a:p>
                      <a:pPr indent="0" marL="0">
                        <a:lnSpc>
                          <a:spcPts val="2240"/>
                        </a:lnSpc>
                        <a:buNone/>
                      </a:pPr>
                      <a:r>
                        <a:rPr lang="en-US" sz="1600" dirty="0">
                          <a:solidFill>
                            <a:srgbClr val="12263A"/>
                          </a:solidFill>
                          <a:latin typeface="Arial" pitchFamily="34" charset="0"/>
                          <a:ea typeface="Arial" pitchFamily="34" charset="-122"/>
                          <a:cs typeface="Arial" pitchFamily="34" charset="-120"/>
                        </a:rPr>
                        <a:t>Комплексное (интегральное)</a:t>
                      </a:r>
                      <a:endParaRPr lang="en-US" sz="1600" dirty="0">
                        <a:latin typeface="Arial" charset="0"/>
                        <a:ea typeface="Arial" charset="0"/>
                        <a:cs typeface="Arial" charset="0"/>
                      </a:endParaRPr>
                    </a:p>
                  </a:txBody>
                  <a:tcPr marL="71120" marR="71120" marT="71120" marB="71120" anchor="t">
                    <a:lnL w="12700" cap="flat" cmpd="sng" algn="ctr">
                      <a:solidFill>
                        <a:srgbClr val="BEB9AB"/>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0B5"/>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2240"/>
                        </a:lnSpc>
                        <a:buNone/>
                      </a:pPr>
                      <a:r>
                        <a:rPr lang="en-US" sz="1600" dirty="0">
                          <a:solidFill>
                            <a:srgbClr val="12263A"/>
                          </a:solidFill>
                          <a:latin typeface="Arial" pitchFamily="34" charset="0"/>
                          <a:ea typeface="Arial" pitchFamily="34" charset="-122"/>
                          <a:cs typeface="Arial" pitchFamily="34" charset="-120"/>
                        </a:rPr>
                        <a:t>учитывает природу, хозяйство и население</a:t>
                      </a:r>
                      <a:endParaRPr lang="en-US" sz="1600" dirty="0">
                        <a:latin typeface="Arial" charset="0"/>
                        <a:ea typeface="Arial" charset="0"/>
                        <a:cs typeface="Arial" charset="0"/>
                      </a:endParaRPr>
                    </a:p>
                  </a:txBody>
                  <a:tcPr marL="71120" marR="71120" marT="71120" marB="7112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0B5"/>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bl>
          </a:graphicData>
        </a:graphic>
      </p:graphicFrame>
      <p:sp>
        <p:nvSpPr>
          <p:cNvPr id="5" name="Shape 2"/>
          <p:cNvSpPr/>
          <p:nvPr/>
        </p:nvSpPr>
        <p:spPr>
          <a:xfrm>
            <a:off x="812800" y="4648398"/>
            <a:ext cx="10566400" cy="914400"/>
          </a:xfrm>
          <a:prstGeom prst="roundRect">
            <a:avLst>
              <a:gd name="adj" fmla="val 13889"/>
            </a:avLst>
          </a:prstGeom>
          <a:solidFill>
            <a:srgbClr val="DCEBEA"/>
          </a:solidFill>
          <a:ln/>
        </p:spPr>
      </p:sp>
      <p:sp>
        <p:nvSpPr>
          <p:cNvPr id="6" name="Text 3"/>
          <p:cNvSpPr/>
          <p:nvPr/>
        </p:nvSpPr>
        <p:spPr>
          <a:xfrm>
            <a:off x="1041400" y="4826198"/>
            <a:ext cx="10412476" cy="58420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2263A"/>
                </a:solidFill>
                <a:latin typeface="Arial" pitchFamily="34" charset="0"/>
                <a:ea typeface="Arial" pitchFamily="34" charset="-122"/>
                <a:cs typeface="Arial" pitchFamily="34" charset="-120"/>
              </a:rPr>
              <a:t>Принципы районирования:</a:t>
            </a:r>
            <a:r>
              <a:rPr lang="en-US" sz="1600" dirty="0">
                <a:solidFill>
                  <a:srgbClr val="12263A"/>
                </a:solidFill>
                <a:latin typeface="Arial" pitchFamily="34" charset="0"/>
                <a:ea typeface="Arial" pitchFamily="34" charset="-122"/>
                <a:cs typeface="Arial" pitchFamily="34" charset="-120"/>
              </a:rPr>
              <a:t> однородность территории, целостность, наличие центра, учёт хозяйственных связей.</a:t>
            </a:r>
            <a:endParaRPr lang="en-US" sz="1600" dirty="0"/>
          </a:p>
        </p:txBody>
      </p:sp>
      <p:sp>
        <p:nvSpPr>
          <p:cNvPr id="7" name="Text 4"/>
          <p:cNvSpPr/>
          <p:nvPr/>
        </p:nvSpPr>
        <p:spPr>
          <a:xfrm>
            <a:off x="812800" y="624205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672"/>
                </a:solidFill>
                <a:latin typeface="Arial" pitchFamily="34" charset="0"/>
                <a:ea typeface="Arial" pitchFamily="34" charset="-122"/>
                <a:cs typeface="Arial" pitchFamily="34" charset="-120"/>
              </a:rPr>
              <a:t>09 / 17 · География, 8 класс · Федеративное устройство и районы России</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70F"/>
                </a:solidFill>
                <a:latin typeface="Arial" pitchFamily="34" charset="0"/>
                <a:ea typeface="Arial" pitchFamily="34" charset="-122"/>
                <a:cs typeface="Arial" pitchFamily="34" charset="-120"/>
              </a:rPr>
              <a:t>Блок 2 · Округа и районирование</a:t>
            </a:r>
            <a:endParaRPr lang="en-US" sz="1200" dirty="0"/>
          </a:p>
        </p:txBody>
      </p:sp>
      <p:sp>
        <p:nvSpPr>
          <p:cNvPr id="3" name="Text 1"/>
          <p:cNvSpPr/>
          <p:nvPr>
            <p:ph type="title"/>
          </p:nvPr>
        </p:nvSpPr>
        <p:spPr>
          <a:xfrm>
            <a:off x="812800" y="1200150"/>
            <a:ext cx="10883392" cy="46990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63A"/>
                </a:solidFill>
                <a:latin typeface="Arial" pitchFamily="34" charset="0"/>
                <a:ea typeface="Arial" pitchFamily="34" charset="-122"/>
                <a:cs typeface="Arial" pitchFamily="34" charset="-120"/>
              </a:rPr>
              <a:t>Восемь федеральных округов</a:t>
            </a:r>
            <a:endParaRPr lang="en-US" sz="3200" dirty="0"/>
          </a:p>
        </p:txBody>
      </p:sp>
      <p:sp>
        <p:nvSpPr>
          <p:cNvPr id="4" name="Shape 2"/>
          <p:cNvSpPr/>
          <p:nvPr/>
        </p:nvSpPr>
        <p:spPr>
          <a:xfrm>
            <a:off x="815975" y="1825625"/>
            <a:ext cx="5213350" cy="514350"/>
          </a:xfrm>
          <a:prstGeom prst="roundRect">
            <a:avLst>
              <a:gd name="adj" fmla="val 19136"/>
            </a:avLst>
          </a:prstGeom>
          <a:solidFill>
            <a:srgbClr val="FFFDF8"/>
          </a:solidFill>
          <a:ln w="6350">
            <a:solidFill>
              <a:srgbClr val="E2DCCB"/>
            </a:solidFill>
            <a:prstDash val="solid"/>
          </a:ln>
        </p:spPr>
      </p:sp>
      <p:sp>
        <p:nvSpPr>
          <p:cNvPr id="5" name="Text 3"/>
          <p:cNvSpPr/>
          <p:nvPr/>
        </p:nvSpPr>
        <p:spPr>
          <a:xfrm>
            <a:off x="1022350" y="1962150"/>
            <a:ext cx="1678186"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63A"/>
                </a:solidFill>
                <a:latin typeface="Arial" pitchFamily="34" charset="0"/>
                <a:ea typeface="Arial" pitchFamily="34" charset="-122"/>
                <a:cs typeface="Arial" pitchFamily="34" charset="-120"/>
              </a:rPr>
              <a:t>Центральный</a:t>
            </a:r>
            <a:endParaRPr lang="en-US" sz="1600" dirty="0"/>
          </a:p>
        </p:txBody>
      </p:sp>
      <p:sp>
        <p:nvSpPr>
          <p:cNvPr id="6" name="Text 4"/>
          <p:cNvSpPr/>
          <p:nvPr/>
        </p:nvSpPr>
        <p:spPr>
          <a:xfrm>
            <a:off x="4934148" y="1943100"/>
            <a:ext cx="888802" cy="304800"/>
          </a:xfrm>
          <a:prstGeom prst="rect">
            <a:avLst/>
          </a:prstGeom>
          <a:noFill/>
          <a:ln/>
        </p:spPr>
        <p:txBody>
          <a:bodyPr wrap="square" lIns="0" tIns="0" rIns="0" bIns="0" rtlCol="0" anchor="t">
            <a:normAutofit/>
          </a:bodyPr>
          <a:lstStyle/>
          <a:p>
            <a:pPr algn="r" indent="0" marL="0">
              <a:lnSpc>
                <a:spcPts val="2240"/>
              </a:lnSpc>
              <a:buNone/>
            </a:pPr>
            <a:r>
              <a:rPr lang="en-US" sz="1600" b="1" dirty="0">
                <a:solidFill>
                  <a:srgbClr val="1F6F78"/>
                </a:solidFill>
                <a:latin typeface="Arial" pitchFamily="34" charset="0"/>
                <a:ea typeface="Arial" pitchFamily="34" charset="-122"/>
                <a:cs typeface="Arial" pitchFamily="34" charset="-120"/>
              </a:rPr>
              <a:t>Москва</a:t>
            </a:r>
            <a:endParaRPr lang="en-US" sz="1600" dirty="0"/>
          </a:p>
        </p:txBody>
      </p:sp>
      <p:sp>
        <p:nvSpPr>
          <p:cNvPr id="7" name="Shape 5"/>
          <p:cNvSpPr/>
          <p:nvPr/>
        </p:nvSpPr>
        <p:spPr>
          <a:xfrm>
            <a:off x="6162675" y="1825625"/>
            <a:ext cx="5213350" cy="514350"/>
          </a:xfrm>
          <a:prstGeom prst="roundRect">
            <a:avLst>
              <a:gd name="adj" fmla="val 19136"/>
            </a:avLst>
          </a:prstGeom>
          <a:solidFill>
            <a:srgbClr val="FFFDF8"/>
          </a:solidFill>
          <a:ln w="6350">
            <a:solidFill>
              <a:srgbClr val="E2DCCB"/>
            </a:solidFill>
            <a:prstDash val="solid"/>
          </a:ln>
        </p:spPr>
      </p:sp>
      <p:sp>
        <p:nvSpPr>
          <p:cNvPr id="8" name="Text 6"/>
          <p:cNvSpPr/>
          <p:nvPr/>
        </p:nvSpPr>
        <p:spPr>
          <a:xfrm>
            <a:off x="6369050" y="1962150"/>
            <a:ext cx="2204561"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63A"/>
                </a:solidFill>
                <a:latin typeface="Arial" pitchFamily="34" charset="0"/>
                <a:ea typeface="Arial" pitchFamily="34" charset="-122"/>
                <a:cs typeface="Arial" pitchFamily="34" charset="-120"/>
              </a:rPr>
              <a:t>Северо-Западный</a:t>
            </a:r>
            <a:endParaRPr lang="en-US" sz="1600" dirty="0"/>
          </a:p>
        </p:txBody>
      </p:sp>
      <p:sp>
        <p:nvSpPr>
          <p:cNvPr id="9" name="Text 7"/>
          <p:cNvSpPr/>
          <p:nvPr/>
        </p:nvSpPr>
        <p:spPr>
          <a:xfrm>
            <a:off x="9143087" y="1943100"/>
            <a:ext cx="2026563" cy="304800"/>
          </a:xfrm>
          <a:prstGeom prst="rect">
            <a:avLst/>
          </a:prstGeom>
          <a:noFill/>
          <a:ln/>
        </p:spPr>
        <p:txBody>
          <a:bodyPr wrap="square" lIns="0" tIns="0" rIns="0" bIns="0" rtlCol="0" anchor="t">
            <a:normAutofit/>
          </a:bodyPr>
          <a:lstStyle/>
          <a:p>
            <a:pPr algn="r" indent="0" marL="0">
              <a:lnSpc>
                <a:spcPts val="2240"/>
              </a:lnSpc>
              <a:buNone/>
            </a:pPr>
            <a:r>
              <a:rPr lang="en-US" sz="1600" b="1" dirty="0">
                <a:solidFill>
                  <a:srgbClr val="1F6F78"/>
                </a:solidFill>
                <a:latin typeface="Arial" pitchFamily="34" charset="0"/>
                <a:ea typeface="Arial" pitchFamily="34" charset="-122"/>
                <a:cs typeface="Arial" pitchFamily="34" charset="-120"/>
              </a:rPr>
              <a:t>Санкт-Петербург</a:t>
            </a:r>
            <a:endParaRPr lang="en-US" sz="1600" dirty="0"/>
          </a:p>
        </p:txBody>
      </p:sp>
      <p:sp>
        <p:nvSpPr>
          <p:cNvPr id="10" name="Shape 8"/>
          <p:cNvSpPr/>
          <p:nvPr/>
        </p:nvSpPr>
        <p:spPr>
          <a:xfrm>
            <a:off x="815975" y="2473325"/>
            <a:ext cx="5213350" cy="514350"/>
          </a:xfrm>
          <a:prstGeom prst="roundRect">
            <a:avLst>
              <a:gd name="adj" fmla="val 19136"/>
            </a:avLst>
          </a:prstGeom>
          <a:solidFill>
            <a:srgbClr val="FFFDF8"/>
          </a:solidFill>
          <a:ln w="6350">
            <a:solidFill>
              <a:srgbClr val="E2DCCB"/>
            </a:solidFill>
            <a:prstDash val="solid"/>
          </a:ln>
        </p:spPr>
      </p:sp>
      <p:sp>
        <p:nvSpPr>
          <p:cNvPr id="11" name="Text 9"/>
          <p:cNvSpPr/>
          <p:nvPr/>
        </p:nvSpPr>
        <p:spPr>
          <a:xfrm>
            <a:off x="1022350" y="2609850"/>
            <a:ext cx="932736"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63A"/>
                </a:solidFill>
                <a:latin typeface="Arial" pitchFamily="34" charset="0"/>
                <a:ea typeface="Arial" pitchFamily="34" charset="-122"/>
                <a:cs typeface="Arial" pitchFamily="34" charset="-120"/>
              </a:rPr>
              <a:t>Южный</a:t>
            </a:r>
            <a:endParaRPr lang="en-US" sz="1600" dirty="0"/>
          </a:p>
        </p:txBody>
      </p:sp>
      <p:sp>
        <p:nvSpPr>
          <p:cNvPr id="12" name="Text 10"/>
          <p:cNvSpPr/>
          <p:nvPr/>
        </p:nvSpPr>
        <p:spPr>
          <a:xfrm>
            <a:off x="3916164" y="2590800"/>
            <a:ext cx="1906786" cy="304800"/>
          </a:xfrm>
          <a:prstGeom prst="rect">
            <a:avLst/>
          </a:prstGeom>
          <a:noFill/>
          <a:ln/>
        </p:spPr>
        <p:txBody>
          <a:bodyPr wrap="square" lIns="0" tIns="0" rIns="0" bIns="0" rtlCol="0" anchor="t">
            <a:normAutofit/>
          </a:bodyPr>
          <a:lstStyle/>
          <a:p>
            <a:pPr algn="r" indent="0" marL="0">
              <a:lnSpc>
                <a:spcPts val="2240"/>
              </a:lnSpc>
              <a:buNone/>
            </a:pPr>
            <a:r>
              <a:rPr lang="en-US" sz="1600" b="1" dirty="0">
                <a:solidFill>
                  <a:srgbClr val="1F6F78"/>
                </a:solidFill>
                <a:latin typeface="Arial" pitchFamily="34" charset="0"/>
                <a:ea typeface="Arial" pitchFamily="34" charset="-122"/>
                <a:cs typeface="Arial" pitchFamily="34" charset="-120"/>
              </a:rPr>
              <a:t>Ростов-на-Дону</a:t>
            </a:r>
            <a:endParaRPr lang="en-US" sz="1600" dirty="0"/>
          </a:p>
        </p:txBody>
      </p:sp>
      <p:sp>
        <p:nvSpPr>
          <p:cNvPr id="13" name="Shape 11"/>
          <p:cNvSpPr/>
          <p:nvPr/>
        </p:nvSpPr>
        <p:spPr>
          <a:xfrm>
            <a:off x="6162675" y="2473325"/>
            <a:ext cx="5213350" cy="514350"/>
          </a:xfrm>
          <a:prstGeom prst="roundRect">
            <a:avLst>
              <a:gd name="adj" fmla="val 19136"/>
            </a:avLst>
          </a:prstGeom>
          <a:solidFill>
            <a:srgbClr val="FFFDF8"/>
          </a:solidFill>
          <a:ln w="6350">
            <a:solidFill>
              <a:srgbClr val="E2DCCB"/>
            </a:solidFill>
            <a:prstDash val="solid"/>
          </a:ln>
        </p:spPr>
      </p:sp>
      <p:sp>
        <p:nvSpPr>
          <p:cNvPr id="14" name="Text 12"/>
          <p:cNvSpPr/>
          <p:nvPr/>
        </p:nvSpPr>
        <p:spPr>
          <a:xfrm>
            <a:off x="6369050" y="2609850"/>
            <a:ext cx="2343626"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63A"/>
                </a:solidFill>
                <a:latin typeface="Arial" pitchFamily="34" charset="0"/>
                <a:ea typeface="Arial" pitchFamily="34" charset="-122"/>
                <a:cs typeface="Arial" pitchFamily="34" charset="-120"/>
              </a:rPr>
              <a:t>Северо-Кавказский</a:t>
            </a:r>
            <a:endParaRPr lang="en-US" sz="1600" dirty="0"/>
          </a:p>
        </p:txBody>
      </p:sp>
      <p:sp>
        <p:nvSpPr>
          <p:cNvPr id="15" name="Text 13"/>
          <p:cNvSpPr/>
          <p:nvPr/>
        </p:nvSpPr>
        <p:spPr>
          <a:xfrm>
            <a:off x="9928900" y="2590800"/>
            <a:ext cx="1240750" cy="304800"/>
          </a:xfrm>
          <a:prstGeom prst="rect">
            <a:avLst/>
          </a:prstGeom>
          <a:noFill/>
          <a:ln/>
        </p:spPr>
        <p:txBody>
          <a:bodyPr wrap="square" lIns="0" tIns="0" rIns="0" bIns="0" rtlCol="0" anchor="t">
            <a:normAutofit/>
          </a:bodyPr>
          <a:lstStyle/>
          <a:p>
            <a:pPr algn="r" indent="0" marL="0">
              <a:lnSpc>
                <a:spcPts val="2240"/>
              </a:lnSpc>
              <a:buNone/>
            </a:pPr>
            <a:r>
              <a:rPr lang="en-US" sz="1600" b="1" dirty="0">
                <a:solidFill>
                  <a:srgbClr val="1F6F78"/>
                </a:solidFill>
                <a:latin typeface="Arial" pitchFamily="34" charset="0"/>
                <a:ea typeface="Arial" pitchFamily="34" charset="-122"/>
                <a:cs typeface="Arial" pitchFamily="34" charset="-120"/>
              </a:rPr>
              <a:t>Пятигорск</a:t>
            </a:r>
            <a:endParaRPr lang="en-US" sz="1600" dirty="0"/>
          </a:p>
        </p:txBody>
      </p:sp>
      <p:sp>
        <p:nvSpPr>
          <p:cNvPr id="16" name="Shape 14"/>
          <p:cNvSpPr/>
          <p:nvPr/>
        </p:nvSpPr>
        <p:spPr>
          <a:xfrm>
            <a:off x="815975" y="3121025"/>
            <a:ext cx="5213350" cy="514350"/>
          </a:xfrm>
          <a:prstGeom prst="roundRect">
            <a:avLst>
              <a:gd name="adj" fmla="val 19136"/>
            </a:avLst>
          </a:prstGeom>
          <a:solidFill>
            <a:srgbClr val="FFFDF8"/>
          </a:solidFill>
          <a:ln w="6350">
            <a:solidFill>
              <a:srgbClr val="E2DCCB"/>
            </a:solidFill>
            <a:prstDash val="solid"/>
          </a:ln>
        </p:spPr>
      </p:sp>
      <p:sp>
        <p:nvSpPr>
          <p:cNvPr id="17" name="Text 15"/>
          <p:cNvSpPr/>
          <p:nvPr/>
        </p:nvSpPr>
        <p:spPr>
          <a:xfrm>
            <a:off x="1022350" y="3257550"/>
            <a:ext cx="1645682"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63A"/>
                </a:solidFill>
                <a:latin typeface="Arial" pitchFamily="34" charset="0"/>
                <a:ea typeface="Arial" pitchFamily="34" charset="-122"/>
                <a:cs typeface="Arial" pitchFamily="34" charset="-120"/>
              </a:rPr>
              <a:t>Приволжский</a:t>
            </a:r>
            <a:endParaRPr lang="en-US" sz="1600" dirty="0"/>
          </a:p>
        </p:txBody>
      </p:sp>
      <p:sp>
        <p:nvSpPr>
          <p:cNvPr id="18" name="Text 16"/>
          <p:cNvSpPr/>
          <p:nvPr/>
        </p:nvSpPr>
        <p:spPr>
          <a:xfrm>
            <a:off x="3637558" y="3238500"/>
            <a:ext cx="2185392" cy="304800"/>
          </a:xfrm>
          <a:prstGeom prst="rect">
            <a:avLst/>
          </a:prstGeom>
          <a:noFill/>
          <a:ln/>
        </p:spPr>
        <p:txBody>
          <a:bodyPr wrap="square" lIns="0" tIns="0" rIns="0" bIns="0" rtlCol="0" anchor="t">
            <a:normAutofit/>
          </a:bodyPr>
          <a:lstStyle/>
          <a:p>
            <a:pPr algn="r" indent="0" marL="0">
              <a:lnSpc>
                <a:spcPts val="2240"/>
              </a:lnSpc>
              <a:buNone/>
            </a:pPr>
            <a:r>
              <a:rPr lang="en-US" sz="1600" b="1" dirty="0">
                <a:solidFill>
                  <a:srgbClr val="1F6F78"/>
                </a:solidFill>
                <a:latin typeface="Arial" pitchFamily="34" charset="0"/>
                <a:ea typeface="Arial" pitchFamily="34" charset="-122"/>
                <a:cs typeface="Arial" pitchFamily="34" charset="-120"/>
              </a:rPr>
              <a:t>Нижний Новгород</a:t>
            </a:r>
            <a:endParaRPr lang="en-US" sz="1600" dirty="0"/>
          </a:p>
        </p:txBody>
      </p:sp>
      <p:sp>
        <p:nvSpPr>
          <p:cNvPr id="19" name="Shape 17"/>
          <p:cNvSpPr/>
          <p:nvPr/>
        </p:nvSpPr>
        <p:spPr>
          <a:xfrm>
            <a:off x="6162675" y="3121025"/>
            <a:ext cx="5213350" cy="514350"/>
          </a:xfrm>
          <a:prstGeom prst="roundRect">
            <a:avLst>
              <a:gd name="adj" fmla="val 19136"/>
            </a:avLst>
          </a:prstGeom>
          <a:solidFill>
            <a:srgbClr val="FFFDF8"/>
          </a:solidFill>
          <a:ln w="6350">
            <a:solidFill>
              <a:srgbClr val="E2DCCB"/>
            </a:solidFill>
            <a:prstDash val="solid"/>
          </a:ln>
        </p:spPr>
      </p:sp>
      <p:sp>
        <p:nvSpPr>
          <p:cNvPr id="20" name="Text 18"/>
          <p:cNvSpPr/>
          <p:nvPr/>
        </p:nvSpPr>
        <p:spPr>
          <a:xfrm>
            <a:off x="6369050" y="3257550"/>
            <a:ext cx="1289209"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63A"/>
                </a:solidFill>
                <a:latin typeface="Arial" pitchFamily="34" charset="0"/>
                <a:ea typeface="Arial" pitchFamily="34" charset="-122"/>
                <a:cs typeface="Arial" pitchFamily="34" charset="-120"/>
              </a:rPr>
              <a:t>Уральский</a:t>
            </a:r>
            <a:endParaRPr lang="en-US" sz="1600" dirty="0"/>
          </a:p>
        </p:txBody>
      </p:sp>
      <p:sp>
        <p:nvSpPr>
          <p:cNvPr id="21" name="Text 19"/>
          <p:cNvSpPr/>
          <p:nvPr/>
        </p:nvSpPr>
        <p:spPr>
          <a:xfrm>
            <a:off x="9517896" y="3238500"/>
            <a:ext cx="1651754" cy="304800"/>
          </a:xfrm>
          <a:prstGeom prst="rect">
            <a:avLst/>
          </a:prstGeom>
          <a:noFill/>
          <a:ln/>
        </p:spPr>
        <p:txBody>
          <a:bodyPr wrap="square" lIns="0" tIns="0" rIns="0" bIns="0" rtlCol="0" anchor="t">
            <a:normAutofit/>
          </a:bodyPr>
          <a:lstStyle/>
          <a:p>
            <a:pPr algn="r" indent="0" marL="0">
              <a:lnSpc>
                <a:spcPts val="2240"/>
              </a:lnSpc>
              <a:buNone/>
            </a:pPr>
            <a:r>
              <a:rPr lang="en-US" sz="1600" b="1" dirty="0">
                <a:solidFill>
                  <a:srgbClr val="1F6F78"/>
                </a:solidFill>
                <a:latin typeface="Arial" pitchFamily="34" charset="0"/>
                <a:ea typeface="Arial" pitchFamily="34" charset="-122"/>
                <a:cs typeface="Arial" pitchFamily="34" charset="-120"/>
              </a:rPr>
              <a:t>Екатеринбург</a:t>
            </a:r>
            <a:endParaRPr lang="en-US" sz="1600" dirty="0"/>
          </a:p>
        </p:txBody>
      </p:sp>
      <p:sp>
        <p:nvSpPr>
          <p:cNvPr id="22" name="Shape 20"/>
          <p:cNvSpPr/>
          <p:nvPr/>
        </p:nvSpPr>
        <p:spPr>
          <a:xfrm>
            <a:off x="815975" y="3768725"/>
            <a:ext cx="5213350" cy="698500"/>
          </a:xfrm>
          <a:prstGeom prst="roundRect">
            <a:avLst>
              <a:gd name="adj" fmla="val 14091"/>
            </a:avLst>
          </a:prstGeom>
          <a:solidFill>
            <a:srgbClr val="FFFDF8"/>
          </a:solidFill>
          <a:ln w="6350">
            <a:solidFill>
              <a:srgbClr val="E2DCCB"/>
            </a:solidFill>
            <a:prstDash val="solid"/>
          </a:ln>
        </p:spPr>
      </p:sp>
      <p:sp>
        <p:nvSpPr>
          <p:cNvPr id="23" name="Text 21"/>
          <p:cNvSpPr/>
          <p:nvPr/>
        </p:nvSpPr>
        <p:spPr>
          <a:xfrm>
            <a:off x="1022350" y="3997325"/>
            <a:ext cx="1332905"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63A"/>
                </a:solidFill>
                <a:latin typeface="Arial" pitchFamily="34" charset="0"/>
                <a:ea typeface="Arial" pitchFamily="34" charset="-122"/>
                <a:cs typeface="Arial" pitchFamily="34" charset="-120"/>
              </a:rPr>
              <a:t>Сибирский</a:t>
            </a:r>
            <a:endParaRPr lang="en-US" sz="1600" dirty="0"/>
          </a:p>
        </p:txBody>
      </p:sp>
      <p:sp>
        <p:nvSpPr>
          <p:cNvPr id="24" name="Text 22"/>
          <p:cNvSpPr/>
          <p:nvPr/>
        </p:nvSpPr>
        <p:spPr>
          <a:xfrm>
            <a:off x="4212868" y="3978275"/>
            <a:ext cx="1610082" cy="304800"/>
          </a:xfrm>
          <a:prstGeom prst="rect">
            <a:avLst/>
          </a:prstGeom>
          <a:noFill/>
          <a:ln/>
        </p:spPr>
        <p:txBody>
          <a:bodyPr wrap="square" lIns="0" tIns="0" rIns="0" bIns="0" rtlCol="0" anchor="t">
            <a:normAutofit/>
          </a:bodyPr>
          <a:lstStyle/>
          <a:p>
            <a:pPr algn="r" indent="0" marL="0">
              <a:lnSpc>
                <a:spcPts val="2240"/>
              </a:lnSpc>
              <a:buNone/>
            </a:pPr>
            <a:r>
              <a:rPr lang="en-US" sz="1600" b="1" dirty="0">
                <a:solidFill>
                  <a:srgbClr val="1F6F78"/>
                </a:solidFill>
                <a:latin typeface="Arial" pitchFamily="34" charset="0"/>
                <a:ea typeface="Arial" pitchFamily="34" charset="-122"/>
                <a:cs typeface="Arial" pitchFamily="34" charset="-120"/>
              </a:rPr>
              <a:t>Новосибирск</a:t>
            </a:r>
            <a:endParaRPr lang="en-US" sz="1600" dirty="0"/>
          </a:p>
        </p:txBody>
      </p:sp>
      <p:sp>
        <p:nvSpPr>
          <p:cNvPr id="25" name="Shape 23"/>
          <p:cNvSpPr/>
          <p:nvPr/>
        </p:nvSpPr>
        <p:spPr>
          <a:xfrm>
            <a:off x="6162675" y="3768725"/>
            <a:ext cx="5213350" cy="698500"/>
          </a:xfrm>
          <a:prstGeom prst="roundRect">
            <a:avLst>
              <a:gd name="adj" fmla="val 14091"/>
            </a:avLst>
          </a:prstGeom>
          <a:solidFill>
            <a:srgbClr val="FFFDF8"/>
          </a:solidFill>
          <a:ln w="6350">
            <a:solidFill>
              <a:srgbClr val="E2DCCB"/>
            </a:solidFill>
            <a:prstDash val="solid"/>
          </a:ln>
        </p:spPr>
      </p:sp>
      <p:sp>
        <p:nvSpPr>
          <p:cNvPr id="26" name="Text 24"/>
          <p:cNvSpPr/>
          <p:nvPr/>
        </p:nvSpPr>
        <p:spPr>
          <a:xfrm>
            <a:off x="6369050" y="3886200"/>
            <a:ext cx="2953138"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63A"/>
                </a:solidFill>
                <a:latin typeface="Arial" pitchFamily="34" charset="0"/>
                <a:ea typeface="Arial" pitchFamily="34" charset="-122"/>
                <a:cs typeface="Arial" pitchFamily="34" charset="-120"/>
              </a:rPr>
              <a:t>Дальневосточный</a:t>
            </a:r>
            <a:endParaRPr lang="en-US" sz="1600" dirty="0"/>
          </a:p>
        </p:txBody>
      </p:sp>
      <p:sp>
        <p:nvSpPr>
          <p:cNvPr id="27" name="Text 25"/>
          <p:cNvSpPr/>
          <p:nvPr/>
        </p:nvSpPr>
        <p:spPr>
          <a:xfrm>
            <a:off x="6369050" y="4140200"/>
            <a:ext cx="3172817"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672"/>
                </a:solidFill>
                <a:latin typeface="Arial" pitchFamily="34" charset="0"/>
                <a:ea typeface="Arial" pitchFamily="34" charset="-122"/>
                <a:cs typeface="Arial" pitchFamily="34" charset="-120"/>
              </a:rPr>
              <a:t>центр с 2018 года, раньше — Хабаровск</a:t>
            </a:r>
            <a:endParaRPr lang="en-US" sz="1200" dirty="0"/>
          </a:p>
        </p:txBody>
      </p:sp>
      <p:sp>
        <p:nvSpPr>
          <p:cNvPr id="28" name="Text 26"/>
          <p:cNvSpPr/>
          <p:nvPr/>
        </p:nvSpPr>
        <p:spPr>
          <a:xfrm>
            <a:off x="9583142" y="3978275"/>
            <a:ext cx="1586508" cy="304800"/>
          </a:xfrm>
          <a:prstGeom prst="rect">
            <a:avLst/>
          </a:prstGeom>
          <a:noFill/>
          <a:ln/>
        </p:spPr>
        <p:txBody>
          <a:bodyPr wrap="square" lIns="0" tIns="0" rIns="0" bIns="0" rtlCol="0" anchor="t">
            <a:normAutofit/>
          </a:bodyPr>
          <a:lstStyle/>
          <a:p>
            <a:pPr algn="r" indent="0" marL="0">
              <a:lnSpc>
                <a:spcPts val="2240"/>
              </a:lnSpc>
              <a:buNone/>
            </a:pPr>
            <a:r>
              <a:rPr lang="en-US" sz="1600" b="1" dirty="0">
                <a:solidFill>
                  <a:srgbClr val="1F6F78"/>
                </a:solidFill>
                <a:latin typeface="Arial" pitchFamily="34" charset="0"/>
                <a:ea typeface="Arial" pitchFamily="34" charset="-122"/>
                <a:cs typeface="Arial" pitchFamily="34" charset="-120"/>
              </a:rPr>
              <a:t>Владивосток</a:t>
            </a:r>
            <a:endParaRPr lang="en-US" sz="1600" dirty="0"/>
          </a:p>
        </p:txBody>
      </p:sp>
      <p:sp>
        <p:nvSpPr>
          <p:cNvPr id="29" name="Shape 27"/>
          <p:cNvSpPr/>
          <p:nvPr/>
        </p:nvSpPr>
        <p:spPr>
          <a:xfrm>
            <a:off x="812800" y="4648200"/>
            <a:ext cx="10566400" cy="635000"/>
          </a:xfrm>
          <a:prstGeom prst="roundRect">
            <a:avLst>
              <a:gd name="adj" fmla="val 20000"/>
            </a:avLst>
          </a:prstGeom>
          <a:solidFill>
            <a:srgbClr val="DCEBEA"/>
          </a:solidFill>
          <a:ln/>
        </p:spPr>
      </p:sp>
      <p:sp>
        <p:nvSpPr>
          <p:cNvPr id="30" name="Text 28"/>
          <p:cNvSpPr/>
          <p:nvPr/>
        </p:nvSpPr>
        <p:spPr>
          <a:xfrm>
            <a:off x="1041400" y="4826000"/>
            <a:ext cx="10412476" cy="30480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2263A"/>
                </a:solidFill>
                <a:latin typeface="Arial" pitchFamily="34" charset="0"/>
                <a:ea typeface="Arial" pitchFamily="34" charset="-122"/>
                <a:cs typeface="Arial" pitchFamily="34" charset="-120"/>
              </a:rPr>
              <a:t>На карте:</a:t>
            </a:r>
            <a:r>
              <a:rPr lang="en-US" sz="1600" dirty="0">
                <a:solidFill>
                  <a:srgbClr val="12263A"/>
                </a:solidFill>
                <a:latin typeface="Arial" pitchFamily="34" charset="0"/>
                <a:ea typeface="Arial" pitchFamily="34" charset="-122"/>
                <a:cs typeface="Arial" pitchFamily="34" charset="-120"/>
              </a:rPr>
              <a:t> найдите самый большой округ (Дальневосточный) и самый густонаселённый (Центральный).</a:t>
            </a:r>
            <a:endParaRPr lang="en-US" sz="1600" dirty="0"/>
          </a:p>
        </p:txBody>
      </p:sp>
      <p:sp>
        <p:nvSpPr>
          <p:cNvPr id="31" name="Text 29"/>
          <p:cNvSpPr/>
          <p:nvPr/>
        </p:nvSpPr>
        <p:spPr>
          <a:xfrm>
            <a:off x="812800" y="624205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672"/>
                </a:solidFill>
                <a:latin typeface="Arial" pitchFamily="34" charset="0"/>
                <a:ea typeface="Arial" pitchFamily="34" charset="-122"/>
                <a:cs typeface="Arial" pitchFamily="34" charset="-120"/>
              </a:rPr>
              <a:t>10 / 17 · География, 8 класс · Федеративное устройство и районы России</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EE7D6"/>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70F"/>
                </a:solidFill>
                <a:latin typeface="Arial" pitchFamily="34" charset="0"/>
                <a:ea typeface="Arial" pitchFamily="34" charset="-122"/>
                <a:cs typeface="Arial" pitchFamily="34" charset="-120"/>
              </a:rPr>
              <a:t>Блок 3 · Макрорегионы</a:t>
            </a:r>
            <a:endParaRPr lang="en-US" sz="1200" dirty="0"/>
          </a:p>
        </p:txBody>
      </p:sp>
      <p:sp>
        <p:nvSpPr>
          <p:cNvPr id="3" name="Text 1"/>
          <p:cNvSpPr/>
          <p:nvPr>
            <p:ph type="title"/>
          </p:nvPr>
        </p:nvSpPr>
        <p:spPr>
          <a:xfrm>
            <a:off x="812800" y="1276350"/>
            <a:ext cx="10883392" cy="46990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63A"/>
                </a:solidFill>
                <a:latin typeface="Arial" pitchFamily="34" charset="0"/>
                <a:ea typeface="Arial" pitchFamily="34" charset="-122"/>
                <a:cs typeface="Arial" pitchFamily="34" charset="-120"/>
              </a:rPr>
              <a:t>Макрорегион и географический район</a:t>
            </a:r>
            <a:endParaRPr lang="en-US" sz="3200" dirty="0"/>
          </a:p>
        </p:txBody>
      </p:sp>
      <p:sp>
        <p:nvSpPr>
          <p:cNvPr id="4" name="Shape 2"/>
          <p:cNvSpPr/>
          <p:nvPr/>
        </p:nvSpPr>
        <p:spPr>
          <a:xfrm>
            <a:off x="815975" y="1978025"/>
            <a:ext cx="5175250" cy="2216150"/>
          </a:xfrm>
          <a:prstGeom prst="roundRect">
            <a:avLst>
              <a:gd name="adj" fmla="val 5587"/>
            </a:avLst>
          </a:prstGeom>
          <a:solidFill>
            <a:srgbClr val="FFFDF8"/>
          </a:solidFill>
          <a:ln w="6350">
            <a:solidFill>
              <a:srgbClr val="E2DCCB"/>
            </a:solidFill>
            <a:prstDash val="solid"/>
          </a:ln>
        </p:spPr>
      </p:sp>
      <p:pic>
        <p:nvPicPr>
          <p:cNvPr id="5" name="Image 0" descr="Globe">    </p:cNvPr>
          <p:cNvPicPr>
            <a:picLocks noChangeAspect="1"/>
          </p:cNvPicPr>
          <p:nvPr/>
        </p:nvPicPr>
        <p:blipFill>
          <a:blip r:embed="rId1"/>
          <a:srcRect l="0" r="0" t="0" b="0"/>
          <a:stretch/>
        </p:blipFill>
        <p:spPr>
          <a:xfrm>
            <a:off x="1073150" y="2235200"/>
            <a:ext cx="355600" cy="355600"/>
          </a:xfrm>
          <a:prstGeom prst="rect">
            <a:avLst/>
          </a:prstGeom>
        </p:spPr>
      </p:pic>
      <p:sp>
        <p:nvSpPr>
          <p:cNvPr id="6" name="Text 3"/>
          <p:cNvSpPr/>
          <p:nvPr/>
        </p:nvSpPr>
        <p:spPr>
          <a:xfrm>
            <a:off x="1073150" y="2692400"/>
            <a:ext cx="480072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263A"/>
                </a:solidFill>
                <a:latin typeface="Arial" pitchFamily="34" charset="0"/>
                <a:ea typeface="Arial" pitchFamily="34" charset="-122"/>
                <a:cs typeface="Arial" pitchFamily="34" charset="-120"/>
              </a:rPr>
              <a:t>Макрорегион</a:t>
            </a:r>
            <a:endParaRPr lang="en-US" sz="2000" dirty="0"/>
          </a:p>
        </p:txBody>
      </p:sp>
      <p:sp>
        <p:nvSpPr>
          <p:cNvPr id="7" name="Text 4"/>
          <p:cNvSpPr/>
          <p:nvPr/>
        </p:nvSpPr>
        <p:spPr>
          <a:xfrm>
            <a:off x="1073150" y="3098800"/>
            <a:ext cx="4800727" cy="8636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263A"/>
                </a:solidFill>
                <a:latin typeface="Arial" pitchFamily="34" charset="0"/>
                <a:ea typeface="Arial" pitchFamily="34" charset="-122"/>
                <a:cs typeface="Arial" pitchFamily="34" charset="-120"/>
              </a:rPr>
              <a:t>крупная часть страны, объединяющая несколько соседних районов со сходными природными, историческими и хозяйственными чертами</a:t>
            </a:r>
            <a:endParaRPr lang="en-US" sz="1600" dirty="0"/>
          </a:p>
        </p:txBody>
      </p:sp>
      <p:sp>
        <p:nvSpPr>
          <p:cNvPr id="8" name="Shape 5"/>
          <p:cNvSpPr/>
          <p:nvPr/>
        </p:nvSpPr>
        <p:spPr>
          <a:xfrm>
            <a:off x="6200775" y="1978025"/>
            <a:ext cx="5175250" cy="2216150"/>
          </a:xfrm>
          <a:prstGeom prst="roundRect">
            <a:avLst>
              <a:gd name="adj" fmla="val 5587"/>
            </a:avLst>
          </a:prstGeom>
          <a:solidFill>
            <a:srgbClr val="FFFDF8"/>
          </a:solidFill>
          <a:ln w="6350">
            <a:solidFill>
              <a:srgbClr val="E2DCCB"/>
            </a:solidFill>
            <a:prstDash val="solid"/>
          </a:ln>
        </p:spPr>
      </p:sp>
      <p:pic>
        <p:nvPicPr>
          <p:cNvPr id="9" name="Image 1" descr="Search">    </p:cNvPr>
          <p:cNvPicPr>
            <a:picLocks noChangeAspect="1"/>
          </p:cNvPicPr>
          <p:nvPr/>
        </p:nvPicPr>
        <p:blipFill>
          <a:blip r:embed="rId2"/>
          <a:srcRect l="0" r="0" t="0" b="0"/>
          <a:stretch/>
        </p:blipFill>
        <p:spPr>
          <a:xfrm>
            <a:off x="6457950" y="2235200"/>
            <a:ext cx="355600" cy="355600"/>
          </a:xfrm>
          <a:prstGeom prst="rect">
            <a:avLst/>
          </a:prstGeom>
        </p:spPr>
      </p:pic>
      <p:sp>
        <p:nvSpPr>
          <p:cNvPr id="10" name="Text 6"/>
          <p:cNvSpPr/>
          <p:nvPr/>
        </p:nvSpPr>
        <p:spPr>
          <a:xfrm>
            <a:off x="6457950" y="2692400"/>
            <a:ext cx="480072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263A"/>
                </a:solidFill>
                <a:latin typeface="Arial" pitchFamily="34" charset="0"/>
                <a:ea typeface="Arial" pitchFamily="34" charset="-122"/>
                <a:cs typeface="Arial" pitchFamily="34" charset="-120"/>
              </a:rPr>
              <a:t>Географический район</a:t>
            </a:r>
            <a:endParaRPr lang="en-US" sz="2000" dirty="0"/>
          </a:p>
        </p:txBody>
      </p:sp>
      <p:sp>
        <p:nvSpPr>
          <p:cNvPr id="11" name="Text 7"/>
          <p:cNvSpPr/>
          <p:nvPr/>
        </p:nvSpPr>
        <p:spPr>
          <a:xfrm>
            <a:off x="6457950" y="3098800"/>
            <a:ext cx="4800727" cy="8636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263A"/>
                </a:solidFill>
                <a:latin typeface="Arial" pitchFamily="34" charset="0"/>
                <a:ea typeface="Arial" pitchFamily="34" charset="-122"/>
                <a:cs typeface="Arial" pitchFamily="34" charset="-120"/>
              </a:rPr>
              <a:t>территория, выделенная по комплексу природных, хозяйственных и социальных признаков</a:t>
            </a:r>
            <a:endParaRPr lang="en-US" sz="1600" dirty="0"/>
          </a:p>
        </p:txBody>
      </p:sp>
      <p:sp>
        <p:nvSpPr>
          <p:cNvPr id="12" name="Text 8"/>
          <p:cNvSpPr/>
          <p:nvPr/>
        </p:nvSpPr>
        <p:spPr>
          <a:xfrm>
            <a:off x="812800" y="624205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672"/>
                </a:solidFill>
                <a:latin typeface="Arial" pitchFamily="34" charset="0"/>
                <a:ea typeface="Arial" pitchFamily="34" charset="-122"/>
                <a:cs typeface="Arial" pitchFamily="34" charset="-120"/>
              </a:rPr>
              <a:t>11 / 17 · География, 8 класс · Федеративное устройство и районы России</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4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70F"/>
                </a:solidFill>
                <a:latin typeface="Arial" pitchFamily="34" charset="0"/>
                <a:ea typeface="Arial" pitchFamily="34" charset="-122"/>
                <a:cs typeface="Arial" pitchFamily="34" charset="-120"/>
              </a:rPr>
              <a:t>Блок 3 · Макрорегионы</a:t>
            </a:r>
            <a:endParaRPr lang="en-US" sz="1200" dirty="0"/>
          </a:p>
        </p:txBody>
      </p:sp>
      <p:sp>
        <p:nvSpPr>
          <p:cNvPr id="3" name="Text 1"/>
          <p:cNvSpPr/>
          <p:nvPr>
            <p:ph type="title"/>
          </p:nvPr>
        </p:nvSpPr>
        <p:spPr>
          <a:xfrm>
            <a:off x="812800" y="1200150"/>
            <a:ext cx="10883392" cy="46990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63A"/>
                </a:solidFill>
                <a:latin typeface="Arial" pitchFamily="34" charset="0"/>
                <a:ea typeface="Arial" pitchFamily="34" charset="-122"/>
                <a:cs typeface="Arial" pitchFamily="34" charset="-120"/>
              </a:rPr>
              <a:t>Два макрорегиона России</a:t>
            </a:r>
            <a:endParaRPr lang="en-US" sz="3200" dirty="0"/>
          </a:p>
        </p:txBody>
      </p:sp>
      <p:sp>
        <p:nvSpPr>
          <p:cNvPr id="4" name="Shape 2"/>
          <p:cNvSpPr/>
          <p:nvPr/>
        </p:nvSpPr>
        <p:spPr>
          <a:xfrm>
            <a:off x="812800" y="1822450"/>
            <a:ext cx="5207000" cy="2832100"/>
          </a:xfrm>
          <a:prstGeom prst="roundRect">
            <a:avLst>
              <a:gd name="adj" fmla="val 4484"/>
            </a:avLst>
          </a:prstGeom>
          <a:solidFill>
            <a:srgbClr val="DCEBEA"/>
          </a:solidFill>
          <a:ln/>
        </p:spPr>
      </p:sp>
      <p:sp>
        <p:nvSpPr>
          <p:cNvPr id="5" name="Text 3"/>
          <p:cNvSpPr/>
          <p:nvPr/>
        </p:nvSpPr>
        <p:spPr>
          <a:xfrm>
            <a:off x="1016000" y="2025650"/>
            <a:ext cx="494461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263A"/>
                </a:solidFill>
                <a:latin typeface="Arial" pitchFamily="34" charset="0"/>
                <a:ea typeface="Arial" pitchFamily="34" charset="-122"/>
                <a:cs typeface="Arial" pitchFamily="34" charset="-120"/>
              </a:rPr>
              <a:t>Западный (европейская часть)</a:t>
            </a:r>
            <a:endParaRPr lang="en-US" sz="2000" dirty="0"/>
          </a:p>
        </p:txBody>
      </p:sp>
      <p:sp>
        <p:nvSpPr>
          <p:cNvPr id="6" name="Text 4"/>
          <p:cNvSpPr/>
          <p:nvPr/>
        </p:nvSpPr>
        <p:spPr>
          <a:xfrm>
            <a:off x="1016000" y="2406650"/>
            <a:ext cx="4944618"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6F78"/>
                </a:solidFill>
                <a:latin typeface="Arial" pitchFamily="34" charset="0"/>
                <a:ea typeface="Arial" pitchFamily="34" charset="-122"/>
                <a:cs typeface="Arial" pitchFamily="34" charset="-120"/>
              </a:rPr>
              <a:t>Входят</a:t>
            </a:r>
            <a:endParaRPr lang="en-US" sz="1200" dirty="0"/>
          </a:p>
        </p:txBody>
      </p:sp>
      <p:sp>
        <p:nvSpPr>
          <p:cNvPr id="7" name="Text 5"/>
          <p:cNvSpPr/>
          <p:nvPr/>
        </p:nvSpPr>
        <p:spPr>
          <a:xfrm>
            <a:off x="1016000" y="2692400"/>
            <a:ext cx="4944618" cy="5842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263A"/>
                </a:solidFill>
                <a:latin typeface="Arial" pitchFamily="34" charset="0"/>
                <a:ea typeface="Arial" pitchFamily="34" charset="-122"/>
                <a:cs typeface="Arial" pitchFamily="34" charset="-120"/>
              </a:rPr>
              <a:t>Центральная Россия, Северо-Запад, Европейский Север, Европейский Юг, Поволжье, Урал</a:t>
            </a:r>
            <a:endParaRPr lang="en-US" sz="1600" dirty="0"/>
          </a:p>
        </p:txBody>
      </p:sp>
      <p:sp>
        <p:nvSpPr>
          <p:cNvPr id="8" name="Text 6"/>
          <p:cNvSpPr/>
          <p:nvPr/>
        </p:nvSpPr>
        <p:spPr>
          <a:xfrm>
            <a:off x="1016000" y="3327400"/>
            <a:ext cx="4944618"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6F78"/>
                </a:solidFill>
                <a:latin typeface="Arial" pitchFamily="34" charset="0"/>
                <a:ea typeface="Arial" pitchFamily="34" charset="-122"/>
                <a:cs typeface="Arial" pitchFamily="34" charset="-120"/>
              </a:rPr>
              <a:t>Особенности</a:t>
            </a:r>
            <a:endParaRPr lang="en-US" sz="1200" dirty="0"/>
          </a:p>
        </p:txBody>
      </p:sp>
      <p:sp>
        <p:nvSpPr>
          <p:cNvPr id="9" name="Text 7"/>
          <p:cNvSpPr/>
          <p:nvPr/>
        </p:nvSpPr>
        <p:spPr>
          <a:xfrm>
            <a:off x="1016000" y="3613150"/>
            <a:ext cx="4944618" cy="8636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263A"/>
                </a:solidFill>
                <a:latin typeface="Arial" pitchFamily="34" charset="0"/>
                <a:ea typeface="Arial" pitchFamily="34" charset="-122"/>
                <a:cs typeface="Arial" pitchFamily="34" charset="-120"/>
              </a:rPr>
              <a:t>больше населения и городов, развитая промышленность, густая транспортная сеть, равнины</a:t>
            </a:r>
            <a:endParaRPr lang="en-US" sz="1600" dirty="0"/>
          </a:p>
        </p:txBody>
      </p:sp>
      <p:sp>
        <p:nvSpPr>
          <p:cNvPr id="10" name="Shape 8"/>
          <p:cNvSpPr/>
          <p:nvPr/>
        </p:nvSpPr>
        <p:spPr>
          <a:xfrm>
            <a:off x="6172200" y="1822450"/>
            <a:ext cx="5207000" cy="2832100"/>
          </a:xfrm>
          <a:prstGeom prst="roundRect">
            <a:avLst>
              <a:gd name="adj" fmla="val 4484"/>
            </a:avLst>
          </a:prstGeom>
          <a:solidFill>
            <a:srgbClr val="F6DDC4"/>
          </a:solidFill>
          <a:ln/>
        </p:spPr>
      </p:sp>
      <p:sp>
        <p:nvSpPr>
          <p:cNvPr id="11" name="Text 9"/>
          <p:cNvSpPr/>
          <p:nvPr/>
        </p:nvSpPr>
        <p:spPr>
          <a:xfrm>
            <a:off x="6375400" y="2025650"/>
            <a:ext cx="494461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263A"/>
                </a:solidFill>
                <a:latin typeface="Arial" pitchFamily="34" charset="0"/>
                <a:ea typeface="Arial" pitchFamily="34" charset="-122"/>
                <a:cs typeface="Arial" pitchFamily="34" charset="-120"/>
              </a:rPr>
              <a:t>Восточный (азиатская часть)</a:t>
            </a:r>
            <a:endParaRPr lang="en-US" sz="2000" dirty="0"/>
          </a:p>
        </p:txBody>
      </p:sp>
      <p:sp>
        <p:nvSpPr>
          <p:cNvPr id="12" name="Text 10"/>
          <p:cNvSpPr/>
          <p:nvPr/>
        </p:nvSpPr>
        <p:spPr>
          <a:xfrm>
            <a:off x="6375400" y="2406650"/>
            <a:ext cx="4944618"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3A0A"/>
                </a:solidFill>
                <a:latin typeface="Arial" pitchFamily="34" charset="0"/>
                <a:ea typeface="Arial" pitchFamily="34" charset="-122"/>
                <a:cs typeface="Arial" pitchFamily="34" charset="-120"/>
              </a:rPr>
              <a:t>Входят</a:t>
            </a:r>
            <a:endParaRPr lang="en-US" sz="1200" dirty="0"/>
          </a:p>
        </p:txBody>
      </p:sp>
      <p:sp>
        <p:nvSpPr>
          <p:cNvPr id="13" name="Text 11"/>
          <p:cNvSpPr/>
          <p:nvPr/>
        </p:nvSpPr>
        <p:spPr>
          <a:xfrm>
            <a:off x="6375400" y="2692400"/>
            <a:ext cx="4944618" cy="5842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263A"/>
                </a:solidFill>
                <a:latin typeface="Arial" pitchFamily="34" charset="0"/>
                <a:ea typeface="Arial" pitchFamily="34" charset="-122"/>
                <a:cs typeface="Arial" pitchFamily="34" charset="-120"/>
              </a:rPr>
              <a:t>Западная Сибирь, Восточная Сибирь, Дальний Восток</a:t>
            </a:r>
            <a:endParaRPr lang="en-US" sz="1600" dirty="0"/>
          </a:p>
        </p:txBody>
      </p:sp>
      <p:sp>
        <p:nvSpPr>
          <p:cNvPr id="14" name="Text 12"/>
          <p:cNvSpPr/>
          <p:nvPr/>
        </p:nvSpPr>
        <p:spPr>
          <a:xfrm>
            <a:off x="6375400" y="3327400"/>
            <a:ext cx="4944618"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3A0A"/>
                </a:solidFill>
                <a:latin typeface="Arial" pitchFamily="34" charset="0"/>
                <a:ea typeface="Arial" pitchFamily="34" charset="-122"/>
                <a:cs typeface="Arial" pitchFamily="34" charset="-120"/>
              </a:rPr>
              <a:t>Особенности</a:t>
            </a:r>
            <a:endParaRPr lang="en-US" sz="1200" dirty="0"/>
          </a:p>
        </p:txBody>
      </p:sp>
      <p:sp>
        <p:nvSpPr>
          <p:cNvPr id="15" name="Text 13"/>
          <p:cNvSpPr/>
          <p:nvPr/>
        </p:nvSpPr>
        <p:spPr>
          <a:xfrm>
            <a:off x="6375400" y="3613150"/>
            <a:ext cx="4944618" cy="8636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263A"/>
                </a:solidFill>
                <a:latin typeface="Arial" pitchFamily="34" charset="0"/>
                <a:ea typeface="Arial" pitchFamily="34" charset="-122"/>
                <a:cs typeface="Arial" pitchFamily="34" charset="-120"/>
              </a:rPr>
              <a:t>огромная территория, малая плотность населения, богатые ресурсы, суровый климат, горы</a:t>
            </a:r>
            <a:endParaRPr lang="en-US" sz="1600" dirty="0"/>
          </a:p>
        </p:txBody>
      </p:sp>
      <p:sp>
        <p:nvSpPr>
          <p:cNvPr id="16" name="Shape 14"/>
          <p:cNvSpPr/>
          <p:nvPr/>
        </p:nvSpPr>
        <p:spPr>
          <a:xfrm>
            <a:off x="812800" y="4832350"/>
            <a:ext cx="10566400" cy="914400"/>
          </a:xfrm>
          <a:prstGeom prst="roundRect">
            <a:avLst>
              <a:gd name="adj" fmla="val 13889"/>
            </a:avLst>
          </a:prstGeom>
          <a:solidFill>
            <a:srgbClr val="12263A"/>
          </a:solidFill>
          <a:ln/>
        </p:spPr>
      </p:sp>
      <p:sp>
        <p:nvSpPr>
          <p:cNvPr id="17" name="Text 15"/>
          <p:cNvSpPr/>
          <p:nvPr/>
        </p:nvSpPr>
        <p:spPr>
          <a:xfrm>
            <a:off x="1041400" y="5010150"/>
            <a:ext cx="10412476" cy="5842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7F4EC"/>
                </a:solidFill>
                <a:latin typeface="Arial" pitchFamily="34" charset="0"/>
                <a:ea typeface="Arial" pitchFamily="34" charset="-122"/>
                <a:cs typeface="Arial" pitchFamily="34" charset="-120"/>
              </a:rPr>
              <a:t>Граница между макрорегионами условно проходит по Уралу. Урал часто выделяют как район, связывающий оба макрорегиона.</a:t>
            </a:r>
            <a:endParaRPr lang="en-US" sz="1600" dirty="0"/>
          </a:p>
        </p:txBody>
      </p:sp>
      <p:sp>
        <p:nvSpPr>
          <p:cNvPr id="18" name="Text 16"/>
          <p:cNvSpPr/>
          <p:nvPr/>
        </p:nvSpPr>
        <p:spPr>
          <a:xfrm>
            <a:off x="812800" y="624205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672"/>
                </a:solidFill>
                <a:latin typeface="Arial" pitchFamily="34" charset="0"/>
                <a:ea typeface="Arial" pitchFamily="34" charset="-122"/>
                <a:cs typeface="Arial" pitchFamily="34" charset="-120"/>
              </a:rPr>
              <a:t>12 / 17 · География, 8 класс · Федеративное устройство и районы России</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EE7D6"/>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70F"/>
                </a:solidFill>
                <a:latin typeface="Arial" pitchFamily="34" charset="0"/>
                <a:ea typeface="Arial" pitchFamily="34" charset="-122"/>
                <a:cs typeface="Arial" pitchFamily="34" charset="-120"/>
              </a:rPr>
              <a:t>Блок 3 · Макрорегионы</a:t>
            </a:r>
            <a:endParaRPr lang="en-US" sz="1200" dirty="0"/>
          </a:p>
        </p:txBody>
      </p:sp>
      <p:sp>
        <p:nvSpPr>
          <p:cNvPr id="3" name="Text 1"/>
          <p:cNvSpPr/>
          <p:nvPr>
            <p:ph type="title"/>
          </p:nvPr>
        </p:nvSpPr>
        <p:spPr>
          <a:xfrm>
            <a:off x="812800" y="1200150"/>
            <a:ext cx="10883392" cy="46990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63A"/>
                </a:solidFill>
                <a:latin typeface="Arial" pitchFamily="34" charset="0"/>
                <a:ea typeface="Arial" pitchFamily="34" charset="-122"/>
                <a:cs typeface="Arial" pitchFamily="34" charset="-120"/>
              </a:rPr>
              <a:t>Девять крупных районов</a:t>
            </a:r>
            <a:endParaRPr lang="en-US" sz="3200" dirty="0"/>
          </a:p>
        </p:txBody>
      </p:sp>
      <p:sp>
        <p:nvSpPr>
          <p:cNvPr id="4" name="Shape 2"/>
          <p:cNvSpPr/>
          <p:nvPr/>
        </p:nvSpPr>
        <p:spPr>
          <a:xfrm>
            <a:off x="812800" y="1822450"/>
            <a:ext cx="2785765" cy="336550"/>
          </a:xfrm>
          <a:prstGeom prst="roundRect">
            <a:avLst>
              <a:gd name="adj" fmla="val 50000"/>
            </a:avLst>
          </a:prstGeom>
          <a:solidFill>
            <a:srgbClr val="DCEBEA"/>
          </a:solidFill>
          <a:ln/>
        </p:spPr>
      </p:sp>
      <p:sp>
        <p:nvSpPr>
          <p:cNvPr id="5" name="Text 3"/>
          <p:cNvSpPr/>
          <p:nvPr/>
        </p:nvSpPr>
        <p:spPr>
          <a:xfrm>
            <a:off x="965200" y="1885950"/>
            <a:ext cx="2555394"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6F78"/>
                </a:solidFill>
                <a:latin typeface="Arial" pitchFamily="34" charset="0"/>
                <a:ea typeface="Arial" pitchFamily="34" charset="-122"/>
                <a:cs typeface="Arial" pitchFamily="34" charset="-120"/>
              </a:rPr>
              <a:t>Запад — Западный макрорегион</a:t>
            </a:r>
            <a:endParaRPr lang="en-US" sz="1200" dirty="0"/>
          </a:p>
        </p:txBody>
      </p:sp>
      <p:sp>
        <p:nvSpPr>
          <p:cNvPr id="6" name="Shape 4"/>
          <p:cNvSpPr/>
          <p:nvPr/>
        </p:nvSpPr>
        <p:spPr>
          <a:xfrm>
            <a:off x="3700165" y="1822450"/>
            <a:ext cx="2942431" cy="336550"/>
          </a:xfrm>
          <a:prstGeom prst="roundRect">
            <a:avLst>
              <a:gd name="adj" fmla="val 50000"/>
            </a:avLst>
          </a:prstGeom>
          <a:solidFill>
            <a:srgbClr val="F6DDC4"/>
          </a:solidFill>
          <a:ln/>
        </p:spPr>
      </p:sp>
      <p:sp>
        <p:nvSpPr>
          <p:cNvPr id="7" name="Text 5"/>
          <p:cNvSpPr/>
          <p:nvPr/>
        </p:nvSpPr>
        <p:spPr>
          <a:xfrm>
            <a:off x="3852565" y="1885950"/>
            <a:ext cx="2716760"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3A0A"/>
                </a:solidFill>
                <a:latin typeface="Arial" pitchFamily="34" charset="0"/>
                <a:ea typeface="Arial" pitchFamily="34" charset="-122"/>
                <a:cs typeface="Arial" pitchFamily="34" charset="-120"/>
              </a:rPr>
              <a:t>Восток — Восточный макрорегион</a:t>
            </a:r>
            <a:endParaRPr lang="en-US" sz="1200" dirty="0"/>
          </a:p>
        </p:txBody>
      </p:sp>
      <p:sp>
        <p:nvSpPr>
          <p:cNvPr id="8" name="Shape 6"/>
          <p:cNvSpPr/>
          <p:nvPr/>
        </p:nvSpPr>
        <p:spPr>
          <a:xfrm>
            <a:off x="812800" y="2336800"/>
            <a:ext cx="3420467" cy="844550"/>
          </a:xfrm>
          <a:prstGeom prst="roundRect">
            <a:avLst>
              <a:gd name="adj" fmla="val 15038"/>
            </a:avLst>
          </a:prstGeom>
          <a:solidFill>
            <a:srgbClr val="DCEBEA"/>
          </a:solidFill>
          <a:ln/>
        </p:spPr>
      </p:sp>
      <p:sp>
        <p:nvSpPr>
          <p:cNvPr id="9" name="Text 7"/>
          <p:cNvSpPr/>
          <p:nvPr/>
        </p:nvSpPr>
        <p:spPr>
          <a:xfrm>
            <a:off x="990600" y="2514600"/>
            <a:ext cx="3156813"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6F78"/>
                </a:solidFill>
                <a:latin typeface="Arial" pitchFamily="34" charset="0"/>
                <a:ea typeface="Arial" pitchFamily="34" charset="-122"/>
                <a:cs typeface="Arial" pitchFamily="34" charset="-120"/>
              </a:rPr>
              <a:t>Запад</a:t>
            </a:r>
            <a:endParaRPr lang="en-US" sz="1200" dirty="0"/>
          </a:p>
        </p:txBody>
      </p:sp>
      <p:sp>
        <p:nvSpPr>
          <p:cNvPr id="10" name="Text 8"/>
          <p:cNvSpPr/>
          <p:nvPr/>
        </p:nvSpPr>
        <p:spPr>
          <a:xfrm>
            <a:off x="990600" y="2762250"/>
            <a:ext cx="3156813"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63A"/>
                </a:solidFill>
                <a:latin typeface="Arial" pitchFamily="34" charset="0"/>
                <a:ea typeface="Arial" pitchFamily="34" charset="-122"/>
                <a:cs typeface="Arial" pitchFamily="34" charset="-120"/>
              </a:rPr>
              <a:t>Центральная Россия</a:t>
            </a:r>
            <a:endParaRPr lang="en-US" sz="1600" dirty="0"/>
          </a:p>
        </p:txBody>
      </p:sp>
      <p:sp>
        <p:nvSpPr>
          <p:cNvPr id="11" name="Shape 9"/>
          <p:cNvSpPr/>
          <p:nvPr/>
        </p:nvSpPr>
        <p:spPr>
          <a:xfrm>
            <a:off x="4385667" y="2336800"/>
            <a:ext cx="3420566" cy="844550"/>
          </a:xfrm>
          <a:prstGeom prst="roundRect">
            <a:avLst>
              <a:gd name="adj" fmla="val 15038"/>
            </a:avLst>
          </a:prstGeom>
          <a:solidFill>
            <a:srgbClr val="DCEBEA"/>
          </a:solidFill>
          <a:ln/>
        </p:spPr>
      </p:sp>
      <p:sp>
        <p:nvSpPr>
          <p:cNvPr id="12" name="Text 10"/>
          <p:cNvSpPr/>
          <p:nvPr/>
        </p:nvSpPr>
        <p:spPr>
          <a:xfrm>
            <a:off x="4563467" y="2514600"/>
            <a:ext cx="3156915"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6F78"/>
                </a:solidFill>
                <a:latin typeface="Arial" pitchFamily="34" charset="0"/>
                <a:ea typeface="Arial" pitchFamily="34" charset="-122"/>
                <a:cs typeface="Arial" pitchFamily="34" charset="-120"/>
              </a:rPr>
              <a:t>Запад</a:t>
            </a:r>
            <a:endParaRPr lang="en-US" sz="1200" dirty="0"/>
          </a:p>
        </p:txBody>
      </p:sp>
      <p:sp>
        <p:nvSpPr>
          <p:cNvPr id="13" name="Text 11"/>
          <p:cNvSpPr/>
          <p:nvPr/>
        </p:nvSpPr>
        <p:spPr>
          <a:xfrm>
            <a:off x="4563467" y="2762250"/>
            <a:ext cx="3156915"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63A"/>
                </a:solidFill>
                <a:latin typeface="Arial" pitchFamily="34" charset="0"/>
                <a:ea typeface="Arial" pitchFamily="34" charset="-122"/>
                <a:cs typeface="Arial" pitchFamily="34" charset="-120"/>
              </a:rPr>
              <a:t>Северо-Запад</a:t>
            </a:r>
            <a:endParaRPr lang="en-US" sz="1600" dirty="0"/>
          </a:p>
        </p:txBody>
      </p:sp>
      <p:sp>
        <p:nvSpPr>
          <p:cNvPr id="14" name="Shape 12"/>
          <p:cNvSpPr/>
          <p:nvPr/>
        </p:nvSpPr>
        <p:spPr>
          <a:xfrm>
            <a:off x="7958634" y="2336800"/>
            <a:ext cx="3420467" cy="844550"/>
          </a:xfrm>
          <a:prstGeom prst="roundRect">
            <a:avLst>
              <a:gd name="adj" fmla="val 15038"/>
            </a:avLst>
          </a:prstGeom>
          <a:solidFill>
            <a:srgbClr val="DCEBEA"/>
          </a:solidFill>
          <a:ln/>
        </p:spPr>
      </p:sp>
      <p:sp>
        <p:nvSpPr>
          <p:cNvPr id="15" name="Text 13"/>
          <p:cNvSpPr/>
          <p:nvPr/>
        </p:nvSpPr>
        <p:spPr>
          <a:xfrm>
            <a:off x="8136434" y="2514600"/>
            <a:ext cx="3156813"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6F78"/>
                </a:solidFill>
                <a:latin typeface="Arial" pitchFamily="34" charset="0"/>
                <a:ea typeface="Arial" pitchFamily="34" charset="-122"/>
                <a:cs typeface="Arial" pitchFamily="34" charset="-120"/>
              </a:rPr>
              <a:t>Запад</a:t>
            </a:r>
            <a:endParaRPr lang="en-US" sz="1200" dirty="0"/>
          </a:p>
        </p:txBody>
      </p:sp>
      <p:sp>
        <p:nvSpPr>
          <p:cNvPr id="16" name="Text 14"/>
          <p:cNvSpPr/>
          <p:nvPr/>
        </p:nvSpPr>
        <p:spPr>
          <a:xfrm>
            <a:off x="8136434" y="2762250"/>
            <a:ext cx="3156813"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63A"/>
                </a:solidFill>
                <a:latin typeface="Arial" pitchFamily="34" charset="0"/>
                <a:ea typeface="Arial" pitchFamily="34" charset="-122"/>
                <a:cs typeface="Arial" pitchFamily="34" charset="-120"/>
              </a:rPr>
              <a:t>Европейский Север</a:t>
            </a:r>
            <a:endParaRPr lang="en-US" sz="1600" dirty="0"/>
          </a:p>
        </p:txBody>
      </p:sp>
      <p:sp>
        <p:nvSpPr>
          <p:cNvPr id="17" name="Shape 15"/>
          <p:cNvSpPr/>
          <p:nvPr/>
        </p:nvSpPr>
        <p:spPr>
          <a:xfrm>
            <a:off x="812800" y="3333750"/>
            <a:ext cx="3420467" cy="1092200"/>
          </a:xfrm>
          <a:prstGeom prst="roundRect">
            <a:avLst>
              <a:gd name="adj" fmla="val 11628"/>
            </a:avLst>
          </a:prstGeom>
          <a:solidFill>
            <a:srgbClr val="DCEBEA"/>
          </a:solidFill>
          <a:ln/>
        </p:spPr>
      </p:sp>
      <p:sp>
        <p:nvSpPr>
          <p:cNvPr id="18" name="Text 16"/>
          <p:cNvSpPr/>
          <p:nvPr/>
        </p:nvSpPr>
        <p:spPr>
          <a:xfrm>
            <a:off x="990600" y="3511550"/>
            <a:ext cx="3156813"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6F78"/>
                </a:solidFill>
                <a:latin typeface="Arial" pitchFamily="34" charset="0"/>
                <a:ea typeface="Arial" pitchFamily="34" charset="-122"/>
                <a:cs typeface="Arial" pitchFamily="34" charset="-120"/>
              </a:rPr>
              <a:t>Запад</a:t>
            </a:r>
            <a:endParaRPr lang="en-US" sz="1200" dirty="0"/>
          </a:p>
        </p:txBody>
      </p:sp>
      <p:sp>
        <p:nvSpPr>
          <p:cNvPr id="19" name="Text 17"/>
          <p:cNvSpPr/>
          <p:nvPr/>
        </p:nvSpPr>
        <p:spPr>
          <a:xfrm>
            <a:off x="990600" y="3759200"/>
            <a:ext cx="3156813"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63A"/>
                </a:solidFill>
                <a:latin typeface="Arial" pitchFamily="34" charset="0"/>
                <a:ea typeface="Arial" pitchFamily="34" charset="-122"/>
                <a:cs typeface="Arial" pitchFamily="34" charset="-120"/>
              </a:rPr>
              <a:t>Европейский Юг</a:t>
            </a:r>
            <a:endParaRPr lang="en-US" sz="1600" dirty="0"/>
          </a:p>
        </p:txBody>
      </p:sp>
      <p:sp>
        <p:nvSpPr>
          <p:cNvPr id="20" name="Text 18"/>
          <p:cNvSpPr/>
          <p:nvPr/>
        </p:nvSpPr>
        <p:spPr>
          <a:xfrm>
            <a:off x="990600" y="4038600"/>
            <a:ext cx="3156813"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C5A"/>
                </a:solidFill>
                <a:latin typeface="Arial" pitchFamily="34" charset="0"/>
                <a:ea typeface="Arial" pitchFamily="34" charset="-122"/>
                <a:cs typeface="Arial" pitchFamily="34" charset="-120"/>
              </a:rPr>
              <a:t>включая Северный Кавказ</a:t>
            </a:r>
            <a:endParaRPr lang="en-US" sz="1200" dirty="0"/>
          </a:p>
        </p:txBody>
      </p:sp>
      <p:sp>
        <p:nvSpPr>
          <p:cNvPr id="21" name="Shape 19"/>
          <p:cNvSpPr/>
          <p:nvPr/>
        </p:nvSpPr>
        <p:spPr>
          <a:xfrm>
            <a:off x="4385667" y="3333750"/>
            <a:ext cx="3420566" cy="1092200"/>
          </a:xfrm>
          <a:prstGeom prst="roundRect">
            <a:avLst>
              <a:gd name="adj" fmla="val 11628"/>
            </a:avLst>
          </a:prstGeom>
          <a:solidFill>
            <a:srgbClr val="DCEBEA"/>
          </a:solidFill>
          <a:ln/>
        </p:spPr>
      </p:sp>
      <p:sp>
        <p:nvSpPr>
          <p:cNvPr id="22" name="Text 20"/>
          <p:cNvSpPr/>
          <p:nvPr/>
        </p:nvSpPr>
        <p:spPr>
          <a:xfrm>
            <a:off x="4563467" y="3511550"/>
            <a:ext cx="3156915"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6F78"/>
                </a:solidFill>
                <a:latin typeface="Arial" pitchFamily="34" charset="0"/>
                <a:ea typeface="Arial" pitchFamily="34" charset="-122"/>
                <a:cs typeface="Arial" pitchFamily="34" charset="-120"/>
              </a:rPr>
              <a:t>Запад</a:t>
            </a:r>
            <a:endParaRPr lang="en-US" sz="1200" dirty="0"/>
          </a:p>
        </p:txBody>
      </p:sp>
      <p:sp>
        <p:nvSpPr>
          <p:cNvPr id="23" name="Text 21"/>
          <p:cNvSpPr/>
          <p:nvPr/>
        </p:nvSpPr>
        <p:spPr>
          <a:xfrm>
            <a:off x="4563467" y="3759200"/>
            <a:ext cx="3156915"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63A"/>
                </a:solidFill>
                <a:latin typeface="Arial" pitchFamily="34" charset="0"/>
                <a:ea typeface="Arial" pitchFamily="34" charset="-122"/>
                <a:cs typeface="Arial" pitchFamily="34" charset="-120"/>
              </a:rPr>
              <a:t>Поволжье</a:t>
            </a:r>
            <a:endParaRPr lang="en-US" sz="1600" dirty="0"/>
          </a:p>
        </p:txBody>
      </p:sp>
      <p:sp>
        <p:nvSpPr>
          <p:cNvPr id="24" name="Shape 22"/>
          <p:cNvSpPr/>
          <p:nvPr/>
        </p:nvSpPr>
        <p:spPr>
          <a:xfrm>
            <a:off x="7958634" y="3333750"/>
            <a:ext cx="3420467" cy="1092200"/>
          </a:xfrm>
          <a:prstGeom prst="roundRect">
            <a:avLst>
              <a:gd name="adj" fmla="val 11628"/>
            </a:avLst>
          </a:prstGeom>
          <a:solidFill>
            <a:srgbClr val="DCEBEA"/>
          </a:solidFill>
          <a:ln/>
        </p:spPr>
      </p:sp>
      <p:sp>
        <p:nvSpPr>
          <p:cNvPr id="25" name="Text 23"/>
          <p:cNvSpPr/>
          <p:nvPr/>
        </p:nvSpPr>
        <p:spPr>
          <a:xfrm>
            <a:off x="8136434" y="3511550"/>
            <a:ext cx="3156813"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6F78"/>
                </a:solidFill>
                <a:latin typeface="Arial" pitchFamily="34" charset="0"/>
                <a:ea typeface="Arial" pitchFamily="34" charset="-122"/>
                <a:cs typeface="Arial" pitchFamily="34" charset="-120"/>
              </a:rPr>
              <a:t>Запад</a:t>
            </a:r>
            <a:endParaRPr lang="en-US" sz="1200" dirty="0"/>
          </a:p>
        </p:txBody>
      </p:sp>
      <p:sp>
        <p:nvSpPr>
          <p:cNvPr id="26" name="Text 24"/>
          <p:cNvSpPr/>
          <p:nvPr/>
        </p:nvSpPr>
        <p:spPr>
          <a:xfrm>
            <a:off x="8136434" y="3759200"/>
            <a:ext cx="3156813"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63A"/>
                </a:solidFill>
                <a:latin typeface="Arial" pitchFamily="34" charset="0"/>
                <a:ea typeface="Arial" pitchFamily="34" charset="-122"/>
                <a:cs typeface="Arial" pitchFamily="34" charset="-120"/>
              </a:rPr>
              <a:t>Урал</a:t>
            </a:r>
            <a:endParaRPr lang="en-US" sz="1600" dirty="0"/>
          </a:p>
        </p:txBody>
      </p:sp>
      <p:sp>
        <p:nvSpPr>
          <p:cNvPr id="27" name="Text 25"/>
          <p:cNvSpPr/>
          <p:nvPr/>
        </p:nvSpPr>
        <p:spPr>
          <a:xfrm>
            <a:off x="8136434" y="4038600"/>
            <a:ext cx="3156813"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C5A"/>
                </a:solidFill>
                <a:latin typeface="Arial" pitchFamily="34" charset="0"/>
                <a:ea typeface="Arial" pitchFamily="34" charset="-122"/>
                <a:cs typeface="Arial" pitchFamily="34" charset="-120"/>
              </a:rPr>
              <a:t>связывает оба макрорегиона</a:t>
            </a:r>
            <a:endParaRPr lang="en-US" sz="1200" dirty="0"/>
          </a:p>
        </p:txBody>
      </p:sp>
      <p:sp>
        <p:nvSpPr>
          <p:cNvPr id="28" name="Shape 26"/>
          <p:cNvSpPr/>
          <p:nvPr/>
        </p:nvSpPr>
        <p:spPr>
          <a:xfrm>
            <a:off x="812800" y="4578350"/>
            <a:ext cx="3420467" cy="844550"/>
          </a:xfrm>
          <a:prstGeom prst="roundRect">
            <a:avLst>
              <a:gd name="adj" fmla="val 15038"/>
            </a:avLst>
          </a:prstGeom>
          <a:solidFill>
            <a:srgbClr val="F6DDC4"/>
          </a:solidFill>
          <a:ln/>
        </p:spPr>
      </p:sp>
      <p:sp>
        <p:nvSpPr>
          <p:cNvPr id="29" name="Text 27"/>
          <p:cNvSpPr/>
          <p:nvPr/>
        </p:nvSpPr>
        <p:spPr>
          <a:xfrm>
            <a:off x="990600" y="4756150"/>
            <a:ext cx="3156813"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3A0A"/>
                </a:solidFill>
                <a:latin typeface="Arial" pitchFamily="34" charset="0"/>
                <a:ea typeface="Arial" pitchFamily="34" charset="-122"/>
                <a:cs typeface="Arial" pitchFamily="34" charset="-120"/>
              </a:rPr>
              <a:t>Восток</a:t>
            </a:r>
            <a:endParaRPr lang="en-US" sz="1200" dirty="0"/>
          </a:p>
        </p:txBody>
      </p:sp>
      <p:sp>
        <p:nvSpPr>
          <p:cNvPr id="30" name="Text 28"/>
          <p:cNvSpPr/>
          <p:nvPr/>
        </p:nvSpPr>
        <p:spPr>
          <a:xfrm>
            <a:off x="990600" y="5003800"/>
            <a:ext cx="3156813"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63A"/>
                </a:solidFill>
                <a:latin typeface="Arial" pitchFamily="34" charset="0"/>
                <a:ea typeface="Arial" pitchFamily="34" charset="-122"/>
                <a:cs typeface="Arial" pitchFamily="34" charset="-120"/>
              </a:rPr>
              <a:t>Западная Сибирь</a:t>
            </a:r>
            <a:endParaRPr lang="en-US" sz="1600" dirty="0"/>
          </a:p>
        </p:txBody>
      </p:sp>
      <p:sp>
        <p:nvSpPr>
          <p:cNvPr id="31" name="Shape 29"/>
          <p:cNvSpPr/>
          <p:nvPr/>
        </p:nvSpPr>
        <p:spPr>
          <a:xfrm>
            <a:off x="4385667" y="4578350"/>
            <a:ext cx="3420566" cy="844550"/>
          </a:xfrm>
          <a:prstGeom prst="roundRect">
            <a:avLst>
              <a:gd name="adj" fmla="val 15038"/>
            </a:avLst>
          </a:prstGeom>
          <a:solidFill>
            <a:srgbClr val="F6DDC4"/>
          </a:solidFill>
          <a:ln/>
        </p:spPr>
      </p:sp>
      <p:sp>
        <p:nvSpPr>
          <p:cNvPr id="32" name="Text 30"/>
          <p:cNvSpPr/>
          <p:nvPr/>
        </p:nvSpPr>
        <p:spPr>
          <a:xfrm>
            <a:off x="4563467" y="4756150"/>
            <a:ext cx="3156915"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3A0A"/>
                </a:solidFill>
                <a:latin typeface="Arial" pitchFamily="34" charset="0"/>
                <a:ea typeface="Arial" pitchFamily="34" charset="-122"/>
                <a:cs typeface="Arial" pitchFamily="34" charset="-120"/>
              </a:rPr>
              <a:t>Восток</a:t>
            </a:r>
            <a:endParaRPr lang="en-US" sz="1200" dirty="0"/>
          </a:p>
        </p:txBody>
      </p:sp>
      <p:sp>
        <p:nvSpPr>
          <p:cNvPr id="33" name="Text 31"/>
          <p:cNvSpPr/>
          <p:nvPr/>
        </p:nvSpPr>
        <p:spPr>
          <a:xfrm>
            <a:off x="4563467" y="5003800"/>
            <a:ext cx="3156915"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63A"/>
                </a:solidFill>
                <a:latin typeface="Arial" pitchFamily="34" charset="0"/>
                <a:ea typeface="Arial" pitchFamily="34" charset="-122"/>
                <a:cs typeface="Arial" pitchFamily="34" charset="-120"/>
              </a:rPr>
              <a:t>Восточная Сибирь</a:t>
            </a:r>
            <a:endParaRPr lang="en-US" sz="1600" dirty="0"/>
          </a:p>
        </p:txBody>
      </p:sp>
      <p:sp>
        <p:nvSpPr>
          <p:cNvPr id="34" name="Shape 32"/>
          <p:cNvSpPr/>
          <p:nvPr/>
        </p:nvSpPr>
        <p:spPr>
          <a:xfrm>
            <a:off x="7958634" y="4578350"/>
            <a:ext cx="3420467" cy="844550"/>
          </a:xfrm>
          <a:prstGeom prst="roundRect">
            <a:avLst>
              <a:gd name="adj" fmla="val 15038"/>
            </a:avLst>
          </a:prstGeom>
          <a:solidFill>
            <a:srgbClr val="F6DDC4"/>
          </a:solidFill>
          <a:ln/>
        </p:spPr>
      </p:sp>
      <p:sp>
        <p:nvSpPr>
          <p:cNvPr id="35" name="Text 33"/>
          <p:cNvSpPr/>
          <p:nvPr/>
        </p:nvSpPr>
        <p:spPr>
          <a:xfrm>
            <a:off x="8136434" y="4756150"/>
            <a:ext cx="3156813"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3A0A"/>
                </a:solidFill>
                <a:latin typeface="Arial" pitchFamily="34" charset="0"/>
                <a:ea typeface="Arial" pitchFamily="34" charset="-122"/>
                <a:cs typeface="Arial" pitchFamily="34" charset="-120"/>
              </a:rPr>
              <a:t>Восток</a:t>
            </a:r>
            <a:endParaRPr lang="en-US" sz="1200" dirty="0"/>
          </a:p>
        </p:txBody>
      </p:sp>
      <p:sp>
        <p:nvSpPr>
          <p:cNvPr id="36" name="Text 34"/>
          <p:cNvSpPr/>
          <p:nvPr/>
        </p:nvSpPr>
        <p:spPr>
          <a:xfrm>
            <a:off x="8136434" y="5003800"/>
            <a:ext cx="3156813"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63A"/>
                </a:solidFill>
                <a:latin typeface="Arial" pitchFamily="34" charset="0"/>
                <a:ea typeface="Arial" pitchFamily="34" charset="-122"/>
                <a:cs typeface="Arial" pitchFamily="34" charset="-120"/>
              </a:rPr>
              <a:t>Дальний Восток</a:t>
            </a:r>
            <a:endParaRPr lang="en-US" sz="1600" dirty="0"/>
          </a:p>
        </p:txBody>
      </p:sp>
      <p:sp>
        <p:nvSpPr>
          <p:cNvPr id="37" name="Text 35"/>
          <p:cNvSpPr/>
          <p:nvPr/>
        </p:nvSpPr>
        <p:spPr>
          <a:xfrm>
            <a:off x="812800" y="624205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672"/>
                </a:solidFill>
                <a:latin typeface="Arial" pitchFamily="34" charset="0"/>
                <a:ea typeface="Arial" pitchFamily="34" charset="-122"/>
                <a:cs typeface="Arial" pitchFamily="34" charset="-120"/>
              </a:rPr>
              <a:t>13 / 17 · География, 8 класс · Федеративное устройство и районы России</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4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70F"/>
                </a:solidFill>
                <a:latin typeface="Arial" pitchFamily="34" charset="0"/>
                <a:ea typeface="Arial" pitchFamily="34" charset="-122"/>
                <a:cs typeface="Arial" pitchFamily="34" charset="-120"/>
              </a:rPr>
              <a:t>Блок 3 · Макрорегионы</a:t>
            </a:r>
            <a:endParaRPr lang="en-US" sz="1200" dirty="0"/>
          </a:p>
        </p:txBody>
      </p:sp>
      <p:sp>
        <p:nvSpPr>
          <p:cNvPr id="3" name="Text 1"/>
          <p:cNvSpPr/>
          <p:nvPr>
            <p:ph type="title"/>
          </p:nvPr>
        </p:nvSpPr>
        <p:spPr>
          <a:xfrm>
            <a:off x="812800" y="1200150"/>
            <a:ext cx="10883392" cy="46990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63A"/>
                </a:solidFill>
                <a:latin typeface="Arial" pitchFamily="34" charset="0"/>
                <a:ea typeface="Arial" pitchFamily="34" charset="-122"/>
                <a:cs typeface="Arial" pitchFamily="34" charset="-120"/>
              </a:rPr>
              <a:t>Субъекты, округа и районы</a:t>
            </a:r>
            <a:endParaRPr lang="en-US" sz="3200" dirty="0"/>
          </a:p>
        </p:txBody>
      </p:sp>
      <p:sp>
        <p:nvSpPr>
          <p:cNvPr id="4" name="Text 2"/>
          <p:cNvSpPr/>
          <p:nvPr/>
        </p:nvSpPr>
        <p:spPr>
          <a:xfrm>
            <a:off x="812800" y="1822450"/>
            <a:ext cx="10566400" cy="1117600"/>
          </a:xfrm>
          <a:prstGeom prst="roundRect">
            <a:avLst>
              <a:gd name="adj" fmla="val 11364"/>
            </a:avLst>
          </a:prstGeom>
          <a:solidFill>
            <a:srgbClr val="12263A"/>
          </a:solidFill>
          <a:ln/>
        </p:spPr>
        <p:txBody>
          <a:bodyPr wrap="square" lIns="191403" tIns="191403" rIns="0" bIns="166003" rtlCol="0" anchor="t">
            <a:normAutofit/>
          </a:bodyPr>
          <a:lstStyle/>
          <a:p>
            <a:pPr algn="l" indent="0" marL="0">
              <a:lnSpc>
                <a:spcPts val="2600"/>
              </a:lnSpc>
              <a:buNone/>
            </a:pPr>
            <a:r>
              <a:rPr lang="en-US" sz="2000" b="1" dirty="0">
                <a:solidFill>
                  <a:srgbClr val="F7F4EC"/>
                </a:solidFill>
                <a:latin typeface="Arial" pitchFamily="34" charset="0"/>
                <a:ea typeface="Arial" pitchFamily="34" charset="-122"/>
                <a:cs typeface="Arial" pitchFamily="34" charset="-120"/>
              </a:rPr>
              <a:t>Округа — административное деление, макрорегионы и районы — учебное и научное. Их границы не совпадают.</a:t>
            </a:r>
            <a:endParaRPr lang="en-US" sz="2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3130550"/>
          <a:ext cx="10553700" cy="1756966"/>
        </p:xfrm>
        <a:graphic>
          <a:graphicData uri="http://schemas.openxmlformats.org/drawingml/2006/table">
            <a:tbl>
              <a:tblPr/>
              <a:tblGrid>
                <a:gridCol w="3588258"/>
                <a:gridCol w="2743962"/>
                <a:gridCol w="4221480"/>
              </a:tblGrid>
              <a:tr h="439241">
                <a:tc>
                  <a:txBody>
                    <a:bodyPr/>
                    <a:lstStyle/>
                    <a:p>
                      <a:pPr indent="0" marL="0">
                        <a:lnSpc>
                          <a:spcPts val="2240"/>
                        </a:lnSpc>
                        <a:buNone/>
                      </a:pPr>
                      <a:r>
                        <a:rPr lang="en-US" sz="1600" b="1" dirty="0">
                          <a:solidFill>
                            <a:srgbClr val="F7F4EC"/>
                          </a:solidFill>
                          <a:latin typeface="Arial" pitchFamily="34" charset="0"/>
                          <a:ea typeface="Arial" pitchFamily="34" charset="-122"/>
                          <a:cs typeface="Arial" pitchFamily="34" charset="-120"/>
                        </a:rPr>
                        <a:t>Деление</a:t>
                      </a:r>
                      <a:endParaRPr lang="en-US" sz="1600" dirty="0">
                        <a:latin typeface="Arial" charset="0"/>
                        <a:ea typeface="Arial" charset="0"/>
                        <a:cs typeface="Arial" charset="0"/>
                      </a:endParaRPr>
                    </a:p>
                  </a:txBody>
                  <a:tcPr marL="71120" marR="71120" marT="71120" marB="71120" anchor="t">
                    <a:lnL w="12700" cap="flat" cmpd="sng" algn="ctr">
                      <a:solidFill>
                        <a:srgbClr val="C5C3BC"/>
                      </a:solidFill>
                      <a:prstDash val="solid"/>
                      <a:round/>
                      <a:headEnd type="none" w="med" len="med"/>
                      <a:tailEnd type="none" w="med" len="med"/>
                    </a:lnL>
                    <a:lnR w="12700" cap="flat" cmpd="sng" algn="ctr">
                      <a:solidFill>
                        <a:srgbClr val="122231"/>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122231"/>
                      </a:solidFill>
                      <a:prstDash val="solid"/>
                      <a:round/>
                      <a:headEnd type="none" w="med" len="med"/>
                      <a:tailEnd type="none" w="med" len="med"/>
                    </a:lnB>
                    <a:solidFill>
                      <a:srgbClr val="12263A"/>
                    </a:solidFill>
                  </a:tcPr>
                </a:tc>
                <a:tc>
                  <a:txBody>
                    <a:bodyPr/>
                    <a:lstStyle/>
                    <a:p>
                      <a:pPr indent="0" marL="0">
                        <a:lnSpc>
                          <a:spcPts val="2240"/>
                        </a:lnSpc>
                        <a:buNone/>
                      </a:pPr>
                      <a:r>
                        <a:rPr lang="en-US" sz="1600" b="1" dirty="0">
                          <a:solidFill>
                            <a:srgbClr val="F7F4EC"/>
                          </a:solidFill>
                          <a:latin typeface="Arial" pitchFamily="34" charset="0"/>
                          <a:ea typeface="Arial" pitchFamily="34" charset="-122"/>
                          <a:cs typeface="Arial" pitchFamily="34" charset="-120"/>
                        </a:rPr>
                        <a:t>Тип</a:t>
                      </a:r>
                      <a:endParaRPr lang="en-US" sz="1600" dirty="0">
                        <a:latin typeface="Arial" charset="0"/>
                        <a:ea typeface="Arial" charset="0"/>
                        <a:cs typeface="Arial" charset="0"/>
                      </a:endParaRPr>
                    </a:p>
                  </a:txBody>
                  <a:tcPr marL="71120" marR="71120" marT="71120" marB="71120" anchor="t">
                    <a:lnL w="12700" cap="flat" cmpd="sng" algn="ctr">
                      <a:solidFill>
                        <a:srgbClr val="122231"/>
                      </a:solidFill>
                      <a:prstDash val="solid"/>
                      <a:round/>
                      <a:headEnd type="none" w="med" len="med"/>
                      <a:tailEnd type="none" w="med" len="med"/>
                    </a:lnL>
                    <a:lnR w="12700" cap="flat" cmpd="sng" algn="ctr">
                      <a:solidFill>
                        <a:srgbClr val="122231"/>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122231"/>
                      </a:solidFill>
                      <a:prstDash val="solid"/>
                      <a:round/>
                      <a:headEnd type="none" w="med" len="med"/>
                      <a:tailEnd type="none" w="med" len="med"/>
                    </a:lnB>
                    <a:solidFill>
                      <a:srgbClr val="12263A"/>
                    </a:solidFill>
                  </a:tcPr>
                </a:tc>
                <a:tc>
                  <a:txBody>
                    <a:bodyPr/>
                    <a:lstStyle/>
                    <a:p>
                      <a:pPr indent="0" marL="0">
                        <a:lnSpc>
                          <a:spcPts val="2240"/>
                        </a:lnSpc>
                        <a:buNone/>
                      </a:pPr>
                      <a:r>
                        <a:rPr lang="en-US" sz="1600" b="1" dirty="0">
                          <a:solidFill>
                            <a:srgbClr val="F7F4EC"/>
                          </a:solidFill>
                          <a:latin typeface="Arial" pitchFamily="34" charset="0"/>
                          <a:ea typeface="Arial" pitchFamily="34" charset="-122"/>
                          <a:cs typeface="Arial" pitchFamily="34" charset="-120"/>
                        </a:rPr>
                        <a:t>Для чего</a:t>
                      </a:r>
                      <a:endParaRPr lang="en-US" sz="1600" dirty="0">
                        <a:latin typeface="Arial" charset="0"/>
                        <a:ea typeface="Arial" charset="0"/>
                        <a:cs typeface="Arial" charset="0"/>
                      </a:endParaRPr>
                    </a:p>
                  </a:txBody>
                  <a:tcPr marL="71120" marR="71120" marT="71120" marB="71120" anchor="t">
                    <a:lnL w="12700" cap="flat" cmpd="sng" algn="ctr">
                      <a:solidFill>
                        <a:srgbClr val="122231"/>
                      </a:solidFill>
                      <a:prstDash val="solid"/>
                      <a:round/>
                      <a:headEnd type="none" w="med" len="med"/>
                      <a:tailEnd type="none" w="med" len="med"/>
                    </a:lnL>
                    <a:lnR w="12700" cap="flat" cmpd="sng" algn="ctr">
                      <a:solidFill>
                        <a:srgbClr val="122231"/>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122231"/>
                      </a:solidFill>
                      <a:prstDash val="solid"/>
                      <a:round/>
                      <a:headEnd type="none" w="med" len="med"/>
                      <a:tailEnd type="none" w="med" len="med"/>
                    </a:lnB>
                    <a:solidFill>
                      <a:srgbClr val="12263A"/>
                    </a:solidFill>
                  </a:tcPr>
                </a:tc>
              </a:tr>
              <a:tr h="439241">
                <a:tc>
                  <a:txBody>
                    <a:bodyPr/>
                    <a:lstStyle/>
                    <a:p>
                      <a:pPr indent="0" marL="0">
                        <a:lnSpc>
                          <a:spcPts val="2240"/>
                        </a:lnSpc>
                        <a:buNone/>
                      </a:pPr>
                      <a:r>
                        <a:rPr lang="en-US" sz="1600" dirty="0">
                          <a:solidFill>
                            <a:srgbClr val="12263A"/>
                          </a:solidFill>
                          <a:latin typeface="Arial" pitchFamily="34" charset="0"/>
                          <a:ea typeface="Arial" pitchFamily="34" charset="-122"/>
                          <a:cs typeface="Arial" pitchFamily="34" charset="-120"/>
                        </a:rPr>
                        <a:t>Субъекты РФ (89)</a:t>
                      </a:r>
                      <a:endParaRPr lang="en-US" sz="1600" dirty="0">
                        <a:latin typeface="Arial" charset="0"/>
                        <a:ea typeface="Arial" charset="0"/>
                        <a:cs typeface="Arial" charset="0"/>
                      </a:endParaRPr>
                    </a:p>
                  </a:txBody>
                  <a:tcPr marL="71120" marR="71120" marT="71120" marB="71120" anchor="t">
                    <a:lnL w="12700" cap="flat" cmpd="sng" algn="ctr">
                      <a:solidFill>
                        <a:srgbClr val="C5C3BC"/>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22231"/>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2240"/>
                        </a:lnSpc>
                        <a:buNone/>
                      </a:pPr>
                      <a:r>
                        <a:rPr lang="en-US" sz="1600" dirty="0">
                          <a:solidFill>
                            <a:srgbClr val="12263A"/>
                          </a:solidFill>
                          <a:latin typeface="Arial" pitchFamily="34" charset="0"/>
                          <a:ea typeface="Arial" pitchFamily="34" charset="-122"/>
                          <a:cs typeface="Arial" pitchFamily="34" charset="-120"/>
                        </a:rPr>
                        <a:t>административное</a:t>
                      </a:r>
                      <a:endParaRPr lang="en-US" sz="1600" dirty="0">
                        <a:latin typeface="Arial" charset="0"/>
                        <a:ea typeface="Arial" charset="0"/>
                        <a:cs typeface="Arial" charset="0"/>
                      </a:endParaRPr>
                    </a:p>
                  </a:txBody>
                  <a:tcPr marL="71120" marR="71120" marT="71120" marB="7112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22231"/>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2240"/>
                        </a:lnSpc>
                        <a:buNone/>
                      </a:pPr>
                      <a:r>
                        <a:rPr lang="en-US" sz="1600" dirty="0">
                          <a:solidFill>
                            <a:srgbClr val="12263A"/>
                          </a:solidFill>
                          <a:latin typeface="Arial" pitchFamily="34" charset="0"/>
                          <a:ea typeface="Arial" pitchFamily="34" charset="-122"/>
                          <a:cs typeface="Arial" pitchFamily="34" charset="-120"/>
                        </a:rPr>
                        <a:t>управление на местах</a:t>
                      </a:r>
                      <a:endParaRPr lang="en-US" sz="1600" dirty="0">
                        <a:latin typeface="Arial" charset="0"/>
                        <a:ea typeface="Arial" charset="0"/>
                        <a:cs typeface="Arial" charset="0"/>
                      </a:endParaRPr>
                    </a:p>
                  </a:txBody>
                  <a:tcPr marL="71120" marR="71120" marT="71120" marB="7112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22231"/>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439241">
                <a:tc>
                  <a:txBody>
                    <a:bodyPr/>
                    <a:lstStyle/>
                    <a:p>
                      <a:pPr indent="0" marL="0">
                        <a:lnSpc>
                          <a:spcPts val="2240"/>
                        </a:lnSpc>
                        <a:buNone/>
                      </a:pPr>
                      <a:r>
                        <a:rPr lang="en-US" sz="1600" dirty="0">
                          <a:solidFill>
                            <a:srgbClr val="12263A"/>
                          </a:solidFill>
                          <a:latin typeface="Arial" pitchFamily="34" charset="0"/>
                          <a:ea typeface="Arial" pitchFamily="34" charset="-122"/>
                          <a:cs typeface="Arial" pitchFamily="34" charset="-120"/>
                        </a:rPr>
                        <a:t>Федеральные округа (8)</a:t>
                      </a:r>
                      <a:endParaRPr lang="en-US" sz="1600" dirty="0">
                        <a:latin typeface="Arial" charset="0"/>
                        <a:ea typeface="Arial" charset="0"/>
                        <a:cs typeface="Arial" charset="0"/>
                      </a:endParaRPr>
                    </a:p>
                  </a:txBody>
                  <a:tcPr marL="71120" marR="71120" marT="71120" marB="71120" anchor="t">
                    <a:lnL w="12700" cap="flat" cmpd="sng" algn="ctr">
                      <a:solidFill>
                        <a:srgbClr val="C5C3BC"/>
                      </a:solidFill>
                      <a:prstDash val="solid"/>
                      <a:round/>
                      <a:headEnd type="none" w="med" len="med"/>
                      <a:tailEnd type="none" w="med" len="med"/>
                    </a:lnL>
                    <a:lnR w="12700" cap="flat" cmpd="sng" algn="ctr">
                      <a:solidFill>
                        <a:srgbClr val="BEB9AB"/>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EB9AB"/>
                      </a:solidFill>
                      <a:prstDash val="solid"/>
                      <a:round/>
                      <a:headEnd type="none" w="med" len="med"/>
                      <a:tailEnd type="none" w="med" len="med"/>
                    </a:lnB>
                    <a:solidFill>
                      <a:srgbClr val="EEE7D6"/>
                    </a:solidFill>
                  </a:tcPr>
                </a:tc>
                <a:tc>
                  <a:txBody>
                    <a:bodyPr/>
                    <a:lstStyle/>
                    <a:p>
                      <a:pPr indent="0" marL="0">
                        <a:lnSpc>
                          <a:spcPts val="2240"/>
                        </a:lnSpc>
                        <a:buNone/>
                      </a:pPr>
                      <a:r>
                        <a:rPr lang="en-US" sz="1600" dirty="0">
                          <a:solidFill>
                            <a:srgbClr val="12263A"/>
                          </a:solidFill>
                          <a:latin typeface="Arial" pitchFamily="34" charset="0"/>
                          <a:ea typeface="Arial" pitchFamily="34" charset="-122"/>
                          <a:cs typeface="Arial" pitchFamily="34" charset="-120"/>
                        </a:rPr>
                        <a:t>административное</a:t>
                      </a:r>
                      <a:endParaRPr lang="en-US" sz="1600" dirty="0">
                        <a:latin typeface="Arial" charset="0"/>
                        <a:ea typeface="Arial" charset="0"/>
                        <a:cs typeface="Arial" charset="0"/>
                      </a:endParaRPr>
                    </a:p>
                  </a:txBody>
                  <a:tcPr marL="71120" marR="71120" marT="71120" marB="71120" anchor="t">
                    <a:lnL w="12700" cap="flat" cmpd="sng" algn="ctr">
                      <a:solidFill>
                        <a:srgbClr val="BEB9AB"/>
                      </a:solidFill>
                      <a:prstDash val="solid"/>
                      <a:round/>
                      <a:headEnd type="none" w="med" len="med"/>
                      <a:tailEnd type="none" w="med" len="med"/>
                    </a:lnL>
                    <a:lnR w="12700" cap="flat" cmpd="sng" algn="ctr">
                      <a:solidFill>
                        <a:srgbClr val="BEB9AB"/>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EB9AB"/>
                      </a:solidFill>
                      <a:prstDash val="solid"/>
                      <a:round/>
                      <a:headEnd type="none" w="med" len="med"/>
                      <a:tailEnd type="none" w="med" len="med"/>
                    </a:lnB>
                    <a:solidFill>
                      <a:srgbClr val="EEE7D6"/>
                    </a:solidFill>
                  </a:tcPr>
                </a:tc>
                <a:tc>
                  <a:txBody>
                    <a:bodyPr/>
                    <a:lstStyle/>
                    <a:p>
                      <a:pPr indent="0" marL="0">
                        <a:lnSpc>
                          <a:spcPts val="2240"/>
                        </a:lnSpc>
                        <a:buNone/>
                      </a:pPr>
                      <a:r>
                        <a:rPr lang="en-US" sz="1600" dirty="0">
                          <a:solidFill>
                            <a:srgbClr val="12263A"/>
                          </a:solidFill>
                          <a:latin typeface="Arial" pitchFamily="34" charset="0"/>
                          <a:ea typeface="Arial" pitchFamily="34" charset="-122"/>
                          <a:cs typeface="Arial" pitchFamily="34" charset="-120"/>
                        </a:rPr>
                        <a:t>контроль и координация</a:t>
                      </a:r>
                      <a:endParaRPr lang="en-US" sz="1600" dirty="0">
                        <a:latin typeface="Arial" charset="0"/>
                        <a:ea typeface="Arial" charset="0"/>
                        <a:cs typeface="Arial" charset="0"/>
                      </a:endParaRPr>
                    </a:p>
                  </a:txBody>
                  <a:tcPr marL="71120" marR="71120" marT="71120" marB="71120" anchor="t">
                    <a:lnL w="12700" cap="flat" cmpd="sng" algn="ctr">
                      <a:solidFill>
                        <a:srgbClr val="BEB9AB"/>
                      </a:solidFill>
                      <a:prstDash val="solid"/>
                      <a:round/>
                      <a:headEnd type="none" w="med" len="med"/>
                      <a:tailEnd type="none" w="med" len="med"/>
                    </a:lnL>
                    <a:lnR w="12700" cap="flat" cmpd="sng" algn="ctr">
                      <a:solidFill>
                        <a:srgbClr val="BEB9AB"/>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EB9AB"/>
                      </a:solidFill>
                      <a:prstDash val="solid"/>
                      <a:round/>
                      <a:headEnd type="none" w="med" len="med"/>
                      <a:tailEnd type="none" w="med" len="med"/>
                    </a:lnB>
                    <a:solidFill>
                      <a:srgbClr val="EEE7D6"/>
                    </a:solidFill>
                  </a:tcPr>
                </a:tc>
              </a:tr>
              <a:tr h="439241">
                <a:tc>
                  <a:txBody>
                    <a:bodyPr/>
                    <a:lstStyle/>
                    <a:p>
                      <a:pPr indent="0" marL="0">
                        <a:lnSpc>
                          <a:spcPts val="2240"/>
                        </a:lnSpc>
                        <a:buNone/>
                      </a:pPr>
                      <a:r>
                        <a:rPr lang="en-US" sz="1600" dirty="0">
                          <a:solidFill>
                            <a:srgbClr val="12263A"/>
                          </a:solidFill>
                          <a:latin typeface="Arial" pitchFamily="34" charset="0"/>
                          <a:ea typeface="Arial" pitchFamily="34" charset="-122"/>
                          <a:cs typeface="Arial" pitchFamily="34" charset="-120"/>
                        </a:rPr>
                        <a:t>Макрорегионы (2) и районы (9)</a:t>
                      </a:r>
                      <a:endParaRPr lang="en-US" sz="1600" dirty="0">
                        <a:latin typeface="Arial" charset="0"/>
                        <a:ea typeface="Arial" charset="0"/>
                        <a:cs typeface="Arial" charset="0"/>
                      </a:endParaRPr>
                    </a:p>
                  </a:txBody>
                  <a:tcPr marL="71120" marR="71120" marT="71120" marB="71120" anchor="t">
                    <a:lnL w="12700" cap="flat" cmpd="sng" algn="ctr">
                      <a:solidFill>
                        <a:srgbClr val="C5C3BC"/>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EB9AB"/>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2240"/>
                        </a:lnSpc>
                        <a:buNone/>
                      </a:pPr>
                      <a:r>
                        <a:rPr lang="en-US" sz="1600" dirty="0">
                          <a:solidFill>
                            <a:srgbClr val="12263A"/>
                          </a:solidFill>
                          <a:latin typeface="Arial" pitchFamily="34" charset="0"/>
                          <a:ea typeface="Arial" pitchFamily="34" charset="-122"/>
                          <a:cs typeface="Arial" pitchFamily="34" charset="-120"/>
                        </a:rPr>
                        <a:t>учебное и научное</a:t>
                      </a:r>
                      <a:endParaRPr lang="en-US" sz="1600" dirty="0">
                        <a:latin typeface="Arial" charset="0"/>
                        <a:ea typeface="Arial" charset="0"/>
                        <a:cs typeface="Arial" charset="0"/>
                      </a:endParaRPr>
                    </a:p>
                  </a:txBody>
                  <a:tcPr marL="71120" marR="71120" marT="71120" marB="7112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EB9AB"/>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2240"/>
                        </a:lnSpc>
                        <a:buNone/>
                      </a:pPr>
                      <a:r>
                        <a:rPr lang="en-US" sz="1600" dirty="0">
                          <a:solidFill>
                            <a:srgbClr val="12263A"/>
                          </a:solidFill>
                          <a:latin typeface="Arial" pitchFamily="34" charset="0"/>
                          <a:ea typeface="Arial" pitchFamily="34" charset="-122"/>
                          <a:cs typeface="Arial" pitchFamily="34" charset="-120"/>
                        </a:rPr>
                        <a:t>изучение и хозяйственное планирование</a:t>
                      </a:r>
                      <a:endParaRPr lang="en-US" sz="1600" dirty="0">
                        <a:latin typeface="Arial" charset="0"/>
                        <a:ea typeface="Arial" charset="0"/>
                        <a:cs typeface="Arial" charset="0"/>
                      </a:endParaRPr>
                    </a:p>
                  </a:txBody>
                  <a:tcPr marL="71120" marR="71120" marT="71120" marB="7112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EB9AB"/>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bl>
          </a:graphicData>
        </a:graphic>
      </p:graphicFrame>
      <p:sp>
        <p:nvSpPr>
          <p:cNvPr id="6" name="Text 3"/>
          <p:cNvSpPr/>
          <p:nvPr/>
        </p:nvSpPr>
        <p:spPr>
          <a:xfrm>
            <a:off x="812800" y="624205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672"/>
                </a:solidFill>
                <a:latin typeface="Arial" pitchFamily="34" charset="0"/>
                <a:ea typeface="Arial" pitchFamily="34" charset="-122"/>
                <a:cs typeface="Arial" pitchFamily="34" charset="-120"/>
              </a:rPr>
              <a:t>14 / 17 · География, 8 класс · Федеративное устройство и районы России</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EE7D6"/>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70F"/>
                </a:solidFill>
                <a:latin typeface="Arial" pitchFamily="34" charset="0"/>
                <a:ea typeface="Arial" pitchFamily="34" charset="-122"/>
                <a:cs typeface="Arial" pitchFamily="34" charset="-120"/>
              </a:rPr>
              <a:t>Закрепление · 4 минуты</a:t>
            </a:r>
            <a:endParaRPr lang="en-US" sz="1200" dirty="0"/>
          </a:p>
        </p:txBody>
      </p:sp>
      <p:sp>
        <p:nvSpPr>
          <p:cNvPr id="3" name="Text 1"/>
          <p:cNvSpPr/>
          <p:nvPr>
            <p:ph type="title"/>
          </p:nvPr>
        </p:nvSpPr>
        <p:spPr>
          <a:xfrm>
            <a:off x="812800" y="1200150"/>
            <a:ext cx="10883392" cy="46990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63A"/>
                </a:solidFill>
                <a:latin typeface="Arial" pitchFamily="34" charset="0"/>
                <a:ea typeface="Arial" pitchFamily="34" charset="-122"/>
                <a:cs typeface="Arial" pitchFamily="34" charset="-120"/>
              </a:rPr>
              <a:t>Три вопроса</a:t>
            </a:r>
            <a:endParaRPr lang="en-US" sz="3200" dirty="0"/>
          </a:p>
        </p:txBody>
      </p:sp>
      <p:sp>
        <p:nvSpPr>
          <p:cNvPr id="4" name="Shape 2"/>
          <p:cNvSpPr/>
          <p:nvPr/>
        </p:nvSpPr>
        <p:spPr>
          <a:xfrm>
            <a:off x="815975" y="1825625"/>
            <a:ext cx="10560050" cy="806450"/>
          </a:xfrm>
          <a:prstGeom prst="roundRect">
            <a:avLst>
              <a:gd name="adj" fmla="val 15354"/>
            </a:avLst>
          </a:prstGeom>
          <a:solidFill>
            <a:srgbClr val="FFFDF8"/>
          </a:solidFill>
          <a:ln w="6350">
            <a:solidFill>
              <a:srgbClr val="E2DCCB"/>
            </a:solidFill>
            <a:prstDash val="solid"/>
          </a:ln>
        </p:spPr>
      </p:sp>
      <p:sp>
        <p:nvSpPr>
          <p:cNvPr id="5" name="Text 3"/>
          <p:cNvSpPr/>
          <p:nvPr/>
        </p:nvSpPr>
        <p:spPr>
          <a:xfrm>
            <a:off x="1047750" y="2006600"/>
            <a:ext cx="508000" cy="46990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A8470F"/>
                </a:solidFill>
                <a:latin typeface="Arial" pitchFamily="34" charset="0"/>
                <a:ea typeface="Arial" pitchFamily="34" charset="-122"/>
                <a:cs typeface="Arial" pitchFamily="34" charset="-120"/>
              </a:rPr>
              <a:t>1</a:t>
            </a:r>
            <a:endParaRPr lang="en-US" sz="3200" dirty="0"/>
          </a:p>
        </p:txBody>
      </p:sp>
      <p:sp>
        <p:nvSpPr>
          <p:cNvPr id="6" name="Text 4"/>
          <p:cNvSpPr/>
          <p:nvPr/>
        </p:nvSpPr>
        <p:spPr>
          <a:xfrm>
            <a:off x="1708150" y="2063750"/>
            <a:ext cx="9719183"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12263A"/>
                </a:solidFill>
                <a:latin typeface="Arial" pitchFamily="34" charset="0"/>
                <a:ea typeface="Arial" pitchFamily="34" charset="-122"/>
                <a:cs typeface="Arial" pitchFamily="34" charset="-120"/>
              </a:rPr>
              <a:t>Чем федеральный округ отличается от субъекта РФ?</a:t>
            </a:r>
            <a:endParaRPr lang="en-US" sz="2000" dirty="0"/>
          </a:p>
        </p:txBody>
      </p:sp>
      <p:sp>
        <p:nvSpPr>
          <p:cNvPr id="7" name="Shape 5"/>
          <p:cNvSpPr/>
          <p:nvPr/>
        </p:nvSpPr>
        <p:spPr>
          <a:xfrm>
            <a:off x="815975" y="2765425"/>
            <a:ext cx="10560050" cy="806450"/>
          </a:xfrm>
          <a:prstGeom prst="roundRect">
            <a:avLst>
              <a:gd name="adj" fmla="val 15354"/>
            </a:avLst>
          </a:prstGeom>
          <a:solidFill>
            <a:srgbClr val="FFFDF8"/>
          </a:solidFill>
          <a:ln w="6350">
            <a:solidFill>
              <a:srgbClr val="E2DCCB"/>
            </a:solidFill>
            <a:prstDash val="solid"/>
          </a:ln>
        </p:spPr>
      </p:sp>
      <p:sp>
        <p:nvSpPr>
          <p:cNvPr id="8" name="Text 6"/>
          <p:cNvSpPr/>
          <p:nvPr/>
        </p:nvSpPr>
        <p:spPr>
          <a:xfrm>
            <a:off x="1047750" y="2946400"/>
            <a:ext cx="508000" cy="46990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A8470F"/>
                </a:solidFill>
                <a:latin typeface="Arial" pitchFamily="34" charset="0"/>
                <a:ea typeface="Arial" pitchFamily="34" charset="-122"/>
                <a:cs typeface="Arial" pitchFamily="34" charset="-120"/>
              </a:rPr>
              <a:t>2</a:t>
            </a:r>
            <a:endParaRPr lang="en-US" sz="3200" dirty="0"/>
          </a:p>
        </p:txBody>
      </p:sp>
      <p:sp>
        <p:nvSpPr>
          <p:cNvPr id="9" name="Text 7"/>
          <p:cNvSpPr/>
          <p:nvPr/>
        </p:nvSpPr>
        <p:spPr>
          <a:xfrm>
            <a:off x="1708150" y="3003550"/>
            <a:ext cx="9719183"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12263A"/>
                </a:solidFill>
                <a:latin typeface="Arial" pitchFamily="34" charset="0"/>
                <a:ea typeface="Arial" pitchFamily="34" charset="-122"/>
                <a:cs typeface="Arial" pitchFamily="34" charset="-120"/>
              </a:rPr>
              <a:t>Назовите 3 вида субъектов и по одному примеру каждого</a:t>
            </a:r>
            <a:endParaRPr lang="en-US" sz="2000" dirty="0"/>
          </a:p>
        </p:txBody>
      </p:sp>
      <p:sp>
        <p:nvSpPr>
          <p:cNvPr id="10" name="Shape 8"/>
          <p:cNvSpPr/>
          <p:nvPr/>
        </p:nvSpPr>
        <p:spPr>
          <a:xfrm>
            <a:off x="815975" y="3705225"/>
            <a:ext cx="10560050" cy="806450"/>
          </a:xfrm>
          <a:prstGeom prst="roundRect">
            <a:avLst>
              <a:gd name="adj" fmla="val 15354"/>
            </a:avLst>
          </a:prstGeom>
          <a:solidFill>
            <a:srgbClr val="FFFDF8"/>
          </a:solidFill>
          <a:ln w="6350">
            <a:solidFill>
              <a:srgbClr val="E2DCCB"/>
            </a:solidFill>
            <a:prstDash val="solid"/>
          </a:ln>
        </p:spPr>
      </p:sp>
      <p:sp>
        <p:nvSpPr>
          <p:cNvPr id="11" name="Text 9"/>
          <p:cNvSpPr/>
          <p:nvPr/>
        </p:nvSpPr>
        <p:spPr>
          <a:xfrm>
            <a:off x="1047750" y="3886200"/>
            <a:ext cx="508000" cy="46990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A8470F"/>
                </a:solidFill>
                <a:latin typeface="Arial" pitchFamily="34" charset="0"/>
                <a:ea typeface="Arial" pitchFamily="34" charset="-122"/>
                <a:cs typeface="Arial" pitchFamily="34" charset="-120"/>
              </a:rPr>
              <a:t>3</a:t>
            </a:r>
            <a:endParaRPr lang="en-US" sz="3200" dirty="0"/>
          </a:p>
        </p:txBody>
      </p:sp>
      <p:sp>
        <p:nvSpPr>
          <p:cNvPr id="12" name="Text 10"/>
          <p:cNvSpPr/>
          <p:nvPr/>
        </p:nvSpPr>
        <p:spPr>
          <a:xfrm>
            <a:off x="1708150" y="3943350"/>
            <a:ext cx="9719183"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12263A"/>
                </a:solidFill>
                <a:latin typeface="Arial" pitchFamily="34" charset="0"/>
                <a:ea typeface="Arial" pitchFamily="34" charset="-122"/>
                <a:cs typeface="Arial" pitchFamily="34" charset="-120"/>
              </a:rPr>
              <a:t>Какие два макрорегиона выделяют в России и что их разделяет?</a:t>
            </a:r>
            <a:endParaRPr lang="en-US" sz="2000" dirty="0"/>
          </a:p>
        </p:txBody>
      </p:sp>
      <p:sp>
        <p:nvSpPr>
          <p:cNvPr id="13" name="Text 11"/>
          <p:cNvSpPr/>
          <p:nvPr/>
        </p:nvSpPr>
        <p:spPr>
          <a:xfrm>
            <a:off x="812800" y="4692650"/>
            <a:ext cx="10883392" cy="3048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E4C5A"/>
                </a:solidFill>
                <a:latin typeface="Arial" pitchFamily="34" charset="0"/>
                <a:ea typeface="Arial" pitchFamily="34" charset="-122"/>
                <a:cs typeface="Arial" pitchFamily="34" charset="-120"/>
              </a:rPr>
              <a:t>Затем заполните сводную таблицу в тетради.</a:t>
            </a:r>
            <a:endParaRPr lang="en-US" sz="1600" dirty="0"/>
          </a:p>
        </p:txBody>
      </p:sp>
      <p:sp>
        <p:nvSpPr>
          <p:cNvPr id="14" name="Text 12"/>
          <p:cNvSpPr/>
          <p:nvPr/>
        </p:nvSpPr>
        <p:spPr>
          <a:xfrm>
            <a:off x="812800" y="624205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672"/>
                </a:solidFill>
                <a:latin typeface="Arial" pitchFamily="34" charset="0"/>
                <a:ea typeface="Arial" pitchFamily="34" charset="-122"/>
                <a:cs typeface="Arial" pitchFamily="34" charset="-120"/>
              </a:rPr>
              <a:t>15 / 17 · География, 8 класс · Федеративное устройство и районы России</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4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70F"/>
                </a:solidFill>
                <a:latin typeface="Arial" pitchFamily="34" charset="0"/>
                <a:ea typeface="Arial" pitchFamily="34" charset="-122"/>
                <a:cs typeface="Arial" pitchFamily="34" charset="-120"/>
              </a:rPr>
              <a:t>Закрепление · запись в тетрадь</a:t>
            </a:r>
            <a:endParaRPr lang="en-US" sz="1200" dirty="0"/>
          </a:p>
        </p:txBody>
      </p:sp>
      <p:sp>
        <p:nvSpPr>
          <p:cNvPr id="3" name="Text 1"/>
          <p:cNvSpPr/>
          <p:nvPr>
            <p:ph type="title"/>
          </p:nvPr>
        </p:nvSpPr>
        <p:spPr>
          <a:xfrm>
            <a:off x="812800" y="1200150"/>
            <a:ext cx="10883392" cy="46990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63A"/>
                </a:solidFill>
                <a:latin typeface="Arial" pitchFamily="34" charset="0"/>
                <a:ea typeface="Arial" pitchFamily="34" charset="-122"/>
                <a:cs typeface="Arial" pitchFamily="34" charset="-120"/>
              </a:rPr>
              <a:t>Сводная таблица</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35150"/>
          <a:ext cx="10553700" cy="3184128"/>
        </p:xfrm>
        <a:graphic>
          <a:graphicData uri="http://schemas.openxmlformats.org/drawingml/2006/table">
            <a:tbl>
              <a:tblPr/>
              <a:tblGrid>
                <a:gridCol w="2532888"/>
                <a:gridCol w="4854702"/>
                <a:gridCol w="3166110"/>
              </a:tblGrid>
              <a:tr h="439241">
                <a:tc>
                  <a:txBody>
                    <a:bodyPr/>
                    <a:lstStyle/>
                    <a:p>
                      <a:pPr indent="0" marL="0">
                        <a:lnSpc>
                          <a:spcPts val="2240"/>
                        </a:lnSpc>
                        <a:buNone/>
                      </a:pPr>
                      <a:r>
                        <a:rPr lang="en-US" sz="1600" b="1" dirty="0">
                          <a:solidFill>
                            <a:srgbClr val="F7F4EC"/>
                          </a:solidFill>
                          <a:latin typeface="Arial" pitchFamily="34" charset="0"/>
                          <a:ea typeface="Arial" pitchFamily="34" charset="-122"/>
                          <a:cs typeface="Arial" pitchFamily="34" charset="-120"/>
                        </a:rPr>
                        <a:t>Понятие</a:t>
                      </a:r>
                      <a:endParaRPr lang="en-US" sz="1600" dirty="0">
                        <a:latin typeface="Arial" charset="0"/>
                        <a:ea typeface="Arial" charset="0"/>
                        <a:cs typeface="Arial" charset="0"/>
                      </a:endParaRPr>
                    </a:p>
                  </a:txBody>
                  <a:tcPr marL="71120" marR="71120" marT="71120" marB="71120" anchor="t">
                    <a:lnL w="12700" cap="flat" cmpd="sng" algn="ctr">
                      <a:solidFill>
                        <a:srgbClr val="C5C3BC"/>
                      </a:solidFill>
                      <a:prstDash val="solid"/>
                      <a:round/>
                      <a:headEnd type="none" w="med" len="med"/>
                      <a:tailEnd type="none" w="med" len="med"/>
                    </a:lnL>
                    <a:lnR w="12700" cap="flat" cmpd="sng" algn="ctr">
                      <a:solidFill>
                        <a:srgbClr val="122231"/>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122231"/>
                      </a:solidFill>
                      <a:prstDash val="solid"/>
                      <a:round/>
                      <a:headEnd type="none" w="med" len="med"/>
                      <a:tailEnd type="none" w="med" len="med"/>
                    </a:lnB>
                    <a:solidFill>
                      <a:srgbClr val="12263A"/>
                    </a:solidFill>
                  </a:tcPr>
                </a:tc>
                <a:tc>
                  <a:txBody>
                    <a:bodyPr/>
                    <a:lstStyle/>
                    <a:p>
                      <a:pPr indent="0" marL="0">
                        <a:lnSpc>
                          <a:spcPts val="2240"/>
                        </a:lnSpc>
                        <a:buNone/>
                      </a:pPr>
                      <a:r>
                        <a:rPr lang="en-US" sz="1600" b="1" dirty="0">
                          <a:solidFill>
                            <a:srgbClr val="F7F4EC"/>
                          </a:solidFill>
                          <a:latin typeface="Arial" pitchFamily="34" charset="0"/>
                          <a:ea typeface="Arial" pitchFamily="34" charset="-122"/>
                          <a:cs typeface="Arial" pitchFamily="34" charset="-120"/>
                        </a:rPr>
                        <a:t>Определение</a:t>
                      </a:r>
                      <a:endParaRPr lang="en-US" sz="1600" dirty="0">
                        <a:latin typeface="Arial" charset="0"/>
                        <a:ea typeface="Arial" charset="0"/>
                        <a:cs typeface="Arial" charset="0"/>
                      </a:endParaRPr>
                    </a:p>
                  </a:txBody>
                  <a:tcPr marL="71120" marR="71120" marT="71120" marB="71120" anchor="t">
                    <a:lnL w="12700" cap="flat" cmpd="sng" algn="ctr">
                      <a:solidFill>
                        <a:srgbClr val="122231"/>
                      </a:solidFill>
                      <a:prstDash val="solid"/>
                      <a:round/>
                      <a:headEnd type="none" w="med" len="med"/>
                      <a:tailEnd type="none" w="med" len="med"/>
                    </a:lnL>
                    <a:lnR w="12700" cap="flat" cmpd="sng" algn="ctr">
                      <a:solidFill>
                        <a:srgbClr val="122231"/>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122231"/>
                      </a:solidFill>
                      <a:prstDash val="solid"/>
                      <a:round/>
                      <a:headEnd type="none" w="med" len="med"/>
                      <a:tailEnd type="none" w="med" len="med"/>
                    </a:lnB>
                    <a:solidFill>
                      <a:srgbClr val="12263A"/>
                    </a:solidFill>
                  </a:tcPr>
                </a:tc>
                <a:tc>
                  <a:txBody>
                    <a:bodyPr/>
                    <a:lstStyle/>
                    <a:p>
                      <a:pPr indent="0" marL="0">
                        <a:lnSpc>
                          <a:spcPts val="2240"/>
                        </a:lnSpc>
                        <a:buNone/>
                      </a:pPr>
                      <a:r>
                        <a:rPr lang="en-US" sz="1600" b="1" dirty="0">
                          <a:solidFill>
                            <a:srgbClr val="F7F4EC"/>
                          </a:solidFill>
                          <a:latin typeface="Arial" pitchFamily="34" charset="0"/>
                          <a:ea typeface="Arial" pitchFamily="34" charset="-122"/>
                          <a:cs typeface="Arial" pitchFamily="34" charset="-120"/>
                        </a:rPr>
                        <a:t>Пример</a:t>
                      </a:r>
                      <a:endParaRPr lang="en-US" sz="1600" dirty="0">
                        <a:latin typeface="Arial" charset="0"/>
                        <a:ea typeface="Arial" charset="0"/>
                        <a:cs typeface="Arial" charset="0"/>
                      </a:endParaRPr>
                    </a:p>
                  </a:txBody>
                  <a:tcPr marL="71120" marR="71120" marT="71120" marB="71120" anchor="t">
                    <a:lnL w="12700" cap="flat" cmpd="sng" algn="ctr">
                      <a:solidFill>
                        <a:srgbClr val="122231"/>
                      </a:solidFill>
                      <a:prstDash val="solid"/>
                      <a:round/>
                      <a:headEnd type="none" w="med" len="med"/>
                      <a:tailEnd type="none" w="med" len="med"/>
                    </a:lnL>
                    <a:lnR w="12700" cap="flat" cmpd="sng" algn="ctr">
                      <a:solidFill>
                        <a:srgbClr val="122231"/>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122231"/>
                      </a:solidFill>
                      <a:prstDash val="solid"/>
                      <a:round/>
                      <a:headEnd type="none" w="med" len="med"/>
                      <a:tailEnd type="none" w="med" len="med"/>
                    </a:lnB>
                    <a:solidFill>
                      <a:srgbClr val="12263A"/>
                    </a:solidFill>
                  </a:tcPr>
                </a:tc>
              </a:tr>
              <a:tr h="439241">
                <a:tc>
                  <a:txBody>
                    <a:bodyPr/>
                    <a:lstStyle/>
                    <a:p>
                      <a:pPr indent="0" marL="0">
                        <a:lnSpc>
                          <a:spcPts val="2240"/>
                        </a:lnSpc>
                        <a:buNone/>
                      </a:pPr>
                      <a:r>
                        <a:rPr lang="en-US" sz="1600" dirty="0">
                          <a:solidFill>
                            <a:srgbClr val="12263A"/>
                          </a:solidFill>
                          <a:latin typeface="Arial" pitchFamily="34" charset="0"/>
                          <a:ea typeface="Arial" pitchFamily="34" charset="-122"/>
                          <a:cs typeface="Arial" pitchFamily="34" charset="-120"/>
                        </a:rPr>
                        <a:t>Федерация</a:t>
                      </a:r>
                      <a:endParaRPr lang="en-US" sz="1600" dirty="0">
                        <a:latin typeface="Arial" charset="0"/>
                        <a:ea typeface="Arial" charset="0"/>
                        <a:cs typeface="Arial" charset="0"/>
                      </a:endParaRPr>
                    </a:p>
                  </a:txBody>
                  <a:tcPr marL="71120" marR="71120" marT="71120" marB="71120" anchor="t">
                    <a:lnL w="12700" cap="flat" cmpd="sng" algn="ctr">
                      <a:solidFill>
                        <a:srgbClr val="C5C3BC"/>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22231"/>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2240"/>
                        </a:lnSpc>
                        <a:buNone/>
                      </a:pPr>
                      <a:r>
                        <a:rPr lang="en-US" sz="1600" dirty="0">
                          <a:solidFill>
                            <a:srgbClr val="12263A"/>
                          </a:solidFill>
                          <a:latin typeface="Arial" pitchFamily="34" charset="0"/>
                          <a:ea typeface="Arial" pitchFamily="34" charset="-122"/>
                          <a:cs typeface="Arial" pitchFamily="34" charset="-120"/>
                        </a:rPr>
                        <a:t>государство из равноправных субъектов</a:t>
                      </a:r>
                      <a:endParaRPr lang="en-US" sz="1600" dirty="0">
                        <a:latin typeface="Arial" charset="0"/>
                        <a:ea typeface="Arial" charset="0"/>
                        <a:cs typeface="Arial" charset="0"/>
                      </a:endParaRPr>
                    </a:p>
                  </a:txBody>
                  <a:tcPr marL="71120" marR="71120" marT="71120" marB="7112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22231"/>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2240"/>
                        </a:lnSpc>
                        <a:buNone/>
                      </a:pPr>
                      <a:r>
                        <a:rPr lang="en-US" sz="1600" dirty="0">
                          <a:solidFill>
                            <a:srgbClr val="12263A"/>
                          </a:solidFill>
                          <a:latin typeface="Arial" pitchFamily="34" charset="0"/>
                          <a:ea typeface="Arial" pitchFamily="34" charset="-122"/>
                          <a:cs typeface="Arial" pitchFamily="34" charset="-120"/>
                        </a:rPr>
                        <a:t>Россия</a:t>
                      </a:r>
                      <a:endParaRPr lang="en-US" sz="1600" dirty="0">
                        <a:latin typeface="Arial" charset="0"/>
                        <a:ea typeface="Arial" charset="0"/>
                        <a:cs typeface="Arial" charset="0"/>
                      </a:endParaRPr>
                    </a:p>
                  </a:txBody>
                  <a:tcPr marL="71120" marR="71120" marT="71120" marB="7112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22231"/>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439241">
                <a:tc>
                  <a:txBody>
                    <a:bodyPr/>
                    <a:lstStyle/>
                    <a:p>
                      <a:pPr indent="0" marL="0">
                        <a:lnSpc>
                          <a:spcPts val="2240"/>
                        </a:lnSpc>
                        <a:buNone/>
                      </a:pPr>
                      <a:r>
                        <a:rPr lang="en-US" sz="1600" dirty="0">
                          <a:solidFill>
                            <a:srgbClr val="12263A"/>
                          </a:solidFill>
                          <a:latin typeface="Arial" pitchFamily="34" charset="0"/>
                          <a:ea typeface="Arial" pitchFamily="34" charset="-122"/>
                          <a:cs typeface="Arial" pitchFamily="34" charset="-120"/>
                        </a:rPr>
                        <a:t>Субъект РФ</a:t>
                      </a:r>
                      <a:endParaRPr lang="en-US" sz="1600" dirty="0">
                        <a:latin typeface="Arial" charset="0"/>
                        <a:ea typeface="Arial" charset="0"/>
                        <a:cs typeface="Arial" charset="0"/>
                      </a:endParaRPr>
                    </a:p>
                  </a:txBody>
                  <a:tcPr marL="71120" marR="71120" marT="71120" marB="71120" anchor="t">
                    <a:lnL w="12700" cap="flat" cmpd="sng" algn="ctr">
                      <a:solidFill>
                        <a:srgbClr val="C5C3BC"/>
                      </a:solidFill>
                      <a:prstDash val="solid"/>
                      <a:round/>
                      <a:headEnd type="none" w="med" len="med"/>
                      <a:tailEnd type="none" w="med" len="med"/>
                    </a:lnL>
                    <a:lnR w="12700" cap="flat" cmpd="sng" algn="ctr">
                      <a:solidFill>
                        <a:srgbClr val="BEB9AB"/>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EB9AB"/>
                      </a:solidFill>
                      <a:prstDash val="solid"/>
                      <a:round/>
                      <a:headEnd type="none" w="med" len="med"/>
                      <a:tailEnd type="none" w="med" len="med"/>
                    </a:lnB>
                    <a:solidFill>
                      <a:srgbClr val="EEE7D6"/>
                    </a:solidFill>
                  </a:tcPr>
                </a:tc>
                <a:tc>
                  <a:txBody>
                    <a:bodyPr/>
                    <a:lstStyle/>
                    <a:p>
                      <a:pPr indent="0" marL="0">
                        <a:lnSpc>
                          <a:spcPts val="2240"/>
                        </a:lnSpc>
                        <a:buNone/>
                      </a:pPr>
                      <a:r>
                        <a:rPr lang="en-US" sz="1600" dirty="0">
                          <a:solidFill>
                            <a:srgbClr val="12263A"/>
                          </a:solidFill>
                          <a:latin typeface="Arial" pitchFamily="34" charset="0"/>
                          <a:ea typeface="Arial" pitchFamily="34" charset="-122"/>
                          <a:cs typeface="Arial" pitchFamily="34" charset="-120"/>
                        </a:rPr>
                        <a:t>равноправная часть федерации</a:t>
                      </a:r>
                      <a:endParaRPr lang="en-US" sz="1600" dirty="0">
                        <a:latin typeface="Arial" charset="0"/>
                        <a:ea typeface="Arial" charset="0"/>
                        <a:cs typeface="Arial" charset="0"/>
                      </a:endParaRPr>
                    </a:p>
                  </a:txBody>
                  <a:tcPr marL="71120" marR="71120" marT="71120" marB="71120" anchor="t">
                    <a:lnL w="12700" cap="flat" cmpd="sng" algn="ctr">
                      <a:solidFill>
                        <a:srgbClr val="BEB9AB"/>
                      </a:solidFill>
                      <a:prstDash val="solid"/>
                      <a:round/>
                      <a:headEnd type="none" w="med" len="med"/>
                      <a:tailEnd type="none" w="med" len="med"/>
                    </a:lnL>
                    <a:lnR w="12700" cap="flat" cmpd="sng" algn="ctr">
                      <a:solidFill>
                        <a:srgbClr val="BEB9AB"/>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EB9AB"/>
                      </a:solidFill>
                      <a:prstDash val="solid"/>
                      <a:round/>
                      <a:headEnd type="none" w="med" len="med"/>
                      <a:tailEnd type="none" w="med" len="med"/>
                    </a:lnB>
                    <a:solidFill>
                      <a:srgbClr val="EEE7D6"/>
                    </a:solidFill>
                  </a:tcPr>
                </a:tc>
                <a:tc>
                  <a:txBody>
                    <a:bodyPr/>
                    <a:lstStyle/>
                    <a:p>
                      <a:pPr indent="0" marL="0">
                        <a:lnSpc>
                          <a:spcPts val="2240"/>
                        </a:lnSpc>
                        <a:buNone/>
                      </a:pPr>
                      <a:r>
                        <a:rPr lang="en-US" sz="1600" dirty="0">
                          <a:solidFill>
                            <a:srgbClr val="12263A"/>
                          </a:solidFill>
                          <a:latin typeface="Arial" pitchFamily="34" charset="0"/>
                          <a:ea typeface="Arial" pitchFamily="34" charset="-122"/>
                          <a:cs typeface="Arial" pitchFamily="34" charset="-120"/>
                        </a:rPr>
                        <a:t>Республика Татарстан</a:t>
                      </a:r>
                      <a:endParaRPr lang="en-US" sz="1600" dirty="0">
                        <a:latin typeface="Arial" charset="0"/>
                        <a:ea typeface="Arial" charset="0"/>
                        <a:cs typeface="Arial" charset="0"/>
                      </a:endParaRPr>
                    </a:p>
                  </a:txBody>
                  <a:tcPr marL="71120" marR="71120" marT="71120" marB="71120" anchor="t">
                    <a:lnL w="12700" cap="flat" cmpd="sng" algn="ctr">
                      <a:solidFill>
                        <a:srgbClr val="BEB9AB"/>
                      </a:solidFill>
                      <a:prstDash val="solid"/>
                      <a:round/>
                      <a:headEnd type="none" w="med" len="med"/>
                      <a:tailEnd type="none" w="med" len="med"/>
                    </a:lnL>
                    <a:lnR w="12700" cap="flat" cmpd="sng" algn="ctr">
                      <a:solidFill>
                        <a:srgbClr val="BEB9AB"/>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EB9AB"/>
                      </a:solidFill>
                      <a:prstDash val="solid"/>
                      <a:round/>
                      <a:headEnd type="none" w="med" len="med"/>
                      <a:tailEnd type="none" w="med" len="med"/>
                    </a:lnB>
                    <a:solidFill>
                      <a:srgbClr val="EEE7D6"/>
                    </a:solidFill>
                  </a:tcPr>
                </a:tc>
              </a:tr>
              <a:tr h="713581">
                <a:tc>
                  <a:txBody>
                    <a:bodyPr/>
                    <a:lstStyle/>
                    <a:p>
                      <a:pPr indent="0" marL="0">
                        <a:lnSpc>
                          <a:spcPts val="2240"/>
                        </a:lnSpc>
                        <a:buNone/>
                      </a:pPr>
                      <a:r>
                        <a:rPr lang="en-US" sz="1600" dirty="0">
                          <a:solidFill>
                            <a:srgbClr val="12263A"/>
                          </a:solidFill>
                          <a:latin typeface="Arial" pitchFamily="34" charset="0"/>
                          <a:ea typeface="Arial" pitchFamily="34" charset="-122"/>
                          <a:cs typeface="Arial" pitchFamily="34" charset="-120"/>
                        </a:rPr>
                        <a:t>Федеральный округ</a:t>
                      </a:r>
                      <a:endParaRPr lang="en-US" sz="1600" dirty="0">
                        <a:latin typeface="Arial" charset="0"/>
                        <a:ea typeface="Arial" charset="0"/>
                        <a:cs typeface="Arial" charset="0"/>
                      </a:endParaRPr>
                    </a:p>
                  </a:txBody>
                  <a:tcPr marL="71120" marR="71120" marT="71120" marB="71120" anchor="t">
                    <a:lnL w="12700" cap="flat" cmpd="sng" algn="ctr">
                      <a:solidFill>
                        <a:srgbClr val="C5C3BC"/>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EB9AB"/>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2240"/>
                        </a:lnSpc>
                        <a:buNone/>
                      </a:pPr>
                      <a:r>
                        <a:rPr lang="en-US" sz="1600" dirty="0">
                          <a:solidFill>
                            <a:srgbClr val="12263A"/>
                          </a:solidFill>
                          <a:latin typeface="Arial" pitchFamily="34" charset="0"/>
                          <a:ea typeface="Arial" pitchFamily="34" charset="-122"/>
                          <a:cs typeface="Arial" pitchFamily="34" charset="-120"/>
                        </a:rPr>
                        <a:t>объединение субъектов для контроля, не субъект федерации</a:t>
                      </a:r>
                      <a:endParaRPr lang="en-US" sz="1600" dirty="0">
                        <a:latin typeface="Arial" charset="0"/>
                        <a:ea typeface="Arial" charset="0"/>
                        <a:cs typeface="Arial" charset="0"/>
                      </a:endParaRPr>
                    </a:p>
                  </a:txBody>
                  <a:tcPr marL="71120" marR="71120" marT="71120" marB="7112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EB9AB"/>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2240"/>
                        </a:lnSpc>
                        <a:buNone/>
                      </a:pPr>
                      <a:r>
                        <a:rPr lang="en-US" sz="1600" dirty="0">
                          <a:solidFill>
                            <a:srgbClr val="12263A"/>
                          </a:solidFill>
                          <a:latin typeface="Arial" pitchFamily="34" charset="0"/>
                          <a:ea typeface="Arial" pitchFamily="34" charset="-122"/>
                          <a:cs typeface="Arial" pitchFamily="34" charset="-120"/>
                        </a:rPr>
                        <a:t>Приволжский ФО</a:t>
                      </a:r>
                      <a:endParaRPr lang="en-US" sz="1600" dirty="0">
                        <a:latin typeface="Arial" charset="0"/>
                        <a:ea typeface="Arial" charset="0"/>
                        <a:cs typeface="Arial" charset="0"/>
                      </a:endParaRPr>
                    </a:p>
                  </a:txBody>
                  <a:tcPr marL="71120" marR="71120" marT="71120" marB="7112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EB9AB"/>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713581">
                <a:tc>
                  <a:txBody>
                    <a:bodyPr/>
                    <a:lstStyle/>
                    <a:p>
                      <a:pPr indent="0" marL="0">
                        <a:lnSpc>
                          <a:spcPts val="2240"/>
                        </a:lnSpc>
                        <a:buNone/>
                      </a:pPr>
                      <a:r>
                        <a:rPr lang="en-US" sz="1600" dirty="0">
                          <a:solidFill>
                            <a:srgbClr val="12263A"/>
                          </a:solidFill>
                          <a:latin typeface="Arial" pitchFamily="34" charset="0"/>
                          <a:ea typeface="Arial" pitchFamily="34" charset="-122"/>
                          <a:cs typeface="Arial" pitchFamily="34" charset="-120"/>
                        </a:rPr>
                        <a:t>Районирование</a:t>
                      </a:r>
                      <a:endParaRPr lang="en-US" sz="1600" dirty="0">
                        <a:latin typeface="Arial" charset="0"/>
                        <a:ea typeface="Arial" charset="0"/>
                        <a:cs typeface="Arial" charset="0"/>
                      </a:endParaRPr>
                    </a:p>
                  </a:txBody>
                  <a:tcPr marL="71120" marR="71120" marT="71120" marB="71120" anchor="t">
                    <a:lnL w="12700" cap="flat" cmpd="sng" algn="ctr">
                      <a:solidFill>
                        <a:srgbClr val="C5C3BC"/>
                      </a:solidFill>
                      <a:prstDash val="solid"/>
                      <a:round/>
                      <a:headEnd type="none" w="med" len="med"/>
                      <a:tailEnd type="none" w="med" len="med"/>
                    </a:lnL>
                    <a:lnR w="12700" cap="flat" cmpd="sng" algn="ctr">
                      <a:solidFill>
                        <a:srgbClr val="BEB9AB"/>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EB9AB"/>
                      </a:solidFill>
                      <a:prstDash val="solid"/>
                      <a:round/>
                      <a:headEnd type="none" w="med" len="med"/>
                      <a:tailEnd type="none" w="med" len="med"/>
                    </a:lnB>
                    <a:solidFill>
                      <a:srgbClr val="EEE7D6"/>
                    </a:solidFill>
                  </a:tcPr>
                </a:tc>
                <a:tc>
                  <a:txBody>
                    <a:bodyPr/>
                    <a:lstStyle/>
                    <a:p>
                      <a:pPr indent="0" marL="0">
                        <a:lnSpc>
                          <a:spcPts val="2240"/>
                        </a:lnSpc>
                        <a:buNone/>
                      </a:pPr>
                      <a:r>
                        <a:rPr lang="en-US" sz="1600" dirty="0">
                          <a:solidFill>
                            <a:srgbClr val="12263A"/>
                          </a:solidFill>
                          <a:latin typeface="Arial" pitchFamily="34" charset="0"/>
                          <a:ea typeface="Arial" pitchFamily="34" charset="-122"/>
                          <a:cs typeface="Arial" pitchFamily="34" charset="-120"/>
                        </a:rPr>
                        <a:t>разделение территории по признакам</a:t>
                      </a:r>
                      <a:endParaRPr lang="en-US" sz="1600" dirty="0">
                        <a:latin typeface="Arial" charset="0"/>
                        <a:ea typeface="Arial" charset="0"/>
                        <a:cs typeface="Arial" charset="0"/>
                      </a:endParaRPr>
                    </a:p>
                  </a:txBody>
                  <a:tcPr marL="71120" marR="71120" marT="71120" marB="71120" anchor="t">
                    <a:lnL w="12700" cap="flat" cmpd="sng" algn="ctr">
                      <a:solidFill>
                        <a:srgbClr val="BEB9AB"/>
                      </a:solidFill>
                      <a:prstDash val="solid"/>
                      <a:round/>
                      <a:headEnd type="none" w="med" len="med"/>
                      <a:tailEnd type="none" w="med" len="med"/>
                    </a:lnL>
                    <a:lnR w="12700" cap="flat" cmpd="sng" algn="ctr">
                      <a:solidFill>
                        <a:srgbClr val="BEB9AB"/>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EB9AB"/>
                      </a:solidFill>
                      <a:prstDash val="solid"/>
                      <a:round/>
                      <a:headEnd type="none" w="med" len="med"/>
                      <a:tailEnd type="none" w="med" len="med"/>
                    </a:lnB>
                    <a:solidFill>
                      <a:srgbClr val="EEE7D6"/>
                    </a:solidFill>
                  </a:tcPr>
                </a:tc>
                <a:tc>
                  <a:txBody>
                    <a:bodyPr/>
                    <a:lstStyle/>
                    <a:p>
                      <a:pPr indent="0" marL="0">
                        <a:lnSpc>
                          <a:spcPts val="2240"/>
                        </a:lnSpc>
                        <a:buNone/>
                      </a:pPr>
                      <a:r>
                        <a:rPr lang="en-US" sz="1600" dirty="0">
                          <a:solidFill>
                            <a:srgbClr val="12263A"/>
                          </a:solidFill>
                          <a:latin typeface="Arial" pitchFamily="34" charset="0"/>
                          <a:ea typeface="Arial" pitchFamily="34" charset="-122"/>
                          <a:cs typeface="Arial" pitchFamily="34" charset="-120"/>
                        </a:rPr>
                        <a:t>экономическое районирование</a:t>
                      </a:r>
                      <a:endParaRPr lang="en-US" sz="1600" dirty="0">
                        <a:latin typeface="Arial" charset="0"/>
                        <a:ea typeface="Arial" charset="0"/>
                        <a:cs typeface="Arial" charset="0"/>
                      </a:endParaRPr>
                    </a:p>
                  </a:txBody>
                  <a:tcPr marL="71120" marR="71120" marT="71120" marB="71120" anchor="t">
                    <a:lnL w="12700" cap="flat" cmpd="sng" algn="ctr">
                      <a:solidFill>
                        <a:srgbClr val="BEB9AB"/>
                      </a:solidFill>
                      <a:prstDash val="solid"/>
                      <a:round/>
                      <a:headEnd type="none" w="med" len="med"/>
                      <a:tailEnd type="none" w="med" len="med"/>
                    </a:lnL>
                    <a:lnR w="12700" cap="flat" cmpd="sng" algn="ctr">
                      <a:solidFill>
                        <a:srgbClr val="BEB9AB"/>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EB9AB"/>
                      </a:solidFill>
                      <a:prstDash val="solid"/>
                      <a:round/>
                      <a:headEnd type="none" w="med" len="med"/>
                      <a:tailEnd type="none" w="med" len="med"/>
                    </a:lnB>
                    <a:solidFill>
                      <a:srgbClr val="EEE7D6"/>
                    </a:solidFill>
                  </a:tcPr>
                </a:tc>
              </a:tr>
              <a:tr h="439241">
                <a:tc>
                  <a:txBody>
                    <a:bodyPr/>
                    <a:lstStyle/>
                    <a:p>
                      <a:pPr indent="0" marL="0">
                        <a:lnSpc>
                          <a:spcPts val="2240"/>
                        </a:lnSpc>
                        <a:buNone/>
                      </a:pPr>
                      <a:r>
                        <a:rPr lang="en-US" sz="1600" dirty="0">
                          <a:solidFill>
                            <a:srgbClr val="12263A"/>
                          </a:solidFill>
                          <a:latin typeface="Arial" pitchFamily="34" charset="0"/>
                          <a:ea typeface="Arial" pitchFamily="34" charset="-122"/>
                          <a:cs typeface="Arial" pitchFamily="34" charset="-120"/>
                        </a:rPr>
                        <a:t>Макрорегион</a:t>
                      </a:r>
                      <a:endParaRPr lang="en-US" sz="1600" dirty="0">
                        <a:latin typeface="Arial" charset="0"/>
                        <a:ea typeface="Arial" charset="0"/>
                        <a:cs typeface="Arial" charset="0"/>
                      </a:endParaRPr>
                    </a:p>
                  </a:txBody>
                  <a:tcPr marL="71120" marR="71120" marT="71120" marB="71120" anchor="t">
                    <a:lnL w="12700" cap="flat" cmpd="sng" algn="ctr">
                      <a:solidFill>
                        <a:srgbClr val="C5C3BC"/>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EB9AB"/>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2240"/>
                        </a:lnSpc>
                        <a:buNone/>
                      </a:pPr>
                      <a:r>
                        <a:rPr lang="en-US" sz="1600" dirty="0">
                          <a:solidFill>
                            <a:srgbClr val="12263A"/>
                          </a:solidFill>
                          <a:latin typeface="Arial" pitchFamily="34" charset="0"/>
                          <a:ea typeface="Arial" pitchFamily="34" charset="-122"/>
                          <a:cs typeface="Arial" pitchFamily="34" charset="-120"/>
                        </a:rPr>
                        <a:t>крупная часть страны из нескольких районов</a:t>
                      </a:r>
                      <a:endParaRPr lang="en-US" sz="1600" dirty="0">
                        <a:latin typeface="Arial" charset="0"/>
                        <a:ea typeface="Arial" charset="0"/>
                        <a:cs typeface="Arial" charset="0"/>
                      </a:endParaRPr>
                    </a:p>
                  </a:txBody>
                  <a:tcPr marL="71120" marR="71120" marT="71120" marB="7112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EB9AB"/>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2240"/>
                        </a:lnSpc>
                        <a:buNone/>
                      </a:pPr>
                      <a:r>
                        <a:rPr lang="en-US" sz="1600" dirty="0">
                          <a:solidFill>
                            <a:srgbClr val="12263A"/>
                          </a:solidFill>
                          <a:latin typeface="Arial" pitchFamily="34" charset="0"/>
                          <a:ea typeface="Arial" pitchFamily="34" charset="-122"/>
                          <a:cs typeface="Arial" pitchFamily="34" charset="-120"/>
                        </a:rPr>
                        <a:t>Западный, Восточный</a:t>
                      </a:r>
                      <a:endParaRPr lang="en-US" sz="1600" dirty="0">
                        <a:latin typeface="Arial" charset="0"/>
                        <a:ea typeface="Arial" charset="0"/>
                        <a:cs typeface="Arial" charset="0"/>
                      </a:endParaRPr>
                    </a:p>
                  </a:txBody>
                  <a:tcPr marL="71120" marR="71120" marT="71120" marB="7112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EB9AB"/>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bl>
          </a:graphicData>
        </a:graphic>
      </p:graphicFrame>
      <p:sp>
        <p:nvSpPr>
          <p:cNvPr id="5" name="Text 2"/>
          <p:cNvSpPr/>
          <p:nvPr/>
        </p:nvSpPr>
        <p:spPr>
          <a:xfrm>
            <a:off x="812800" y="624205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672"/>
                </a:solidFill>
                <a:latin typeface="Arial" pitchFamily="34" charset="0"/>
                <a:ea typeface="Arial" pitchFamily="34" charset="-122"/>
                <a:cs typeface="Arial" pitchFamily="34" charset="-120"/>
              </a:rPr>
              <a:t>16 / 17 · География, 8 класс · Федеративное устройство и районы России</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4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70F"/>
                </a:solidFill>
                <a:latin typeface="Arial" pitchFamily="34" charset="0"/>
                <a:ea typeface="Arial" pitchFamily="34" charset="-122"/>
                <a:cs typeface="Arial" pitchFamily="34" charset="-120"/>
              </a:rPr>
              <a:t>Финал урока · 2 минуты</a:t>
            </a:r>
            <a:endParaRPr lang="en-US" sz="1200" dirty="0"/>
          </a:p>
        </p:txBody>
      </p:sp>
      <p:sp>
        <p:nvSpPr>
          <p:cNvPr id="3" name="Text 1"/>
          <p:cNvSpPr/>
          <p:nvPr>
            <p:ph type="title"/>
          </p:nvPr>
        </p:nvSpPr>
        <p:spPr>
          <a:xfrm>
            <a:off x="812800" y="1200150"/>
            <a:ext cx="10883392" cy="46990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63A"/>
                </a:solidFill>
                <a:latin typeface="Arial" pitchFamily="34" charset="0"/>
                <a:ea typeface="Arial" pitchFamily="34" charset="-122"/>
                <a:cs typeface="Arial" pitchFamily="34" charset="-120"/>
              </a:rPr>
              <a:t>Рефлексия и домашнее задание</a:t>
            </a:r>
            <a:endParaRPr lang="en-US" sz="3200" dirty="0"/>
          </a:p>
        </p:txBody>
      </p:sp>
      <p:sp>
        <p:nvSpPr>
          <p:cNvPr id="4" name="Shape 2"/>
          <p:cNvSpPr/>
          <p:nvPr/>
        </p:nvSpPr>
        <p:spPr>
          <a:xfrm>
            <a:off x="815975" y="1825625"/>
            <a:ext cx="5181600" cy="2425700"/>
          </a:xfrm>
          <a:prstGeom prst="roundRect">
            <a:avLst>
              <a:gd name="adj" fmla="val 5105"/>
            </a:avLst>
          </a:prstGeom>
          <a:solidFill>
            <a:srgbClr val="FFFDF8"/>
          </a:solidFill>
          <a:ln w="6350">
            <a:solidFill>
              <a:srgbClr val="E2DCCB"/>
            </a:solidFill>
            <a:prstDash val="solid"/>
          </a:ln>
        </p:spPr>
      </p:sp>
      <p:sp>
        <p:nvSpPr>
          <p:cNvPr id="5" name="Text 3"/>
          <p:cNvSpPr/>
          <p:nvPr/>
        </p:nvSpPr>
        <p:spPr>
          <a:xfrm>
            <a:off x="1047750" y="2057400"/>
            <a:ext cx="485959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263A"/>
                </a:solidFill>
                <a:latin typeface="Arial" pitchFamily="34" charset="0"/>
                <a:ea typeface="Arial" pitchFamily="34" charset="-122"/>
                <a:cs typeface="Arial" pitchFamily="34" charset="-120"/>
              </a:rPr>
              <a:t>Светофор</a:t>
            </a:r>
            <a:endParaRPr lang="en-US" sz="2000" dirty="0"/>
          </a:p>
        </p:txBody>
      </p:sp>
      <p:sp>
        <p:nvSpPr>
          <p:cNvPr id="6" name="Shape 4"/>
          <p:cNvSpPr/>
          <p:nvPr/>
        </p:nvSpPr>
        <p:spPr>
          <a:xfrm>
            <a:off x="1047750" y="2489200"/>
            <a:ext cx="304800" cy="304800"/>
          </a:xfrm>
          <a:prstGeom prst="roundRect">
            <a:avLst>
              <a:gd name="adj" fmla="val 50000"/>
            </a:avLst>
          </a:prstGeom>
          <a:solidFill>
            <a:srgbClr val="2E8B57"/>
          </a:solidFill>
          <a:ln/>
        </p:spPr>
      </p:sp>
      <p:sp>
        <p:nvSpPr>
          <p:cNvPr id="7" name="Text 5"/>
          <p:cNvSpPr/>
          <p:nvPr/>
        </p:nvSpPr>
        <p:spPr>
          <a:xfrm>
            <a:off x="1504950" y="2501900"/>
            <a:ext cx="4388676" cy="30480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2263A"/>
                </a:solidFill>
                <a:latin typeface="Arial" pitchFamily="34" charset="0"/>
                <a:ea typeface="Arial" pitchFamily="34" charset="-122"/>
                <a:cs typeface="Arial" pitchFamily="34" charset="-120"/>
              </a:rPr>
              <a:t>Зелёная:</a:t>
            </a:r>
            <a:r>
              <a:rPr lang="en-US" sz="1600" dirty="0">
                <a:solidFill>
                  <a:srgbClr val="12263A"/>
                </a:solidFill>
                <a:latin typeface="Arial" pitchFamily="34" charset="0"/>
                <a:ea typeface="Arial" pitchFamily="34" charset="-122"/>
                <a:cs typeface="Arial" pitchFamily="34" charset="-120"/>
              </a:rPr>
              <a:t> всё понял</a:t>
            </a:r>
            <a:endParaRPr lang="en-US" sz="1600" dirty="0"/>
          </a:p>
        </p:txBody>
      </p:sp>
      <p:sp>
        <p:nvSpPr>
          <p:cNvPr id="8" name="Shape 6"/>
          <p:cNvSpPr/>
          <p:nvPr/>
        </p:nvSpPr>
        <p:spPr>
          <a:xfrm>
            <a:off x="1047750" y="2921000"/>
            <a:ext cx="304800" cy="304800"/>
          </a:xfrm>
          <a:prstGeom prst="roundRect">
            <a:avLst>
              <a:gd name="adj" fmla="val 50000"/>
            </a:avLst>
          </a:prstGeom>
          <a:solidFill>
            <a:srgbClr val="E3B23C"/>
          </a:solidFill>
          <a:ln/>
        </p:spPr>
      </p:sp>
      <p:sp>
        <p:nvSpPr>
          <p:cNvPr id="9" name="Text 7"/>
          <p:cNvSpPr/>
          <p:nvPr/>
        </p:nvSpPr>
        <p:spPr>
          <a:xfrm>
            <a:off x="1504950" y="2933700"/>
            <a:ext cx="4388676" cy="30480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2263A"/>
                </a:solidFill>
                <a:latin typeface="Arial" pitchFamily="34" charset="0"/>
                <a:ea typeface="Arial" pitchFamily="34" charset="-122"/>
                <a:cs typeface="Arial" pitchFamily="34" charset="-120"/>
              </a:rPr>
              <a:t>Жёлтая:</a:t>
            </a:r>
            <a:r>
              <a:rPr lang="en-US" sz="1600" dirty="0">
                <a:solidFill>
                  <a:srgbClr val="12263A"/>
                </a:solidFill>
                <a:latin typeface="Arial" pitchFamily="34" charset="0"/>
                <a:ea typeface="Arial" pitchFamily="34" charset="-122"/>
                <a:cs typeface="Arial" pitchFamily="34" charset="-120"/>
              </a:rPr>
              <a:t> нужны уточнения</a:t>
            </a:r>
            <a:endParaRPr lang="en-US" sz="1600" dirty="0"/>
          </a:p>
        </p:txBody>
      </p:sp>
      <p:sp>
        <p:nvSpPr>
          <p:cNvPr id="10" name="Shape 8"/>
          <p:cNvSpPr/>
          <p:nvPr/>
        </p:nvSpPr>
        <p:spPr>
          <a:xfrm>
            <a:off x="1047750" y="3352800"/>
            <a:ext cx="304800" cy="304800"/>
          </a:xfrm>
          <a:prstGeom prst="roundRect">
            <a:avLst>
              <a:gd name="adj" fmla="val 50000"/>
            </a:avLst>
          </a:prstGeom>
          <a:solidFill>
            <a:srgbClr val="C8433B"/>
          </a:solidFill>
          <a:ln/>
        </p:spPr>
      </p:sp>
      <p:sp>
        <p:nvSpPr>
          <p:cNvPr id="11" name="Text 9"/>
          <p:cNvSpPr/>
          <p:nvPr/>
        </p:nvSpPr>
        <p:spPr>
          <a:xfrm>
            <a:off x="1504950" y="3365500"/>
            <a:ext cx="4388676" cy="30480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2263A"/>
                </a:solidFill>
                <a:latin typeface="Arial" pitchFamily="34" charset="0"/>
                <a:ea typeface="Arial" pitchFamily="34" charset="-122"/>
                <a:cs typeface="Arial" pitchFamily="34" charset="-120"/>
              </a:rPr>
              <a:t>Красная:</a:t>
            </a:r>
            <a:r>
              <a:rPr lang="en-US" sz="1600" dirty="0">
                <a:solidFill>
                  <a:srgbClr val="12263A"/>
                </a:solidFill>
                <a:latin typeface="Arial" pitchFamily="34" charset="0"/>
                <a:ea typeface="Arial" pitchFamily="34" charset="-122"/>
                <a:cs typeface="Arial" pitchFamily="34" charset="-120"/>
              </a:rPr>
              <a:t> не разобрался</a:t>
            </a:r>
            <a:endParaRPr lang="en-US" sz="1600" dirty="0"/>
          </a:p>
        </p:txBody>
      </p:sp>
      <p:sp>
        <p:nvSpPr>
          <p:cNvPr id="12" name="Shape 10"/>
          <p:cNvSpPr/>
          <p:nvPr/>
        </p:nvSpPr>
        <p:spPr>
          <a:xfrm>
            <a:off x="6203950" y="1822450"/>
            <a:ext cx="5175250" cy="2432050"/>
          </a:xfrm>
          <a:prstGeom prst="roundRect">
            <a:avLst>
              <a:gd name="adj" fmla="val 5222"/>
            </a:avLst>
          </a:prstGeom>
          <a:solidFill>
            <a:srgbClr val="12263A"/>
          </a:solidFill>
          <a:ln/>
        </p:spPr>
      </p:sp>
      <p:sp>
        <p:nvSpPr>
          <p:cNvPr id="13" name="Text 11"/>
          <p:cNvSpPr/>
          <p:nvPr/>
        </p:nvSpPr>
        <p:spPr>
          <a:xfrm>
            <a:off x="6432550" y="2051050"/>
            <a:ext cx="485959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2A65A"/>
                </a:solidFill>
                <a:latin typeface="Arial" pitchFamily="34" charset="0"/>
                <a:ea typeface="Arial" pitchFamily="34" charset="-122"/>
                <a:cs typeface="Arial" pitchFamily="34" charset="-120"/>
              </a:rPr>
              <a:t>Домашнее задание</a:t>
            </a:r>
            <a:endParaRPr lang="en-US" sz="2000" dirty="0"/>
          </a:p>
        </p:txBody>
      </p:sp>
      <p:sp>
        <p:nvSpPr>
          <p:cNvPr id="14" name="Text 12"/>
          <p:cNvSpPr/>
          <p:nvPr/>
        </p:nvSpPr>
        <p:spPr>
          <a:xfrm>
            <a:off x="6460629" y="2482850"/>
            <a:ext cx="4823893" cy="1568450"/>
          </a:xfrm>
          <a:prstGeom prst="rect">
            <a:avLst/>
          </a:prstGeom>
          <a:noFill/>
          <a:ln/>
        </p:spPr>
        <p:txBody>
          <a:bodyPr wrap="square" lIns="0" tIns="0" rIns="0" bIns="0" rtlCol="0" anchor="t">
            <a:normAutofit/>
          </a:bodyPr>
          <a:lstStyle/>
          <a:p>
            <a:pPr algn="l" marL="225921" indent="-225921">
              <a:lnSpc>
                <a:spcPts val="2400"/>
              </a:lnSpc>
              <a:buSzPct val="100000"/>
              <a:buFontTx/>
              <a:buAutoNum type="arabicPeriod" startAt="1"/>
            </a:pPr>
            <a:r>
              <a:rPr lang="en-US" sz="1600" dirty="0">
                <a:solidFill>
                  <a:srgbClr val="F7F4EC"/>
                </a:solidFill>
                <a:latin typeface="Arial" pitchFamily="34" charset="0"/>
                <a:ea typeface="Arial" pitchFamily="34" charset="-122"/>
                <a:cs typeface="Arial" pitchFamily="34" charset="-120"/>
              </a:rPr>
              <a:t>Прочитать параграфы по теме.</a:t>
            </a:r>
            <a:endParaRPr lang="en-US" sz="1600" dirty="0"/>
          </a:p>
          <a:p>
            <a:pPr algn="l" marL="225921" indent="-225921">
              <a:lnSpc>
                <a:spcPts val="2400"/>
              </a:lnSpc>
              <a:buSzPct val="100000"/>
              <a:buFontTx/>
              <a:buAutoNum type="arabicPeriod" startAt="1"/>
            </a:pPr>
            <a:r>
              <a:rPr lang="en-US" sz="1600" dirty="0">
                <a:solidFill>
                  <a:srgbClr val="F7F4EC"/>
                </a:solidFill>
                <a:latin typeface="Arial" pitchFamily="34" charset="0"/>
                <a:ea typeface="Arial" pitchFamily="34" charset="-122"/>
                <a:cs typeface="Arial" pitchFamily="34" charset="-120"/>
              </a:rPr>
              <a:t>Заполнить контурную карту: границы 8 федеральных округов, подписать центры.</a:t>
            </a:r>
            <a:endParaRPr lang="en-US" sz="1600" dirty="0"/>
          </a:p>
          <a:p>
            <a:pPr algn="l" marL="225921" indent="-225921">
              <a:lnSpc>
                <a:spcPts val="2400"/>
              </a:lnSpc>
              <a:buSzPct val="100000"/>
              <a:buFontTx/>
              <a:buAutoNum type="arabicPeriod" startAt="1"/>
            </a:pPr>
            <a:r>
              <a:rPr lang="en-US" sz="1600" dirty="0">
                <a:solidFill>
                  <a:srgbClr val="F7F4EC"/>
                </a:solidFill>
                <a:latin typeface="Arial" pitchFamily="34" charset="0"/>
                <a:ea typeface="Arial" pitchFamily="34" charset="-122"/>
                <a:cs typeface="Arial" pitchFamily="34" charset="-120"/>
              </a:rPr>
              <a:t>Найти свой субъект РФ: определить его вид и федеральный округ.</a:t>
            </a:r>
            <a:endParaRPr lang="en-US" sz="1600" dirty="0"/>
          </a:p>
        </p:txBody>
      </p:sp>
      <p:sp>
        <p:nvSpPr>
          <p:cNvPr id="15" name="Text 13"/>
          <p:cNvSpPr/>
          <p:nvPr/>
        </p:nvSpPr>
        <p:spPr>
          <a:xfrm>
            <a:off x="812800" y="624205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672"/>
                </a:solidFill>
                <a:latin typeface="Arial" pitchFamily="34" charset="0"/>
                <a:ea typeface="Arial" pitchFamily="34" charset="-122"/>
                <a:cs typeface="Arial" pitchFamily="34" charset="-120"/>
              </a:rPr>
              <a:t>17 / 17 · География, 8 класс · Федеративное устройство и районы России</a:t>
            </a:r>
            <a:endParaRPr lang="en-US" sz="1200" dirty="0"/>
          </a:p>
        </p:txBody>
      </p:sp>
    </p:spTree>
  </p:cSld>
  <p:clrMapOvr>
    <a:masterClrMapping/>
  </p:clrMapOvr>
</p:sld>
</file>

<file path=ppt/theme/theme1.xml><?xml version="1.0" encoding="utf-8"?>
<a:theme xmlns:a="http://schemas.openxmlformats.org/drawingml/2006/main" name="География 8 класс: устройство и районы России">
  <a:themeElements>
    <a:clrScheme name="География 8 класс: устройство и районы России">
      <a:dk1>
        <a:srgbClr val="12263A"/>
      </a:dk1>
      <a:lt1>
        <a:srgbClr val="F7F4EC"/>
      </a:lt1>
      <a:dk2>
        <a:srgbClr val="4B5A67"/>
      </a:dk2>
      <a:lt2>
        <a:srgbClr val="E0DFDA"/>
      </a:lt2>
      <a:accent1>
        <a:srgbClr val="A8470F"/>
      </a:accent1>
      <a:accent2>
        <a:srgbClr val="1F6F78"/>
      </a:accent2>
      <a:accent3>
        <a:srgbClr val="8F3A0A"/>
      </a:accent3>
      <a:accent4>
        <a:srgbClr val="F6DDC4"/>
      </a:accent4>
      <a:accent5>
        <a:srgbClr val="F2A65A"/>
      </a:accent5>
      <a:accent6>
        <a:srgbClr val="1D3A54"/>
      </a:accent6>
      <a:hlink>
        <a:srgbClr val="0563C1"/>
      </a:hlink>
      <a:folHlink>
        <a:srgbClr val="954F72"/>
      </a:folHlink>
    </a:clrScheme>
    <a:fontScheme name="География 8 класс: устройство и районы России">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География 8 класс: устройство и районы России</dc:title>
  <dc:subject/>
  <dc:creator/>
  <cp:lastModifiedBy/>
  <cp:revision>1</cp:revision>
  <dcterms:created xsi:type="dcterms:W3CDTF">2026-10-12T19:14:12Z</dcterms:created>
  <dcterms:modified xsi:type="dcterms:W3CDTF">2026-10-12T19:14:12Z</dcterms:modified>
</cp:coreProperties>
</file>