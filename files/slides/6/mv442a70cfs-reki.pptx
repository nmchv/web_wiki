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5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4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6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lang="ru-RU" sz="1600" b="0" i="0" u="none" strike="noStrike">
                <a:solidFill>
                  <a:srgbClr val="000000"/>
                </a:solidFill>
                <a:latin typeface="+mn-lt"/>
              </a:rPr>
              <a:t>Равнинная река (схема)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Уровень воды</c:v>
                </c:pt>
              </c:strCache>
            </c:strRef>
          </c:tx>
          <c:spPr>
            <a:ln w="50800" cap="flat">
              <a:solidFill>
                <a:srgbClr val="1E78B4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1E78B4"/>
              </a:solidFill>
              <a:ln w="9525" cap="flat">
                <a:solidFill>
                  <a:srgbClr val="1E78B4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30</c:v>
                </c:pt>
                <c:pt idx="1">
                  <c:v>28</c:v>
                </c:pt>
                <c:pt idx="2">
                  <c:v>32</c:v>
                </c:pt>
                <c:pt idx="3">
                  <c:v>85</c:v>
                </c:pt>
                <c:pt idx="4">
                  <c:v>100</c:v>
                </c:pt>
                <c:pt idx="5">
                  <c:v>60</c:v>
                </c:pt>
                <c:pt idx="6">
                  <c:v>40</c:v>
                </c:pt>
                <c:pt idx="7">
                  <c:v>30</c:v>
                </c:pt>
                <c:pt idx="8">
                  <c:v>28</c:v>
                </c:pt>
                <c:pt idx="9">
                  <c:v>50</c:v>
                </c:pt>
                <c:pt idx="10">
                  <c:v>38</c:v>
                </c:pt>
                <c:pt idx="11">
                  <c:v>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5A7-394C-BC9B-974EBB9ACA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D6E4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8594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097280"/>
            <a:ext cx="47548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4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28600"/>
            <a:ext cx="81381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Горы и река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de"/>
          <p:cNvSpPr/>
          <p:nvPr/>
        </p:nvSpPr>
        <p:spPr>
          <a:xfrm>
            <a:off x="0" y="822960"/>
            <a:ext cx="5760720" cy="2286000"/>
          </a:xfrm>
          <a:prstGeom prst="rect">
            <a:avLst/>
          </a:prstGeom>
          <a:solidFill>
            <a:schemeClr val="tx2">
              <a:alpha val="80000"/>
            </a:schemeClr>
          </a:solidFill>
          <a:ln w="12700">
            <a:solidFill>
              <a:schemeClr val="tx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09728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chemeClr val="bg1"/>
                </a:solidFill>
              </a:rPr>
              <a:t>Воды суши. Реки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5146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Практическая работа: сравнение двух рек (России и мира)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663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География · 6 класс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2860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Две реки: почему они такие разные?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258995" y="4042281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Река А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4663440" y="402138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Река Б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4592895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Что отличает их друг от друга? </a:t>
            </a:r>
            <a:r>
              <a:rPr lang="en-US" sz="2000" b="1" dirty="0" err="1">
                <a:solidFill>
                  <a:schemeClr val="tx1"/>
                </a:solidFill>
              </a:rPr>
              <a:t>Как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r>
              <a:rPr lang="ru-RU" sz="2000" b="1" dirty="0"/>
              <a:t>их сравнить?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A18741C-2EB0-9FAA-6E2A-F096E8BBBA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190" b="11606"/>
          <a:stretch>
            <a:fillRect/>
          </a:stretch>
        </p:blipFill>
        <p:spPr>
          <a:xfrm>
            <a:off x="330439" y="1043681"/>
            <a:ext cx="3860476" cy="294183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00F2FCB-AB83-7EB5-BFF2-AC26006522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43681"/>
            <a:ext cx="4410604" cy="29418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2860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Из чего состоит река</a:t>
            </a:r>
            <a:endParaRPr lang="en-US" sz="3000" dirty="0"/>
          </a:p>
        </p:txBody>
      </p:sp>
      <p:pic>
        <p:nvPicPr>
          <p:cNvPr id="3" name="Image 0" descr="Схема реки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8229600" cy="3657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14447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Исток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7269480" y="3794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accent5"/>
                </a:solidFill>
              </a:rPr>
              <a:t>Устье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4348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Приток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2286000" y="44988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Приток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623560" y="32186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Главная река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2286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Бассейн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995160" y="1280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B5A2B"/>
                </a:solidFill>
              </a:rPr>
              <a:t>Водораздел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119872" y="2651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Море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Река + притоки = речная система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2860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Горные и равнинные реки</a:t>
            </a:r>
            <a:endParaRPr lang="en-US" sz="3000" dirty="0"/>
          </a:p>
        </p:txBody>
      </p:sp>
      <p:sp>
        <p:nvSpPr>
          <p:cNvPr id="4" name="fГорная"/>
          <p:cNvSpPr/>
          <p:nvPr/>
        </p:nvSpPr>
        <p:spPr>
          <a:xfrm>
            <a:off x="548640" y="3108960"/>
            <a:ext cx="39319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5" name="Text 2"/>
          <p:cNvSpPr txBox="1"/>
          <p:nvPr/>
        </p:nvSpPr>
        <p:spPr>
          <a:xfrm>
            <a:off x="731520" y="3154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Горная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547872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большой уклон, быстрое течение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узкое русло, крутые склоны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пороги и водопады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Терек, Катунь</a:t>
            </a:r>
            <a:endParaRPr lang="en-US" sz="1400" dirty="0"/>
          </a:p>
        </p:txBody>
      </p:sp>
      <p:sp>
        <p:nvSpPr>
          <p:cNvPr id="8" name="fРавнинная"/>
          <p:cNvSpPr/>
          <p:nvPr/>
        </p:nvSpPr>
        <p:spPr>
          <a:xfrm>
            <a:off x="4663440" y="3108960"/>
            <a:ext cx="39319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9" name="Text 5"/>
          <p:cNvSpPr txBox="1"/>
          <p:nvPr/>
        </p:nvSpPr>
        <p:spPr>
          <a:xfrm>
            <a:off x="4846320" y="3154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Равнинная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4846320" y="3547872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малый уклон, спокойное течение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широкая долина, пологие берега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извилины (меандры), старицы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Волга, Дон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26C281B-2650-F9E2-A246-D969F943E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897633"/>
            <a:ext cx="3322024" cy="2211327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340CAE8-7D9F-F1F4-750E-2F5CB5E6517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785" t="24813" r="6542" b="16741"/>
          <a:stretch>
            <a:fillRect/>
          </a:stretch>
        </p:blipFill>
        <p:spPr>
          <a:xfrm>
            <a:off x="4853865" y="911429"/>
            <a:ext cx="3551070" cy="21700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2860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Питание реки: откуда вода?</a:t>
            </a:r>
            <a:endParaRPr lang="en-US" sz="3000" dirty="0"/>
          </a:p>
        </p:txBody>
      </p:sp>
      <p:sp>
        <p:nvSpPr>
          <p:cNvPr id="3" name="feed0"/>
          <p:cNvSpPr/>
          <p:nvPr/>
        </p:nvSpPr>
        <p:spPr>
          <a:xfrm>
            <a:off x="548640" y="1280160"/>
            <a:ext cx="1874520" cy="310896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4" name="Image 0" descr="Дождевое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63040"/>
            <a:ext cx="1325880" cy="1325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9260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</a:rPr>
              <a:t>Дождевое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3832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ливни и дожди</a:t>
            </a:r>
            <a:endParaRPr lang="en-US" sz="1600" dirty="0"/>
          </a:p>
        </p:txBody>
      </p:sp>
      <p:sp>
        <p:nvSpPr>
          <p:cNvPr id="7" name="feed1"/>
          <p:cNvSpPr/>
          <p:nvPr/>
        </p:nvSpPr>
        <p:spPr>
          <a:xfrm>
            <a:off x="2606040" y="1280160"/>
            <a:ext cx="1874520" cy="310896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8" name="Image 1" descr="Снеговое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1463040"/>
            <a:ext cx="1325880" cy="13258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606040" y="29260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</a:rPr>
              <a:t>Снеговое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2697480" y="33832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таяние снега</a:t>
            </a:r>
            <a:endParaRPr lang="en-US" sz="1600" dirty="0"/>
          </a:p>
        </p:txBody>
      </p:sp>
      <p:sp>
        <p:nvSpPr>
          <p:cNvPr id="11" name="feed2"/>
          <p:cNvSpPr/>
          <p:nvPr/>
        </p:nvSpPr>
        <p:spPr>
          <a:xfrm>
            <a:off x="4663440" y="1280160"/>
            <a:ext cx="1874520" cy="310896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12" name="Image 2" descr="Ледниковое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463040"/>
            <a:ext cx="1325880" cy="13258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663440" y="29260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</a:rPr>
              <a:t>Ледниковое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4754880" y="33832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таяние ледников</a:t>
            </a:r>
            <a:endParaRPr lang="en-US" sz="1600" dirty="0"/>
          </a:p>
        </p:txBody>
      </p:sp>
      <p:sp>
        <p:nvSpPr>
          <p:cNvPr id="15" name="feed3"/>
          <p:cNvSpPr/>
          <p:nvPr/>
        </p:nvSpPr>
        <p:spPr>
          <a:xfrm>
            <a:off x="6720840" y="1280160"/>
            <a:ext cx="1874520" cy="310896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16" name="Image 3" descr="Подземное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0" y="1463040"/>
            <a:ext cx="1325880" cy="13258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720840" y="29260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</a:rPr>
              <a:t>Подземное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6812280" y="33832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родники, грунтовые воды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Чаще всего питание смешанное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2860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Режим реки: уровень воды в году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97280"/>
          <a:ext cx="53949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ph0"/>
          <p:cNvSpPr/>
          <p:nvPr/>
        </p:nvSpPr>
        <p:spPr>
          <a:xfrm>
            <a:off x="6126480" y="128016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5" name="bar0"/>
          <p:cNvSpPr/>
          <p:nvPr/>
        </p:nvSpPr>
        <p:spPr>
          <a:xfrm>
            <a:off x="6126480" y="1280160"/>
            <a:ext cx="109728" cy="914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6" name="Text 3"/>
          <p:cNvSpPr txBox="1"/>
          <p:nvPr/>
        </p:nvSpPr>
        <p:spPr>
          <a:xfrm>
            <a:off x="635508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Половодье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17556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весной, талые воды</a:t>
            </a:r>
            <a:endParaRPr lang="en-US" sz="1500" dirty="0"/>
          </a:p>
        </p:txBody>
      </p:sp>
      <p:sp>
        <p:nvSpPr>
          <p:cNvPr id="8" name="ph1"/>
          <p:cNvSpPr/>
          <p:nvPr/>
        </p:nvSpPr>
        <p:spPr>
          <a:xfrm>
            <a:off x="6126480" y="237744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9" name="bar1"/>
          <p:cNvSpPr/>
          <p:nvPr/>
        </p:nvSpPr>
        <p:spPr>
          <a:xfrm>
            <a:off x="6126480" y="2377440"/>
            <a:ext cx="109728" cy="9144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0" name="Text 7"/>
          <p:cNvSpPr txBox="1"/>
          <p:nvPr/>
        </p:nvSpPr>
        <p:spPr>
          <a:xfrm>
            <a:off x="635508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Паводок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355080" y="28529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после сильных ливней</a:t>
            </a:r>
            <a:endParaRPr lang="en-US" sz="1500" dirty="0"/>
          </a:p>
        </p:txBody>
      </p:sp>
      <p:sp>
        <p:nvSpPr>
          <p:cNvPr id="12" name="ph2"/>
          <p:cNvSpPr/>
          <p:nvPr/>
        </p:nvSpPr>
        <p:spPr>
          <a:xfrm>
            <a:off x="6126480" y="347472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3" name="bar2"/>
          <p:cNvSpPr/>
          <p:nvPr/>
        </p:nvSpPr>
        <p:spPr>
          <a:xfrm>
            <a:off x="6126480" y="3474720"/>
            <a:ext cx="109728" cy="91440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4" name="Text 11"/>
          <p:cNvSpPr txBox="1"/>
          <p:nvPr/>
        </p:nvSpPr>
        <p:spPr>
          <a:xfrm>
            <a:off x="6355080" y="3566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Межень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6355080" y="39502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самый низкий уровень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2860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Практическая работа: план сравнения</a:t>
            </a:r>
            <a:endParaRPr lang="en-US" sz="3000" dirty="0"/>
          </a:p>
        </p:txBody>
      </p:sp>
      <p:sp>
        <p:nvSpPr>
          <p:cNvPr id="3" name="pl0"/>
          <p:cNvSpPr/>
          <p:nvPr/>
        </p:nvSpPr>
        <p:spPr>
          <a:xfrm>
            <a:off x="548640" y="1097280"/>
            <a:ext cx="393192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" name="d0"/>
          <p:cNvSpPr/>
          <p:nvPr/>
        </p:nvSpPr>
        <p:spPr>
          <a:xfrm>
            <a:off x="621792" y="116128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5" name="Text 3"/>
          <p:cNvSpPr txBox="1"/>
          <p:nvPr/>
        </p:nvSpPr>
        <p:spPr>
          <a:xfrm>
            <a:off x="621792" y="1161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0972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Название реки</a:t>
            </a:r>
            <a:endParaRPr lang="en-US" sz="1600" dirty="0"/>
          </a:p>
        </p:txBody>
      </p:sp>
      <p:sp>
        <p:nvSpPr>
          <p:cNvPr id="7" name="pl1"/>
          <p:cNvSpPr/>
          <p:nvPr/>
        </p:nvSpPr>
        <p:spPr>
          <a:xfrm>
            <a:off x="4663440" y="1097280"/>
            <a:ext cx="393192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8" name="d1"/>
          <p:cNvSpPr/>
          <p:nvPr/>
        </p:nvSpPr>
        <p:spPr>
          <a:xfrm>
            <a:off x="4736592" y="116128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9" name="Text 7"/>
          <p:cNvSpPr txBox="1"/>
          <p:nvPr/>
        </p:nvSpPr>
        <p:spPr>
          <a:xfrm>
            <a:off x="4736592" y="1161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10972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Исток: где находится</a:t>
            </a:r>
            <a:endParaRPr lang="en-US" sz="1600" dirty="0"/>
          </a:p>
        </p:txBody>
      </p:sp>
      <p:sp>
        <p:nvSpPr>
          <p:cNvPr id="11" name="pl2"/>
          <p:cNvSpPr/>
          <p:nvPr/>
        </p:nvSpPr>
        <p:spPr>
          <a:xfrm>
            <a:off x="548640" y="1627632"/>
            <a:ext cx="393192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2" name="d2"/>
          <p:cNvSpPr/>
          <p:nvPr/>
        </p:nvSpPr>
        <p:spPr>
          <a:xfrm>
            <a:off x="621792" y="169164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3" name="Text 11"/>
          <p:cNvSpPr txBox="1"/>
          <p:nvPr/>
        </p:nvSpPr>
        <p:spPr>
          <a:xfrm>
            <a:off x="621792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162763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Устье: куда впадает</a:t>
            </a:r>
            <a:endParaRPr lang="en-US" sz="1600" dirty="0"/>
          </a:p>
        </p:txBody>
      </p:sp>
      <p:sp>
        <p:nvSpPr>
          <p:cNvPr id="15" name="pl3"/>
          <p:cNvSpPr/>
          <p:nvPr/>
        </p:nvSpPr>
        <p:spPr>
          <a:xfrm>
            <a:off x="4663440" y="1627632"/>
            <a:ext cx="393192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6" name="d3"/>
          <p:cNvSpPr/>
          <p:nvPr/>
        </p:nvSpPr>
        <p:spPr>
          <a:xfrm>
            <a:off x="4736592" y="169164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7" name="Text 15"/>
          <p:cNvSpPr txBox="1"/>
          <p:nvPr/>
        </p:nvSpPr>
        <p:spPr>
          <a:xfrm>
            <a:off x="4736592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166360" y="162763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Направление течения</a:t>
            </a:r>
            <a:endParaRPr lang="en-US" sz="1600" dirty="0"/>
          </a:p>
        </p:txBody>
      </p:sp>
      <p:sp>
        <p:nvSpPr>
          <p:cNvPr id="19" name="pl4"/>
          <p:cNvSpPr/>
          <p:nvPr/>
        </p:nvSpPr>
        <p:spPr>
          <a:xfrm>
            <a:off x="548640" y="2157984"/>
            <a:ext cx="393192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0" name="d4"/>
          <p:cNvSpPr/>
          <p:nvPr/>
        </p:nvSpPr>
        <p:spPr>
          <a:xfrm>
            <a:off x="621792" y="222199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1" name="Text 19"/>
          <p:cNvSpPr txBox="1"/>
          <p:nvPr/>
        </p:nvSpPr>
        <p:spPr>
          <a:xfrm>
            <a:off x="621792" y="2221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157984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Длина</a:t>
            </a:r>
            <a:endParaRPr lang="en-US" sz="1600" dirty="0"/>
          </a:p>
        </p:txBody>
      </p:sp>
      <p:sp>
        <p:nvSpPr>
          <p:cNvPr id="23" name="pl5"/>
          <p:cNvSpPr/>
          <p:nvPr/>
        </p:nvSpPr>
        <p:spPr>
          <a:xfrm>
            <a:off x="4663440" y="2157984"/>
            <a:ext cx="393192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4" name="d5"/>
          <p:cNvSpPr/>
          <p:nvPr/>
        </p:nvSpPr>
        <p:spPr>
          <a:xfrm>
            <a:off x="4736592" y="222199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5" name="Text 23"/>
          <p:cNvSpPr txBox="1"/>
          <p:nvPr/>
        </p:nvSpPr>
        <p:spPr>
          <a:xfrm>
            <a:off x="4736592" y="2221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166360" y="2157984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Площадь бассейна</a:t>
            </a:r>
            <a:endParaRPr lang="en-US" sz="1600" dirty="0"/>
          </a:p>
        </p:txBody>
      </p:sp>
      <p:sp>
        <p:nvSpPr>
          <p:cNvPr id="27" name="pl6"/>
          <p:cNvSpPr/>
          <p:nvPr/>
        </p:nvSpPr>
        <p:spPr>
          <a:xfrm>
            <a:off x="548640" y="2688336"/>
            <a:ext cx="393192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8" name="d6"/>
          <p:cNvSpPr/>
          <p:nvPr/>
        </p:nvSpPr>
        <p:spPr>
          <a:xfrm>
            <a:off x="621792" y="275234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9" name="Text 27"/>
          <p:cNvSpPr txBox="1"/>
          <p:nvPr/>
        </p:nvSpPr>
        <p:spPr>
          <a:xfrm>
            <a:off x="621792" y="2752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51560" y="268833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Горная или равнинная</a:t>
            </a:r>
            <a:endParaRPr lang="en-US" sz="1600" dirty="0"/>
          </a:p>
        </p:txBody>
      </p:sp>
      <p:sp>
        <p:nvSpPr>
          <p:cNvPr id="31" name="pl7"/>
          <p:cNvSpPr/>
          <p:nvPr/>
        </p:nvSpPr>
        <p:spPr>
          <a:xfrm>
            <a:off x="4663440" y="2688336"/>
            <a:ext cx="393192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2" name="d7"/>
          <p:cNvSpPr/>
          <p:nvPr/>
        </p:nvSpPr>
        <p:spPr>
          <a:xfrm>
            <a:off x="4736592" y="275234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3" name="Text 31"/>
          <p:cNvSpPr txBox="1"/>
          <p:nvPr/>
        </p:nvSpPr>
        <p:spPr>
          <a:xfrm>
            <a:off x="4736592" y="2752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166360" y="268833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Главные притоки</a:t>
            </a:r>
            <a:endParaRPr lang="en-US" sz="1600" dirty="0"/>
          </a:p>
        </p:txBody>
      </p:sp>
      <p:sp>
        <p:nvSpPr>
          <p:cNvPr id="35" name="pl8"/>
          <p:cNvSpPr/>
          <p:nvPr/>
        </p:nvSpPr>
        <p:spPr>
          <a:xfrm>
            <a:off x="548640" y="3218688"/>
            <a:ext cx="393192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6" name="d8"/>
          <p:cNvSpPr/>
          <p:nvPr/>
        </p:nvSpPr>
        <p:spPr>
          <a:xfrm>
            <a:off x="621792" y="3282696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7" name="Text 35"/>
          <p:cNvSpPr txBox="1"/>
          <p:nvPr/>
        </p:nvSpPr>
        <p:spPr>
          <a:xfrm>
            <a:off x="621792" y="32826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9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051560" y="321868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Питание</a:t>
            </a:r>
            <a:endParaRPr lang="en-US" sz="1600" dirty="0"/>
          </a:p>
        </p:txBody>
      </p:sp>
      <p:sp>
        <p:nvSpPr>
          <p:cNvPr id="39" name="pl9"/>
          <p:cNvSpPr/>
          <p:nvPr/>
        </p:nvSpPr>
        <p:spPr>
          <a:xfrm>
            <a:off x="4663440" y="3218688"/>
            <a:ext cx="393192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0" name="d9"/>
          <p:cNvSpPr/>
          <p:nvPr/>
        </p:nvSpPr>
        <p:spPr>
          <a:xfrm>
            <a:off x="4736592" y="3282696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1" name="Text 39"/>
          <p:cNvSpPr txBox="1"/>
          <p:nvPr/>
        </p:nvSpPr>
        <p:spPr>
          <a:xfrm>
            <a:off x="4736592" y="32826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10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5166360" y="321868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Режим</a:t>
            </a:r>
            <a:endParaRPr lang="en-US" sz="1600" dirty="0"/>
          </a:p>
        </p:txBody>
      </p:sp>
      <p:sp>
        <p:nvSpPr>
          <p:cNvPr id="43" name="pl10"/>
          <p:cNvSpPr/>
          <p:nvPr/>
        </p:nvSpPr>
        <p:spPr>
          <a:xfrm>
            <a:off x="548640" y="3749040"/>
            <a:ext cx="393192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4" name="d10"/>
          <p:cNvSpPr/>
          <p:nvPr/>
        </p:nvSpPr>
        <p:spPr>
          <a:xfrm>
            <a:off x="621792" y="381304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5" name="Text 43"/>
          <p:cNvSpPr txBox="1"/>
          <p:nvPr/>
        </p:nvSpPr>
        <p:spPr>
          <a:xfrm>
            <a:off x="621792" y="3813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11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1051560" y="37490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Использование человеком</a:t>
            </a:r>
            <a:endParaRPr lang="en-US" sz="1600" dirty="0"/>
          </a:p>
        </p:txBody>
      </p:sp>
      <p:sp>
        <p:nvSpPr>
          <p:cNvPr id="47" name="pl11"/>
          <p:cNvSpPr/>
          <p:nvPr/>
        </p:nvSpPr>
        <p:spPr>
          <a:xfrm>
            <a:off x="4663440" y="3749040"/>
            <a:ext cx="393192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8" name="d11"/>
          <p:cNvSpPr/>
          <p:nvPr/>
        </p:nvSpPr>
        <p:spPr>
          <a:xfrm>
            <a:off x="4736592" y="3813048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9" name="Text 47"/>
          <p:cNvSpPr txBox="1"/>
          <p:nvPr/>
        </p:nvSpPr>
        <p:spPr>
          <a:xfrm>
            <a:off x="4736592" y="3813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12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5166360" y="37490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Сходства, различия, вывод</a:t>
            </a:r>
            <a:endParaRPr lang="en-US" sz="1600" dirty="0"/>
          </a:p>
        </p:txBody>
      </p:sp>
      <p:sp>
        <p:nvSpPr>
          <p:cNvPr id="51" name="pairs"/>
          <p:cNvSpPr/>
          <p:nvPr/>
        </p:nvSpPr>
        <p:spPr>
          <a:xfrm>
            <a:off x="548640" y="4389120"/>
            <a:ext cx="804672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52" name="Text 50"/>
          <p:cNvSpPr txBox="1"/>
          <p:nvPr/>
        </p:nvSpPr>
        <p:spPr>
          <a:xfrm>
            <a:off x="685800" y="4389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Волга–Амазонка · Лена–Миссисипи · Енисей–Нил · Обь–Янцзы · Дон–Рейн · Амур–Конго</a:t>
            </a:r>
            <a:endParaRPr lang="en-US" sz="1400" dirty="0"/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CE543-3D13-CFC5-43E8-7775DDA1D3CB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ru-US" dirty="0"/>
              <a:t>Таблица для практической работы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4B66836A-A72B-4929-0BA3-0538006C2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994180"/>
              </p:ext>
            </p:extLst>
          </p:nvPr>
        </p:nvGraphicFramePr>
        <p:xfrm>
          <a:off x="502920" y="940904"/>
          <a:ext cx="8138160" cy="39739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75462">
                  <a:extLst>
                    <a:ext uri="{9D8B030D-6E8A-4147-A177-3AD203B41FA5}">
                      <a16:colId xmlns:a16="http://schemas.microsoft.com/office/drawing/2014/main" val="1400384299"/>
                    </a:ext>
                  </a:extLst>
                </a:gridCol>
                <a:gridCol w="1569156">
                  <a:extLst>
                    <a:ext uri="{9D8B030D-6E8A-4147-A177-3AD203B41FA5}">
                      <a16:colId xmlns:a16="http://schemas.microsoft.com/office/drawing/2014/main" val="2918153040"/>
                    </a:ext>
                  </a:extLst>
                </a:gridCol>
                <a:gridCol w="1593542">
                  <a:extLst>
                    <a:ext uri="{9D8B030D-6E8A-4147-A177-3AD203B41FA5}">
                      <a16:colId xmlns:a16="http://schemas.microsoft.com/office/drawing/2014/main" val="814412491"/>
                    </a:ext>
                  </a:extLst>
                </a:gridCol>
              </a:tblGrid>
              <a:tr h="1977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US" sz="1600" dirty="0">
                          <a:effectLst/>
                        </a:rPr>
                        <a:t>1. Название</a:t>
                      </a:r>
                      <a:endParaRPr lang="ru-US" sz="1600" b="0" i="0" dirty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49429" marR="49429" marT="24714" marB="2471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US" sz="1600" b="0" i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Волга</a:t>
                      </a:r>
                    </a:p>
                  </a:txBody>
                  <a:tcPr marL="49429" marR="49429" marT="24714" marB="2471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US" sz="1600" b="0" i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Амазонка</a:t>
                      </a:r>
                    </a:p>
                  </a:txBody>
                  <a:tcPr marL="49429" marR="49429" marT="24714" marB="24714" anchor="ctr"/>
                </a:tc>
                <a:extLst>
                  <a:ext uri="{0D108BD9-81ED-4DB2-BD59-A6C34878D82A}">
                    <a16:rowId xmlns:a16="http://schemas.microsoft.com/office/drawing/2014/main" val="3086154868"/>
                  </a:ext>
                </a:extLst>
              </a:tr>
              <a:tr h="4942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US" sz="1600">
                          <a:effectLst/>
                        </a:rPr>
                        <a:t>2. Где находится исток (географическое положение, высота)</a:t>
                      </a:r>
                      <a:endParaRPr lang="ru-US" sz="1600" b="0" i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49429" marR="49429" marT="24714" marB="2471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ru-US" sz="1600" b="0" i="0" dirty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49429" marR="49429" marT="24714" marB="2471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ru-US" sz="1600" b="0" i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49429" marR="49429" marT="24714" marB="24714" anchor="ctr"/>
                </a:tc>
                <a:extLst>
                  <a:ext uri="{0D108BD9-81ED-4DB2-BD59-A6C34878D82A}">
                    <a16:rowId xmlns:a16="http://schemas.microsoft.com/office/drawing/2014/main" val="2191911573"/>
                  </a:ext>
                </a:extLst>
              </a:tr>
              <a:tr h="34600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US" sz="1600">
                          <a:effectLst/>
                        </a:rPr>
                        <a:t>3. Куда впадает, где устье</a:t>
                      </a:r>
                      <a:endParaRPr lang="ru-US" sz="1600" b="0" i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49429" marR="49429" marT="24714" marB="2471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ru-US" sz="1600" b="0" i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49429" marR="49429" marT="24714" marB="2471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ru-US" sz="1600" b="0" i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49429" marR="49429" marT="24714" marB="24714" anchor="ctr"/>
                </a:tc>
                <a:extLst>
                  <a:ext uri="{0D108BD9-81ED-4DB2-BD59-A6C34878D82A}">
                    <a16:rowId xmlns:a16="http://schemas.microsoft.com/office/drawing/2014/main" val="1028266523"/>
                  </a:ext>
                </a:extLst>
              </a:tr>
              <a:tr h="1977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US" sz="1600">
                          <a:effectLst/>
                        </a:rPr>
                        <a:t>4. Направление течения</a:t>
                      </a:r>
                      <a:endParaRPr lang="ru-US" sz="1600" b="0" i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49429" marR="49429" marT="24714" marB="2471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ru-US" sz="1600" b="0" i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49429" marR="49429" marT="24714" marB="2471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ru-US" sz="1600" b="0" i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49429" marR="49429" marT="24714" marB="24714" anchor="ctr"/>
                </a:tc>
                <a:extLst>
                  <a:ext uri="{0D108BD9-81ED-4DB2-BD59-A6C34878D82A}">
                    <a16:rowId xmlns:a16="http://schemas.microsoft.com/office/drawing/2014/main" val="2873875006"/>
                  </a:ext>
                </a:extLst>
              </a:tr>
              <a:tr h="1977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US" sz="1600">
                          <a:effectLst/>
                        </a:rPr>
                        <a:t>5. Длина</a:t>
                      </a:r>
                      <a:endParaRPr lang="ru-US" sz="1600" b="0" i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49429" marR="49429" marT="24714" marB="2471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ru-US" sz="1600" b="0" i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49429" marR="49429" marT="24714" marB="2471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ru-US" sz="1600" b="0" i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49429" marR="49429" marT="24714" marB="24714" anchor="ctr"/>
                </a:tc>
                <a:extLst>
                  <a:ext uri="{0D108BD9-81ED-4DB2-BD59-A6C34878D82A}">
                    <a16:rowId xmlns:a16="http://schemas.microsoft.com/office/drawing/2014/main" val="3862473248"/>
                  </a:ext>
                </a:extLst>
              </a:tr>
              <a:tr h="1977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US" sz="1600">
                          <a:effectLst/>
                        </a:rPr>
                        <a:t>6. Площадь бассейна</a:t>
                      </a:r>
                      <a:endParaRPr lang="ru-US" sz="1600" b="0" i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49429" marR="49429" marT="24714" marB="2471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ru-US" sz="1600" b="0" i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49429" marR="49429" marT="24714" marB="2471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ru-US" sz="1600" b="0" i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49429" marR="49429" marT="24714" marB="24714" anchor="ctr"/>
                </a:tc>
                <a:extLst>
                  <a:ext uri="{0D108BD9-81ED-4DB2-BD59-A6C34878D82A}">
                    <a16:rowId xmlns:a16="http://schemas.microsoft.com/office/drawing/2014/main" val="2519972866"/>
                  </a:ext>
                </a:extLst>
              </a:tr>
              <a:tr h="34600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US" sz="1600">
                          <a:effectLst/>
                        </a:rPr>
                        <a:t>7. Характер течения (горная или равнинная)</a:t>
                      </a:r>
                      <a:endParaRPr lang="ru-US" sz="1600" b="0" i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49429" marR="49429" marT="24714" marB="2471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ru-US" sz="1600" b="0" i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49429" marR="49429" marT="24714" marB="2471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ru-US" sz="1600" b="0" i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49429" marR="49429" marT="24714" marB="24714" anchor="ctr"/>
                </a:tc>
                <a:extLst>
                  <a:ext uri="{0D108BD9-81ED-4DB2-BD59-A6C34878D82A}">
                    <a16:rowId xmlns:a16="http://schemas.microsoft.com/office/drawing/2014/main" val="2186535727"/>
                  </a:ext>
                </a:extLst>
              </a:tr>
              <a:tr h="1977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US" sz="1600">
                          <a:effectLst/>
                        </a:rPr>
                        <a:t>8. Главные притоки</a:t>
                      </a:r>
                      <a:endParaRPr lang="ru-US" sz="1600" b="0" i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49429" marR="49429" marT="24714" marB="2471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ru-US" sz="1600" b="0" i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49429" marR="49429" marT="24714" marB="2471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ru-US" sz="1600" b="0" i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49429" marR="49429" marT="24714" marB="24714" anchor="ctr"/>
                </a:tc>
                <a:extLst>
                  <a:ext uri="{0D108BD9-81ED-4DB2-BD59-A6C34878D82A}">
                    <a16:rowId xmlns:a16="http://schemas.microsoft.com/office/drawing/2014/main" val="881492680"/>
                  </a:ext>
                </a:extLst>
              </a:tr>
              <a:tr h="1977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US" sz="1600">
                          <a:effectLst/>
                        </a:rPr>
                        <a:t>9. Питание</a:t>
                      </a:r>
                      <a:endParaRPr lang="ru-US" sz="1600" b="0" i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49429" marR="49429" marT="24714" marB="2471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ru-US" sz="1600" b="0" i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49429" marR="49429" marT="24714" marB="2471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ru-US" sz="1600" b="0" i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49429" marR="49429" marT="24714" marB="24714" anchor="ctr"/>
                </a:tc>
                <a:extLst>
                  <a:ext uri="{0D108BD9-81ED-4DB2-BD59-A6C34878D82A}">
                    <a16:rowId xmlns:a16="http://schemas.microsoft.com/office/drawing/2014/main" val="2473817304"/>
                  </a:ext>
                </a:extLst>
              </a:tr>
              <a:tr h="1977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US" sz="1600">
                          <a:effectLst/>
                        </a:rPr>
                        <a:t>10. Режим</a:t>
                      </a:r>
                      <a:endParaRPr lang="ru-US" sz="1600" b="0" i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49429" marR="49429" marT="24714" marB="2471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ru-US" sz="1600" b="0" i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49429" marR="49429" marT="24714" marB="2471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ru-US" sz="1600" b="0" i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49429" marR="49429" marT="24714" marB="24714" anchor="ctr"/>
                </a:tc>
                <a:extLst>
                  <a:ext uri="{0D108BD9-81ED-4DB2-BD59-A6C34878D82A}">
                    <a16:rowId xmlns:a16="http://schemas.microsoft.com/office/drawing/2014/main" val="1774279318"/>
                  </a:ext>
                </a:extLst>
              </a:tr>
              <a:tr h="34600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US" sz="1600">
                          <a:effectLst/>
                        </a:rPr>
                        <a:t>11. Использование человеком</a:t>
                      </a:r>
                      <a:endParaRPr lang="ru-US" sz="1600" b="0" i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49429" marR="49429" marT="24714" marB="2471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ru-US" sz="1600" b="0" i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49429" marR="49429" marT="24714" marB="2471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ru-US" sz="1600" b="0" i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49429" marR="49429" marT="24714" marB="24714" anchor="ctr"/>
                </a:tc>
                <a:extLst>
                  <a:ext uri="{0D108BD9-81ED-4DB2-BD59-A6C34878D82A}">
                    <a16:rowId xmlns:a16="http://schemas.microsoft.com/office/drawing/2014/main" val="2470099111"/>
                  </a:ext>
                </a:extLst>
              </a:tr>
              <a:tr h="34600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US" sz="1600">
                          <a:effectLst/>
                        </a:rPr>
                        <a:t>12. Сходства и различия, вывод</a:t>
                      </a:r>
                      <a:endParaRPr lang="ru-US" sz="1600" b="0" i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49429" marR="49429" marT="24714" marB="24714" anchor="ctr"/>
                </a:tc>
                <a:tc>
                  <a:txBody>
                    <a:bodyPr/>
                    <a:lstStyle/>
                    <a:p>
                      <a:endParaRPr lang="ru-US" sz="1600"/>
                    </a:p>
                  </a:txBody>
                  <a:tcPr marL="49429" marR="49429" marT="24714" marB="24714"/>
                </a:tc>
                <a:tc>
                  <a:txBody>
                    <a:bodyPr/>
                    <a:lstStyle/>
                    <a:p>
                      <a:endParaRPr lang="ru-US" sz="1600" dirty="0"/>
                    </a:p>
                  </a:txBody>
                  <a:tcPr marL="49429" marR="49429" marT="24714" marB="24714"/>
                </a:tc>
                <a:extLst>
                  <a:ext uri="{0D108BD9-81ED-4DB2-BD59-A6C34878D82A}">
                    <a16:rowId xmlns:a16="http://schemas.microsoft.com/office/drawing/2014/main" val="623652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8455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2860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Итоги и домашнее задание</a:t>
            </a:r>
            <a:endParaRPr lang="en-US" sz="3000" dirty="0"/>
          </a:p>
        </p:txBody>
      </p:sp>
      <p:sp>
        <p:nvSpPr>
          <p:cNvPr id="3" name="hw"/>
          <p:cNvSpPr/>
          <p:nvPr/>
        </p:nvSpPr>
        <p:spPr>
          <a:xfrm>
            <a:off x="548640" y="1188720"/>
            <a:ext cx="484632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" name="refl"/>
          <p:cNvSpPr/>
          <p:nvPr/>
        </p:nvSpPr>
        <p:spPr>
          <a:xfrm>
            <a:off x="5577840" y="1188720"/>
            <a:ext cx="3017520" cy="338328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5" name="Text 3"/>
          <p:cNvSpPr txBox="1"/>
          <p:nvPr/>
        </p:nvSpPr>
        <p:spPr>
          <a:xfrm>
            <a:off x="731520" y="1325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Домашнее задание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28800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 err="1">
                <a:solidFill>
                  <a:schemeClr val="tx1"/>
                </a:solidFill>
              </a:rPr>
              <a:t>Прочитать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dirty="0" err="1">
                <a:solidFill>
                  <a:schemeClr val="tx1"/>
                </a:solidFill>
              </a:rPr>
              <a:t>параграф</a:t>
            </a:r>
            <a:r>
              <a:rPr lang="ru-RU" sz="1700" dirty="0">
                <a:solidFill>
                  <a:schemeClr val="tx1"/>
                </a:solidFill>
              </a:rPr>
              <a:t>ы 34 и 35</a:t>
            </a:r>
            <a:endParaRPr lang="ru-RU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ru-RU" sz="1700" dirty="0"/>
              <a:t>Дописать практическую работу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1325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Рефлексия</a:t>
            </a:r>
            <a:endParaRPr lang="en-US" sz="2000" dirty="0"/>
          </a:p>
        </p:txBody>
      </p:sp>
      <p:sp>
        <p:nvSpPr>
          <p:cNvPr id="8" name="l0"/>
          <p:cNvSpPr/>
          <p:nvPr/>
        </p:nvSpPr>
        <p:spPr>
          <a:xfrm>
            <a:off x="5760720" y="192024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9" name="Text 7"/>
          <p:cNvSpPr txBox="1"/>
          <p:nvPr/>
        </p:nvSpPr>
        <p:spPr>
          <a:xfrm>
            <a:off x="6446520" y="1920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Всё понял</a:t>
            </a:r>
            <a:endParaRPr lang="en-US" sz="1700" dirty="0"/>
          </a:p>
        </p:txBody>
      </p:sp>
      <p:sp>
        <p:nvSpPr>
          <p:cNvPr id="10" name="l1"/>
          <p:cNvSpPr/>
          <p:nvPr/>
        </p:nvSpPr>
        <p:spPr>
          <a:xfrm>
            <a:off x="5760720" y="274320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1" name="Text 9"/>
          <p:cNvSpPr txBox="1"/>
          <p:nvPr/>
        </p:nvSpPr>
        <p:spPr>
          <a:xfrm>
            <a:off x="6446520" y="27432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Есть вопросы</a:t>
            </a:r>
            <a:endParaRPr lang="en-US" sz="1700" dirty="0"/>
          </a:p>
        </p:txBody>
      </p:sp>
      <p:sp>
        <p:nvSpPr>
          <p:cNvPr id="12" name="l2"/>
          <p:cNvSpPr/>
          <p:nvPr/>
        </p:nvSpPr>
        <p:spPr>
          <a:xfrm>
            <a:off x="5760720" y="356616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3" name="Text 11"/>
          <p:cNvSpPr txBox="1"/>
          <p:nvPr/>
        </p:nvSpPr>
        <p:spPr>
          <a:xfrm>
            <a:off x="6446520" y="35661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Нужна помощь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ivers">
  <a:themeElements>
    <a:clrScheme name="Rivers">
      <a:dk1>
        <a:srgbClr val="1F2937"/>
      </a:dk1>
      <a:lt1>
        <a:srgbClr val="FFFFFF"/>
      </a:lt1>
      <a:dk2>
        <a:srgbClr val="0B3C5D"/>
      </a:dk2>
      <a:lt2>
        <a:srgbClr val="EAF4FA"/>
      </a:lt2>
      <a:accent1>
        <a:srgbClr val="1E78B4"/>
      </a:accent1>
      <a:accent2>
        <a:srgbClr val="2FA4A9"/>
      </a:accent2>
      <a:accent3>
        <a:srgbClr val="F2A93B"/>
      </a:accent3>
      <a:accent4>
        <a:srgbClr val="6BAF92"/>
      </a:accent4>
      <a:accent5>
        <a:srgbClr val="D1495B"/>
      </a:accent5>
      <a:accent6>
        <a:srgbClr val="7A8CA3"/>
      </a:accent6>
      <a:hlink>
        <a:srgbClr val="1E78B4"/>
      </a:hlink>
      <a:folHlink>
        <a:srgbClr val="7A8CA3"/>
      </a:folHlink>
    </a:clrScheme>
    <a:fontScheme name="River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325</Words>
  <Application>Microsoft Macintosh PowerPoint</Application>
  <PresentationFormat>Экран (16:9)</PresentationFormat>
  <Paragraphs>110</Paragraphs>
  <Slides>9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-apple-system</vt:lpstr>
      <vt:lpstr>Arial</vt:lpstr>
      <vt:lpstr>Calibri</vt:lpstr>
      <vt:lpstr>Rivers</vt:lpstr>
      <vt:lpstr>Воды суши. Реки</vt:lpstr>
      <vt:lpstr>Две реки: почему они такие разные?</vt:lpstr>
      <vt:lpstr>Из чего состоит река</vt:lpstr>
      <vt:lpstr>Горные и равнинные реки</vt:lpstr>
      <vt:lpstr>Питание реки: откуда вода?</vt:lpstr>
      <vt:lpstr>Режим реки: уровень воды в году</vt:lpstr>
      <vt:lpstr>Практическая работа: план сравнения</vt:lpstr>
      <vt:lpstr>Таблица для практической работы</vt:lpstr>
      <vt:lpstr>Итоги и домашнее задание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Немичев Алексей Владимирович</cp:lastModifiedBy>
  <cp:revision>4</cp:revision>
  <dcterms:created xsi:type="dcterms:W3CDTF">2026-10-03T07:51:11Z</dcterms:created>
  <dcterms:modified xsi:type="dcterms:W3CDTF">2026-10-03T08:03:09Z</dcterms:modified>
</cp:coreProperties>
</file>