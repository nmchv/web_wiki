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2 минуты на организационный момент и мотивацию вместе со следующими двумя слайдами. Поприветствуйте класс, проверьте готовность к уроку и переходите к загадке.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Прочитайте загадку вслух и дайте детям подумать. Ответ «озеро» появится на слайде по щелчку. Время на мотивацию: около 1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Дайте 2–3 ответа от учеников, но не комментируйте их: правильное объяснение появится в конце урока. Можно записать версии на доске.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Вместе с классом сформулируйте тему и цель урока. Запишите на доске слово «Озёра».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Фронтальный опрос, 2 минуты. Что такое гидросфера? Водная оболочка Земли. Из каких частей состоит? Мировой океан и воды суши: реки, озёра, подземные воды, ледники, болота. Что такое река? Водный поток, текущий в углублении — русле. Подведите к вопросу: чем озеро отличается от реки.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Дайте детям время записать оба определения. Подчеркните ключевые слова: впадина суши, нет прямой связи с океаном. Спросите: чем озеро отличается от моря? Время на пункт: 2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на карте или схеме. Дети записывают типы котловин в виде таблицы: тип, как образуется, пример. На этой и следующей странице всего шесть типов. Время на оба слайда: 3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таблицы. Можно спросить у детей, какие типы котловин они запомнили с первого раза. Следующим слайдом закрепляем два новых термина.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Дети записывают оба термина в словарик. Короткий вопрос на проверку: как образовалась котловина Байкала? Ответ: в разломе земной коры, то есть тектонически.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Классификация по стоку. Запишите оба определения. Подсказка для детей: у сточного озера есть «выход», у бессточного его нет. Время на классификацию (сток и солёность): 3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Классификация по солёности. Запишите определение солёности и значок промилле. Один промилле — это 1 грамм соли в 1 литре воды. Дальше объясняем, почему бессточные озёра часто солёные.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Объясняйте по шагам слева направо. Вода испаряется, а растворённые соли остаются в озере. Если время поджимает, достаточно вывода внизу слайда.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Рекорды. Байкал — самое глубокое и самое древнее озеро, самое большое хранилище пресной воды. Каспийское море — самое большое по площади озеро мира. Ладожское — крупнейшее озеро Европы. Время: 1 минута. Можно показать озёра на карте.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Определение водохранилища запишите в тетрадь. Значение озёр можно не записывать, а обсудить устно: спросите, чем озёра полезны людям.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Работа в парах, 2 минуты. Ответ: Байкал, Ладожское и Виктория — пресные, Каспийское море — солёное. Оцените работу пар у карты.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Блиц, 2 минуты. Ответы. 1: озеро не течёт и находится во впадине. 2: тектонически, в разломе земной коры. 3: вода испаряется, а соли накапливаются. 4: водохранилище создано человеком.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Вернитесь к проблемному вопросу из начала урока и сравните с версиями детей. Озёра различаются происхождением котловины, стоком, солёностью воды и климатом. Байкал: тектоническая котловина, сточное, пресное. Мёртвое море: бессточное, очень солёное. Время на итог: 1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Рефлексия, 1–2 минуты. Выберите один из вариантов: либо закончить предложение вслух (2–3 ученика), либо показать цвет светофора карточкой или рукой.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Домашнее задание, около 1 минуты. Оценивание: ответы у карты, блиц-вопросы, работа в паре. Объявите оценки и поблагодарите класс за работу.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3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9855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05000"/>
            <a:ext cx="10566400" cy="414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9855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05000"/>
            <a:ext cx="10566400" cy="414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61200" y="1270000"/>
            <a:ext cx="4318000" cy="4318000"/>
          </a:xfrm>
          <a:prstGeom prst="rect">
            <a:avLst/>
          </a:prstGeom>
        </p:spPr>
      </p:pic>
      <p:pic>
        <p:nvPicPr>
          <p:cNvPr id="3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93200" y="3759200"/>
            <a:ext cx="2286000" cy="2286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2238375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· 6 КЛАСС</a:t>
            </a:r>
            <a:endParaRPr lang="en-US" sz="12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800" y="265112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812800" y="3692525"/>
            <a:ext cx="588645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такое, откуда берутся и какие бывают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ЗАГАДКА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10566400" cy="1485900"/>
          </a:xfrm>
          <a:prstGeom prst="roundRect">
            <a:avLst>
              <a:gd name="adj" fmla="val 10256"/>
            </a:avLst>
          </a:prstGeom>
          <a:solidFill>
            <a:srgbClr val="FBFDF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05000"/>
            <a:ext cx="10566400" cy="1485900"/>
          </a:xfrm>
          <a:custGeom>
            <a:avLst/>
            <a:gdLst/>
            <a:ahLst/>
            <a:cxnLst/>
            <a:rect l="l" t="t" r="r" b="b"/>
            <a:pathLst>
              <a:path w="10566400" h="1485900">
                <a:moveTo>
                  <a:pt x="152400" y="1485900"/>
                </a:moveTo>
                <a:lnTo>
                  <a:pt x="152400" y="14859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lnTo>
                  <a:pt x="152400" y="0"/>
                </a:lnTo>
                <a:arcTo hR="152400" wR="76200" stAng="16200000" swAng="-5400000"/>
                <a:lnTo>
                  <a:pt x="76200" y="1333500"/>
                </a:lnTo>
                <a:arcTo hR="152400" wR="76200" stAng="10800000" swAng="-5400000"/>
                <a:close/>
              </a:path>
            </a:pathLst>
          </a:custGeom>
          <a:solidFill>
            <a:srgbClr val="F2A33A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260600"/>
            <a:ext cx="996772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i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«Лежит зеркало, стекло зелёное, рама деревянная. В этом зеркале увидишь небо и землю»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2800" y="4318000"/>
            <a:ext cx="3048000" cy="58420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</p:sp>
      <p:sp>
        <p:nvSpPr>
          <p:cNvPr id="8" name="Text 6"/>
          <p:cNvSpPr/>
          <p:nvPr/>
        </p:nvSpPr>
        <p:spPr>
          <a:xfrm>
            <a:off x="1028700" y="4445000"/>
            <a:ext cx="261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Ответ: озеро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ПРОБЛЕМНЫЙ ВОПРОС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озёра такие разные?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5181600" cy="1987550"/>
          </a:xfrm>
          <a:prstGeom prst="roundRect">
            <a:avLst>
              <a:gd name="adj" fmla="val 7668"/>
            </a:avLst>
          </a:prstGeom>
          <a:solidFill>
            <a:srgbClr val="1B4766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209800"/>
            <a:ext cx="470916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Байкал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17600" y="2813050"/>
            <a:ext cx="47091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3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хранит около пятой части мировых запасов пресной воды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197600" y="1905000"/>
            <a:ext cx="5181600" cy="1987550"/>
          </a:xfrm>
          <a:prstGeom prst="roundRect">
            <a:avLst>
              <a:gd name="adj" fmla="val 7668"/>
            </a:avLst>
          </a:prstGeom>
          <a:solidFill>
            <a:srgbClr val="1B4766"/>
          </a:solidFill>
          <a:ln/>
        </p:spPr>
      </p:sp>
      <p:sp>
        <p:nvSpPr>
          <p:cNvPr id="8" name="Text 6"/>
          <p:cNvSpPr/>
          <p:nvPr/>
        </p:nvSpPr>
        <p:spPr>
          <a:xfrm>
            <a:off x="6502400" y="2209800"/>
            <a:ext cx="470916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Мёртвое море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502400" y="2813050"/>
            <a:ext cx="47091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3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здесь невозможно утонуть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2800" y="419735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Ваши версии? К этому вопросу мы вернёмся в конце урока.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УРОКА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 мы узнаем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08175"/>
            <a:ext cx="3380284" cy="1841500"/>
          </a:xfrm>
          <a:prstGeom prst="roundRect">
            <a:avLst>
              <a:gd name="adj" fmla="val 8103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65350"/>
            <a:ext cx="295191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73150" y="2768600"/>
            <a:ext cx="2951912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озеро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05809" y="1908175"/>
            <a:ext cx="3380284" cy="1841500"/>
          </a:xfrm>
          <a:prstGeom prst="roundRect">
            <a:avLst>
              <a:gd name="adj" fmla="val 8103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2165350"/>
            <a:ext cx="295191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2984" y="2768600"/>
            <a:ext cx="2951912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озеро берётся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95642" y="1908175"/>
            <a:ext cx="3380284" cy="1841500"/>
          </a:xfrm>
          <a:prstGeom prst="roundRect">
            <a:avLst>
              <a:gd name="adj" fmla="val 8103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817" y="2165350"/>
            <a:ext cx="295191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52817" y="2768600"/>
            <a:ext cx="3119934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бывают озёра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405765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урока: «Озёра». Запишите её в тетрадь.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ПОВТОРЕНИЕ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Гидросфера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05000"/>
            <a:ext cx="1088339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Гидросфера</a:t>
            </a:r>
            <a:r>
              <a:rPr lang="en-US" sz="22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водная оболочка Земли. Из каких частей она состоит?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5975" y="2600325"/>
            <a:ext cx="3621584" cy="1835150"/>
          </a:xfrm>
          <a:prstGeom prst="roundRect">
            <a:avLst>
              <a:gd name="adj" fmla="val 8131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2857500"/>
            <a:ext cx="320045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Мировой океан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3150" y="3289300"/>
            <a:ext cx="32004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океаны и моря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47109" y="2600325"/>
            <a:ext cx="6728916" cy="1835150"/>
          </a:xfrm>
          <a:prstGeom prst="roundRect">
            <a:avLst>
              <a:gd name="adj" fmla="val 8131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4284" y="2857500"/>
            <a:ext cx="640100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Воды суши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04284" y="3289300"/>
            <a:ext cx="797620" cy="393700"/>
          </a:xfrm>
          <a:prstGeom prst="roundRect">
            <a:avLst>
              <a:gd name="adj" fmla="val 50000"/>
            </a:avLst>
          </a:prstGeom>
          <a:solidFill>
            <a:srgbClr val="CFE0D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03503" y="3289300"/>
            <a:ext cx="964803" cy="39370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69906" y="3289300"/>
            <a:ext cx="1978918" cy="393700"/>
          </a:xfrm>
          <a:prstGeom prst="roundRect">
            <a:avLst>
              <a:gd name="adj" fmla="val 50000"/>
            </a:avLst>
          </a:prstGeom>
          <a:solidFill>
            <a:srgbClr val="CFE0D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Подземные воды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50424" y="3289300"/>
            <a:ext cx="1144191" cy="393700"/>
          </a:xfrm>
          <a:prstGeom prst="roundRect">
            <a:avLst>
              <a:gd name="adj" fmla="val 50000"/>
            </a:avLst>
          </a:prstGeom>
          <a:solidFill>
            <a:srgbClr val="CFE0D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Ледники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04284" y="3784600"/>
            <a:ext cx="1030684" cy="393700"/>
          </a:xfrm>
          <a:prstGeom prst="roundRect">
            <a:avLst>
              <a:gd name="adj" fmla="val 50000"/>
            </a:avLst>
          </a:prstGeom>
          <a:solidFill>
            <a:srgbClr val="CFE0D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Болота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474345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Реки текут, а озёра «стоят на месте». Чем они отличаются? Выясним.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озеро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10566400" cy="1282700"/>
          </a:xfrm>
          <a:prstGeom prst="roundRect">
            <a:avLst>
              <a:gd name="adj" fmla="val 11881"/>
            </a:avLst>
          </a:prstGeom>
          <a:solidFill>
            <a:srgbClr val="FBFDF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05000"/>
            <a:ext cx="10566400" cy="1282700"/>
          </a:xfrm>
          <a:custGeom>
            <a:avLst/>
            <a:gdLst/>
            <a:ahLst/>
            <a:cxnLst/>
            <a:rect l="l" t="t" r="r" b="b"/>
            <a:pathLst>
              <a:path w="10566400" h="1282700">
                <a:moveTo>
                  <a:pt x="152400" y="1282700"/>
                </a:moveTo>
                <a:lnTo>
                  <a:pt x="152400" y="12827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lnTo>
                  <a:pt x="152400" y="0"/>
                </a:lnTo>
                <a:arcTo hR="152400" wR="76200" stAng="16200000" swAng="-5400000"/>
                <a:lnTo>
                  <a:pt x="76200" y="1130300"/>
                </a:lnTo>
                <a:arcTo hR="152400" wR="76200" stAng="10800000" swAng="-5400000"/>
                <a:close/>
              </a:path>
            </a:pathLst>
          </a:custGeom>
          <a:solidFill>
            <a:srgbClr val="F2A33A"/>
          </a:solidFill>
          <a:ln/>
        </p:spPr>
      </p:sp>
      <p:sp>
        <p:nvSpPr>
          <p:cNvPr id="6" name="Text 4"/>
          <p:cNvSpPr/>
          <p:nvPr/>
        </p:nvSpPr>
        <p:spPr>
          <a:xfrm>
            <a:off x="1244600" y="2159000"/>
            <a:ext cx="100723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Озеро</a:t>
            </a:r>
            <a:r>
              <a:rPr lang="en-US" sz="22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природный водоём, представляющий собой впадину суши, заполненную водой и не имеющий прямой связи с океаном.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2800" y="3492500"/>
            <a:ext cx="10566400" cy="1282700"/>
          </a:xfrm>
          <a:prstGeom prst="roundRect">
            <a:avLst>
              <a:gd name="adj" fmla="val 11881"/>
            </a:avLst>
          </a:prstGeom>
          <a:solidFill>
            <a:srgbClr val="FBFDFC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" y="3492500"/>
            <a:ext cx="10566400" cy="1282700"/>
          </a:xfrm>
          <a:custGeom>
            <a:avLst/>
            <a:gdLst/>
            <a:ahLst/>
            <a:cxnLst/>
            <a:rect l="l" t="t" r="r" b="b"/>
            <a:pathLst>
              <a:path w="10566400" h="1282700">
                <a:moveTo>
                  <a:pt x="152400" y="1282700"/>
                </a:moveTo>
                <a:lnTo>
                  <a:pt x="152400" y="12827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lnTo>
                  <a:pt x="152400" y="0"/>
                </a:lnTo>
                <a:arcTo hR="152400" wR="76200" stAng="16200000" swAng="-5400000"/>
                <a:lnTo>
                  <a:pt x="76200" y="1130300"/>
                </a:lnTo>
                <a:arcTo hR="152400" wR="76200" stAng="10800000" swAng="-5400000"/>
                <a:close/>
              </a:path>
            </a:pathLst>
          </a:custGeom>
          <a:solidFill>
            <a:srgbClr val="1B8FA6"/>
          </a:solidFill>
          <a:ln/>
        </p:spPr>
      </p:sp>
      <p:sp>
        <p:nvSpPr>
          <p:cNvPr id="9" name="Text 7"/>
          <p:cNvSpPr/>
          <p:nvPr/>
        </p:nvSpPr>
        <p:spPr>
          <a:xfrm>
            <a:off x="1244600" y="3746500"/>
            <a:ext cx="100723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Озёрная котловина</a:t>
            </a:r>
            <a:r>
              <a:rPr lang="en-US" sz="22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углубление в земной поверхности, в котором находится вода озера.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2800" y="508000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Запишите оба определения в тетрадь.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ПРОИСХОЖДЕНИЕ КОТЛОВИН · ЧАСТЬ 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берутся озёра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3386634" cy="2870200"/>
          </a:xfrm>
          <a:prstGeom prst="roundRect">
            <a:avLst>
              <a:gd name="adj" fmla="val 5310"/>
            </a:avLst>
          </a:prstGeom>
          <a:solidFill>
            <a:srgbClr val="FBFDF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05000"/>
            <a:ext cx="3386634" cy="2870200"/>
          </a:xfrm>
          <a:custGeom>
            <a:avLst/>
            <a:gdLst/>
            <a:ahLst/>
            <a:cxnLst/>
            <a:rect l="l" t="t" r="r" b="b"/>
            <a:pathLst>
              <a:path w="3386634" h="287020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3234234" y="0"/>
                </a:lnTo>
                <a:arcTo hR="152400" wR="152400" stAng="16200000" swAng="5400000"/>
                <a:lnTo>
                  <a:pt x="3386634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1B8FA6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209800"/>
            <a:ext cx="29649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Тектонические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2641600"/>
            <a:ext cx="296499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 заполняет разломы и прогибы земной коры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3962400"/>
            <a:ext cx="296499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Байкал, Танганьика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02634" y="1905000"/>
            <a:ext cx="3386634" cy="2870200"/>
          </a:xfrm>
          <a:prstGeom prst="roundRect">
            <a:avLst>
              <a:gd name="adj" fmla="val 5310"/>
            </a:avLst>
          </a:prstGeom>
          <a:solidFill>
            <a:srgbClr val="FBFDFC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34" y="1905000"/>
            <a:ext cx="3386634" cy="2870200"/>
          </a:xfrm>
          <a:custGeom>
            <a:avLst/>
            <a:gdLst/>
            <a:ahLst/>
            <a:cxnLst/>
            <a:rect l="l" t="t" r="r" b="b"/>
            <a:pathLst>
              <a:path w="3386634" h="287020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3234234" y="0"/>
                </a:lnTo>
                <a:arcTo hR="152400" wR="152400" stAng="16200000" swAng="5400000"/>
                <a:lnTo>
                  <a:pt x="3386634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F2A33A"/>
          </a:solidFill>
          <a:ln/>
        </p:spPr>
      </p:sp>
      <p:sp>
        <p:nvSpPr>
          <p:cNvPr id="11" name="Text 9"/>
          <p:cNvSpPr/>
          <p:nvPr/>
        </p:nvSpPr>
        <p:spPr>
          <a:xfrm>
            <a:off x="4656634" y="2209800"/>
            <a:ext cx="29649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Ледниковые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56634" y="2641600"/>
            <a:ext cx="296499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Ледник «выпахивает» впадины, и в них собирается вода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56634" y="3683000"/>
            <a:ext cx="296499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Карельские озёра, Великие Американские озёра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92467" y="1905000"/>
            <a:ext cx="3386634" cy="2870200"/>
          </a:xfrm>
          <a:prstGeom prst="roundRect">
            <a:avLst>
              <a:gd name="adj" fmla="val 5310"/>
            </a:avLst>
          </a:prstGeom>
          <a:solidFill>
            <a:srgbClr val="FBFD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992467" y="1905000"/>
            <a:ext cx="3386634" cy="2870200"/>
          </a:xfrm>
          <a:custGeom>
            <a:avLst/>
            <a:gdLst/>
            <a:ahLst/>
            <a:cxnLst/>
            <a:rect l="l" t="t" r="r" b="b"/>
            <a:pathLst>
              <a:path w="3386634" h="287020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3234234" y="0"/>
                </a:lnTo>
                <a:arcTo hR="152400" wR="152400" stAng="16200000" swAng="5400000"/>
                <a:lnTo>
                  <a:pt x="3386634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0F2E45"/>
          </a:solidFill>
          <a:ln/>
        </p:spPr>
      </p:sp>
      <p:sp>
        <p:nvSpPr>
          <p:cNvPr id="16" name="Text 14"/>
          <p:cNvSpPr/>
          <p:nvPr/>
        </p:nvSpPr>
        <p:spPr>
          <a:xfrm>
            <a:off x="8246467" y="2209800"/>
            <a:ext cx="29649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Вулканические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46467" y="2641600"/>
            <a:ext cx="296499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 заполняет кратеры потухших вулканов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46467" y="3683000"/>
            <a:ext cx="296499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Кроноцкое, Курильское (Камчатка, Курилы)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ПРОИСХОЖДЕНИЕ КОТЛОВИН · ЧАСТЬ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берутся озёра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3386634" cy="2590800"/>
          </a:xfrm>
          <a:prstGeom prst="roundRect">
            <a:avLst>
              <a:gd name="adj" fmla="val 5882"/>
            </a:avLst>
          </a:prstGeom>
          <a:solidFill>
            <a:srgbClr val="FBFDF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05000"/>
            <a:ext cx="3386634" cy="2590800"/>
          </a:xfrm>
          <a:custGeom>
            <a:avLst/>
            <a:gdLst/>
            <a:ahLst/>
            <a:cxnLst/>
            <a:rect l="l" t="t" r="r" b="b"/>
            <a:pathLst>
              <a:path w="3386634" h="259080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3234234" y="0"/>
                </a:lnTo>
                <a:arcTo hR="152400" wR="152400" stAng="16200000" swAng="5400000"/>
                <a:lnTo>
                  <a:pt x="3386634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1B8FA6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209800"/>
            <a:ext cx="29649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Карстовые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2641600"/>
            <a:ext cx="296499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 растворяет известняк, соль, гипс, и порода проваливается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3683000"/>
            <a:ext cx="296499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озёра Урала, Пермского края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02634" y="1905000"/>
            <a:ext cx="3386634" cy="2590800"/>
          </a:xfrm>
          <a:prstGeom prst="roundRect">
            <a:avLst>
              <a:gd name="adj" fmla="val 5882"/>
            </a:avLst>
          </a:prstGeom>
          <a:solidFill>
            <a:srgbClr val="FBFDFC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34" y="1905000"/>
            <a:ext cx="3386634" cy="2590800"/>
          </a:xfrm>
          <a:custGeom>
            <a:avLst/>
            <a:gdLst/>
            <a:ahLst/>
            <a:cxnLst/>
            <a:rect l="l" t="t" r="r" b="b"/>
            <a:pathLst>
              <a:path w="3386634" h="259080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3234234" y="0"/>
                </a:lnTo>
                <a:arcTo hR="152400" wR="152400" stAng="16200000" swAng="5400000"/>
                <a:lnTo>
                  <a:pt x="3386634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F2A33A"/>
          </a:solidFill>
          <a:ln/>
        </p:spPr>
      </p:sp>
      <p:sp>
        <p:nvSpPr>
          <p:cNvPr id="11" name="Text 9"/>
          <p:cNvSpPr/>
          <p:nvPr/>
        </p:nvSpPr>
        <p:spPr>
          <a:xfrm>
            <a:off x="4656634" y="2209800"/>
            <a:ext cx="29649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Запрудные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56634" y="2641600"/>
            <a:ext cx="296499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Река перегорожена обвалом или оползнем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56634" y="3683000"/>
            <a:ext cx="296499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Сарезское озеро (Памир)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92467" y="1905000"/>
            <a:ext cx="3386634" cy="2590800"/>
          </a:xfrm>
          <a:prstGeom prst="roundRect">
            <a:avLst>
              <a:gd name="adj" fmla="val 5882"/>
            </a:avLst>
          </a:prstGeom>
          <a:solidFill>
            <a:srgbClr val="FBFD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992467" y="1905000"/>
            <a:ext cx="3386634" cy="2590800"/>
          </a:xfrm>
          <a:custGeom>
            <a:avLst/>
            <a:gdLst/>
            <a:ahLst/>
            <a:cxnLst/>
            <a:rect l="l" t="t" r="r" b="b"/>
            <a:pathLst>
              <a:path w="3386634" h="259080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3234234" y="0"/>
                </a:lnTo>
                <a:arcTo hR="152400" wR="152400" stAng="16200000" swAng="5400000"/>
                <a:lnTo>
                  <a:pt x="3386634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0F2E45"/>
          </a:solidFill>
          <a:ln/>
        </p:spPr>
      </p:sp>
      <p:sp>
        <p:nvSpPr>
          <p:cNvPr id="16" name="Text 14"/>
          <p:cNvSpPr/>
          <p:nvPr/>
        </p:nvSpPr>
        <p:spPr>
          <a:xfrm>
            <a:off x="8246467" y="2209800"/>
            <a:ext cx="29649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Старицы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46467" y="2641600"/>
            <a:ext cx="296499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старого русла, отделившаяся от реки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46467" y="3962400"/>
            <a:ext cx="31326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озёра в поймах рек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СЛОВА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термина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10566400" cy="1225550"/>
          </a:xfrm>
          <a:prstGeom prst="roundRect">
            <a:avLst>
              <a:gd name="adj" fmla="val 12435"/>
            </a:avLst>
          </a:prstGeom>
          <a:solidFill>
            <a:srgbClr val="FBFDF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05000"/>
            <a:ext cx="10566400" cy="1225550"/>
          </a:xfrm>
          <a:custGeom>
            <a:avLst/>
            <a:gdLst/>
            <a:ahLst/>
            <a:cxnLst/>
            <a:rect l="l" t="t" r="r" b="b"/>
            <a:pathLst>
              <a:path w="10566400" h="1225550">
                <a:moveTo>
                  <a:pt x="152400" y="1225550"/>
                </a:moveTo>
                <a:lnTo>
                  <a:pt x="152400" y="122555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lnTo>
                  <a:pt x="152400" y="0"/>
                </a:lnTo>
                <a:arcTo hR="152400" wR="76200" stAng="16200000" swAng="-5400000"/>
                <a:lnTo>
                  <a:pt x="76200" y="1073150"/>
                </a:lnTo>
                <a:arcTo hR="152400" wR="76200" stAng="10800000" swAng="-5400000"/>
                <a:close/>
              </a:path>
            </a:pathLst>
          </a:custGeom>
          <a:solidFill>
            <a:srgbClr val="1B8FA6"/>
          </a:solidFill>
          <a:ln/>
        </p:spPr>
      </p:sp>
      <p:sp>
        <p:nvSpPr>
          <p:cNvPr id="6" name="Text 4"/>
          <p:cNvSpPr/>
          <p:nvPr/>
        </p:nvSpPr>
        <p:spPr>
          <a:xfrm>
            <a:off x="1244600" y="2352675"/>
            <a:ext cx="3860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Тектонические процессы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105400" y="2159000"/>
            <a:ext cx="6095746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движения земной коры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05400" y="2597150"/>
            <a:ext cx="60957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образовались Байкал и Танганьика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3435350"/>
            <a:ext cx="10566400" cy="1225550"/>
          </a:xfrm>
          <a:prstGeom prst="roundRect">
            <a:avLst>
              <a:gd name="adj" fmla="val 12435"/>
            </a:avLst>
          </a:prstGeom>
          <a:solidFill>
            <a:srgbClr val="FBFDFC"/>
          </a:solidFill>
          <a:ln/>
        </p:spPr>
      </p:sp>
      <p:sp>
        <p:nvSpPr>
          <p:cNvPr id="10" name="Shape 8"/>
          <p:cNvSpPr/>
          <p:nvPr/>
        </p:nvSpPr>
        <p:spPr>
          <a:xfrm>
            <a:off x="812800" y="3435350"/>
            <a:ext cx="10566400" cy="1225550"/>
          </a:xfrm>
          <a:custGeom>
            <a:avLst/>
            <a:gdLst/>
            <a:ahLst/>
            <a:cxnLst/>
            <a:rect l="l" t="t" r="r" b="b"/>
            <a:pathLst>
              <a:path w="10566400" h="1225550">
                <a:moveTo>
                  <a:pt x="152400" y="1225550"/>
                </a:moveTo>
                <a:lnTo>
                  <a:pt x="152400" y="122555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lnTo>
                  <a:pt x="152400" y="0"/>
                </a:lnTo>
                <a:arcTo hR="152400" wR="76200" stAng="16200000" swAng="-5400000"/>
                <a:lnTo>
                  <a:pt x="76200" y="1073150"/>
                </a:lnTo>
                <a:arcTo hR="152400" wR="76200" stAng="10800000" swAng="-5400000"/>
                <a:close/>
              </a:path>
            </a:pathLst>
          </a:custGeom>
          <a:solidFill>
            <a:srgbClr val="F2A33A"/>
          </a:solidFill>
          <a:ln/>
        </p:spPr>
      </p:sp>
      <p:sp>
        <p:nvSpPr>
          <p:cNvPr id="11" name="Text 9"/>
          <p:cNvSpPr/>
          <p:nvPr/>
        </p:nvSpPr>
        <p:spPr>
          <a:xfrm>
            <a:off x="1244600" y="3883025"/>
            <a:ext cx="36626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Карст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05400" y="3689350"/>
            <a:ext cx="6095746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растворение горных пород водой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05400" y="4127500"/>
            <a:ext cx="60957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образуются озёра на Урале и в Пермском крае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ВИДЫ ОЗЁР · ПО СТОКУ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Сточные и бессточные озёра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5181600" cy="2032000"/>
          </a:xfrm>
          <a:prstGeom prst="roundRect">
            <a:avLst>
              <a:gd name="adj" fmla="val 7500"/>
            </a:avLst>
          </a:prstGeom>
          <a:solidFill>
            <a:srgbClr val="FBFDF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05000"/>
            <a:ext cx="5181600" cy="2032000"/>
          </a:xfrm>
          <a:custGeom>
            <a:avLst/>
            <a:gdLst/>
            <a:ahLst/>
            <a:cxnLst/>
            <a:rect l="l" t="t" r="r" b="b"/>
            <a:pathLst>
              <a:path w="5181600" h="203200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5029200" y="0"/>
                </a:lnTo>
                <a:arcTo hR="152400" wR="152400" stAng="16200000" swAng="5400000"/>
                <a:lnTo>
                  <a:pt x="5181600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1B8FA6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20980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Сточные озёра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2641600"/>
            <a:ext cx="48138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Озёра, из которых вытекает река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3403600"/>
            <a:ext cx="48138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Байкал (вытекает Ангара)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7600" y="1905000"/>
            <a:ext cx="5181600" cy="2032000"/>
          </a:xfrm>
          <a:prstGeom prst="roundRect">
            <a:avLst>
              <a:gd name="adj" fmla="val 7500"/>
            </a:avLst>
          </a:prstGeom>
          <a:solidFill>
            <a:srgbClr val="FBFDFC"/>
          </a:solidFill>
          <a:ln/>
        </p:spPr>
      </p:sp>
      <p:sp>
        <p:nvSpPr>
          <p:cNvPr id="10" name="Shape 8"/>
          <p:cNvSpPr/>
          <p:nvPr/>
        </p:nvSpPr>
        <p:spPr>
          <a:xfrm>
            <a:off x="6197600" y="1905000"/>
            <a:ext cx="5181600" cy="2032000"/>
          </a:xfrm>
          <a:custGeom>
            <a:avLst/>
            <a:gdLst/>
            <a:ahLst/>
            <a:cxnLst/>
            <a:rect l="l" t="t" r="r" b="b"/>
            <a:pathLst>
              <a:path w="5181600" h="203200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5029200" y="0"/>
                </a:lnTo>
                <a:arcTo hR="152400" wR="152400" stAng="16200000" swAng="5400000"/>
                <a:lnTo>
                  <a:pt x="5181600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F2A33A"/>
          </a:solidFill>
          <a:ln/>
        </p:spPr>
      </p:sp>
      <p:sp>
        <p:nvSpPr>
          <p:cNvPr id="11" name="Text 9"/>
          <p:cNvSpPr/>
          <p:nvPr/>
        </p:nvSpPr>
        <p:spPr>
          <a:xfrm>
            <a:off x="6451600" y="220980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Бессточные озёра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51600" y="2641600"/>
            <a:ext cx="481380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Озёра, из которых реки не вытекают. Вода уходит только на испарение и просачивание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51600" y="3403600"/>
            <a:ext cx="48138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Каспийское море, Эльтон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ВИДЫ ОЗЁР · ПО СОЛЁНОСТИ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Пресные и солёные озёра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5181600" cy="1873250"/>
          </a:xfrm>
          <a:prstGeom prst="roundRect">
            <a:avLst>
              <a:gd name="adj" fmla="val 8136"/>
            </a:avLst>
          </a:prstGeom>
          <a:solidFill>
            <a:srgbClr val="FBFDF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05000"/>
            <a:ext cx="5181600" cy="1873250"/>
          </a:xfrm>
          <a:custGeom>
            <a:avLst/>
            <a:gdLst/>
            <a:ahLst/>
            <a:cxnLst/>
            <a:rect l="l" t="t" r="r" b="b"/>
            <a:pathLst>
              <a:path w="5181600" h="187325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5029200" y="0"/>
                </a:lnTo>
                <a:arcTo hR="152400" wR="152400" stAng="16200000" swAng="5400000"/>
                <a:lnTo>
                  <a:pt x="5181600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1B8FA6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20980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Пресные озёра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2641600"/>
            <a:ext cx="4813808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менее 1 ‰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66800" y="3244850"/>
            <a:ext cx="48138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Байкал, Ладожское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7600" y="1905000"/>
            <a:ext cx="5181600" cy="1873250"/>
          </a:xfrm>
          <a:prstGeom prst="roundRect">
            <a:avLst>
              <a:gd name="adj" fmla="val 8136"/>
            </a:avLst>
          </a:prstGeom>
          <a:solidFill>
            <a:srgbClr val="FBFDFC"/>
          </a:solidFill>
          <a:ln/>
        </p:spPr>
      </p:sp>
      <p:sp>
        <p:nvSpPr>
          <p:cNvPr id="10" name="Shape 8"/>
          <p:cNvSpPr/>
          <p:nvPr/>
        </p:nvSpPr>
        <p:spPr>
          <a:xfrm>
            <a:off x="6197600" y="1905000"/>
            <a:ext cx="5181600" cy="1873250"/>
          </a:xfrm>
          <a:custGeom>
            <a:avLst/>
            <a:gdLst/>
            <a:ahLst/>
            <a:cxnLst/>
            <a:rect l="l" t="t" r="r" b="b"/>
            <a:pathLst>
              <a:path w="5181600" h="187325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5029200" y="0"/>
                </a:lnTo>
                <a:arcTo hR="152400" wR="152400" stAng="16200000" swAng="5400000"/>
                <a:lnTo>
                  <a:pt x="5181600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F2A33A"/>
          </a:solidFill>
          <a:ln/>
        </p:spPr>
      </p:sp>
      <p:sp>
        <p:nvSpPr>
          <p:cNvPr id="11" name="Text 9"/>
          <p:cNvSpPr/>
          <p:nvPr/>
        </p:nvSpPr>
        <p:spPr>
          <a:xfrm>
            <a:off x="6451600" y="220980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Солёные озёра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51600" y="2641600"/>
            <a:ext cx="4813808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более 1 ‰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51600" y="3244850"/>
            <a:ext cx="48138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Эльтон, Баскунчак, Мёртвое море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" y="4083050"/>
            <a:ext cx="10566400" cy="685800"/>
          </a:xfrm>
          <a:prstGeom prst="roundRect">
            <a:avLst>
              <a:gd name="adj" fmla="val 22222"/>
            </a:avLst>
          </a:prstGeom>
          <a:solidFill>
            <a:srgbClr val="0F2E45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600" y="4286250"/>
            <a:ext cx="102555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Солёность</a:t>
            </a:r>
            <a:r>
              <a:rPr lang="en-US" sz="1600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количество граммов растворённых солей в 1 литре воды. Измеряется в промилле (‰).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ОБЪЯСНЕНИЕ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бессточные озёра солёные?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08175"/>
            <a:ext cx="2838450" cy="2286000"/>
          </a:xfrm>
          <a:prstGeom prst="roundRect">
            <a:avLst>
              <a:gd name="adj" fmla="val 6528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114550"/>
            <a:ext cx="2498471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22350" y="2717800"/>
            <a:ext cx="249847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 приходит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2350" y="3149600"/>
            <a:ext cx="2498471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Реки впадают в озеро и приносят растворённые соли</a:t>
            </a:r>
            <a:endParaRPr lang="en-US" sz="16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60800" y="2898775"/>
            <a:ext cx="609600" cy="30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76775" y="1908175"/>
            <a:ext cx="2838450" cy="2286000"/>
          </a:xfrm>
          <a:prstGeom prst="roundRect">
            <a:avLst>
              <a:gd name="adj" fmla="val 6528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83150" y="2114550"/>
            <a:ext cx="2498471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883150" y="2717800"/>
            <a:ext cx="2628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 испаряется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883150" y="3149600"/>
            <a:ext cx="249847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сухом жарком климате влага уходит в воздух</a:t>
            </a:r>
            <a:endParaRPr lang="en-US" sz="16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21600" y="2898775"/>
            <a:ext cx="609600" cy="304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537575" y="1908175"/>
            <a:ext cx="2838450" cy="2286000"/>
          </a:xfrm>
          <a:prstGeom prst="roundRect">
            <a:avLst>
              <a:gd name="adj" fmla="val 6528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743950" y="2114550"/>
            <a:ext cx="2498471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8743950" y="2717800"/>
            <a:ext cx="249847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Соли остаются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743950" y="3149600"/>
            <a:ext cx="2498471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Реки из озера не вытекают, поэтому солёность растёт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12800" y="450215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в сухом климате бессточные озёра становятся солёными.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РЕКОРДЫ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Озёра-чемпионы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3420566" cy="2336800"/>
          </a:xfrm>
          <a:prstGeom prst="roundRect">
            <a:avLst>
              <a:gd name="adj" fmla="val 6522"/>
            </a:avLst>
          </a:prstGeom>
          <a:solidFill>
            <a:srgbClr val="1B4766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08200"/>
            <a:ext cx="31045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Самое большое по площади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470150"/>
            <a:ext cx="3104591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Каспийское море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16000" y="3676650"/>
            <a:ext cx="3104591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E3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около 371 тыс. км²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85766" y="1905000"/>
            <a:ext cx="3420566" cy="2336800"/>
          </a:xfrm>
          <a:prstGeom prst="roundRect">
            <a:avLst>
              <a:gd name="adj" fmla="val 6522"/>
            </a:avLst>
          </a:prstGeom>
          <a:solidFill>
            <a:srgbClr val="1B4766"/>
          </a:solidFill>
          <a:ln/>
        </p:spPr>
      </p:sp>
      <p:sp>
        <p:nvSpPr>
          <p:cNvPr id="9" name="Text 7"/>
          <p:cNvSpPr/>
          <p:nvPr/>
        </p:nvSpPr>
        <p:spPr>
          <a:xfrm>
            <a:off x="4588966" y="2108200"/>
            <a:ext cx="31045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Самое глубокое и древнее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88966" y="2470150"/>
            <a:ext cx="3104591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Байкал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88966" y="3676650"/>
            <a:ext cx="3104591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E3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глубина 1642 м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58733" y="1905000"/>
            <a:ext cx="3420566" cy="2336800"/>
          </a:xfrm>
          <a:prstGeom prst="roundRect">
            <a:avLst>
              <a:gd name="adj" fmla="val 6522"/>
            </a:avLst>
          </a:prstGeom>
          <a:solidFill>
            <a:srgbClr val="1B4766"/>
          </a:solidFill>
          <a:ln/>
        </p:spPr>
      </p:sp>
      <p:sp>
        <p:nvSpPr>
          <p:cNvPr id="13" name="Text 11"/>
          <p:cNvSpPr/>
          <p:nvPr/>
        </p:nvSpPr>
        <p:spPr>
          <a:xfrm>
            <a:off x="8161933" y="2108200"/>
            <a:ext cx="31045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Крупнейшее в Европе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61933" y="2470150"/>
            <a:ext cx="3104591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Ладожское озеро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161933" y="3676650"/>
            <a:ext cx="3104591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E3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пресное озеро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ВАЖНО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Водохранилище и значение озёр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5181600" cy="2546350"/>
          </a:xfrm>
          <a:prstGeom prst="roundRect">
            <a:avLst>
              <a:gd name="adj" fmla="val 5985"/>
            </a:avLst>
          </a:prstGeom>
          <a:solidFill>
            <a:srgbClr val="FBFDF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05000"/>
            <a:ext cx="5181600" cy="2546350"/>
          </a:xfrm>
          <a:custGeom>
            <a:avLst/>
            <a:gdLst/>
            <a:ahLst/>
            <a:cxnLst/>
            <a:rect l="l" t="t" r="r" b="b"/>
            <a:pathLst>
              <a:path w="5181600" h="254635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5029200" y="0"/>
                </a:lnTo>
                <a:arcTo hR="152400" wR="152400" stAng="16200000" swAng="5400000"/>
                <a:lnTo>
                  <a:pt x="5181600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1B8FA6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20980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Водохранилище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2641600"/>
            <a:ext cx="481380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Искусственный водоём, созданный человеком на реке с помощью плотины для накопления воды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7600" y="1905000"/>
            <a:ext cx="5181600" cy="2546350"/>
          </a:xfrm>
          <a:prstGeom prst="roundRect">
            <a:avLst>
              <a:gd name="adj" fmla="val 5985"/>
            </a:avLst>
          </a:prstGeom>
          <a:solidFill>
            <a:srgbClr val="FBFDFC"/>
          </a:solidFill>
          <a:ln/>
        </p:spPr>
      </p:sp>
      <p:sp>
        <p:nvSpPr>
          <p:cNvPr id="9" name="Shape 7"/>
          <p:cNvSpPr/>
          <p:nvPr/>
        </p:nvSpPr>
        <p:spPr>
          <a:xfrm>
            <a:off x="6197600" y="1905000"/>
            <a:ext cx="5181600" cy="2546350"/>
          </a:xfrm>
          <a:custGeom>
            <a:avLst/>
            <a:gdLst/>
            <a:ahLst/>
            <a:cxnLst/>
            <a:rect l="l" t="t" r="r" b="b"/>
            <a:pathLst>
              <a:path w="5181600" h="254635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5029200" y="0"/>
                </a:lnTo>
                <a:arcTo hR="152400" wR="152400" stAng="16200000" swAng="5400000"/>
                <a:lnTo>
                  <a:pt x="5181600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F2A33A"/>
          </a:solidFill>
          <a:ln/>
        </p:spPr>
      </p:sp>
      <p:sp>
        <p:nvSpPr>
          <p:cNvPr id="10" name="Text 8"/>
          <p:cNvSpPr/>
          <p:nvPr/>
        </p:nvSpPr>
        <p:spPr>
          <a:xfrm>
            <a:off x="6451600" y="220980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 озёр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28308" y="2641600"/>
            <a:ext cx="472948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воды, рыбы и соли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Регулирование стока рек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Пути сообщения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Отдых и туризм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на климат побережья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ЗАКРЕПЛЕНИЕ · ЗАДАНИЕ 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 картой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5420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парах найдите в атласе и покажите на карте: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390775"/>
            <a:ext cx="2520950" cy="1454150"/>
          </a:xfrm>
          <a:prstGeom prst="roundRect">
            <a:avLst>
              <a:gd name="adj" fmla="val 10262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2597150"/>
            <a:ext cx="217144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Байкал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2350" y="3028950"/>
            <a:ext cx="21714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Восточная Сибирь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95675" y="2390775"/>
            <a:ext cx="2520950" cy="1454150"/>
          </a:xfrm>
          <a:prstGeom prst="roundRect">
            <a:avLst>
              <a:gd name="adj" fmla="val 10262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2050" y="2597150"/>
            <a:ext cx="21714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Ладожское озеро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02050" y="3359150"/>
            <a:ext cx="231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Северо-запад России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5375" y="2390775"/>
            <a:ext cx="2520950" cy="1454150"/>
          </a:xfrm>
          <a:prstGeom prst="roundRect">
            <a:avLst>
              <a:gd name="adj" fmla="val 10262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1750" y="2597150"/>
            <a:ext cx="21714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Каспийское море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81750" y="3359150"/>
            <a:ext cx="21714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Евразия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55075" y="2390775"/>
            <a:ext cx="2520950" cy="1454150"/>
          </a:xfrm>
          <a:prstGeom prst="roundRect">
            <a:avLst>
              <a:gd name="adj" fmla="val 10262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61450" y="2597150"/>
            <a:ext cx="21714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Озеро Виктория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61450" y="3359150"/>
            <a:ext cx="21714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Африка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4102100"/>
            <a:ext cx="10566400" cy="666750"/>
          </a:xfrm>
          <a:prstGeom prst="roundRect">
            <a:avLst>
              <a:gd name="adj" fmla="val 22857"/>
            </a:avLst>
          </a:prstGeom>
          <a:solidFill>
            <a:srgbClr val="F2A33A"/>
          </a:solidFill>
          <a:ln/>
        </p:spPr>
        <p:txBody>
          <a:bodyPr wrap="square" lIns="260164" tIns="107764" rIns="0" bIns="82364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из этих озёр пресные, а какое солёное?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ЗАКРЕПЛЕНИЕ · ЗАДАНИЕ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Блиц-вопросы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08175"/>
            <a:ext cx="5200650" cy="1187450"/>
          </a:xfrm>
          <a:prstGeom prst="roundRect">
            <a:avLst>
              <a:gd name="adj" fmla="val 12567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251075"/>
            <a:ext cx="4064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30350" y="2308225"/>
            <a:ext cx="4408297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озеро отличается от реки?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175375" y="1908175"/>
            <a:ext cx="5200650" cy="1187450"/>
          </a:xfrm>
          <a:prstGeom prst="roundRect">
            <a:avLst>
              <a:gd name="adj" fmla="val 12567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1750" y="2251075"/>
            <a:ext cx="4064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89750" y="2114550"/>
            <a:ext cx="440829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образовалась котловина Байкала?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15975" y="3254375"/>
            <a:ext cx="5200650" cy="1187450"/>
          </a:xfrm>
          <a:prstGeom prst="roundRect">
            <a:avLst>
              <a:gd name="adj" fmla="val 12567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2350" y="3597275"/>
            <a:ext cx="4064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530350" y="3460750"/>
            <a:ext cx="440829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вода в бессточных озёрах часто солёная?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5375" y="3254375"/>
            <a:ext cx="5200650" cy="1187450"/>
          </a:xfrm>
          <a:prstGeom prst="roundRect">
            <a:avLst>
              <a:gd name="adj" fmla="val 12567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1750" y="3597275"/>
            <a:ext cx="4064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89750" y="3460750"/>
            <a:ext cx="440829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водохранилище отличается от природного озера?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УРОКА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озёра такие разные?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5207000" cy="838200"/>
          </a:xfrm>
          <a:prstGeom prst="roundRect">
            <a:avLst>
              <a:gd name="adj" fmla="val 18182"/>
            </a:avLst>
          </a:prstGeom>
          <a:solidFill>
            <a:srgbClr val="1B4766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59000"/>
            <a:ext cx="483997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Происхождение котловины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172200" y="1905000"/>
            <a:ext cx="5207000" cy="838200"/>
          </a:xfrm>
          <a:prstGeom prst="roundRect">
            <a:avLst>
              <a:gd name="adj" fmla="val 18182"/>
            </a:avLst>
          </a:prstGeom>
          <a:solidFill>
            <a:srgbClr val="1B4766"/>
          </a:solidFill>
          <a:ln/>
        </p:spPr>
      </p:sp>
      <p:sp>
        <p:nvSpPr>
          <p:cNvPr id="7" name="Text 5"/>
          <p:cNvSpPr/>
          <p:nvPr/>
        </p:nvSpPr>
        <p:spPr>
          <a:xfrm>
            <a:off x="6426200" y="2159000"/>
            <a:ext cx="483997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Сточное или бессточное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12800" y="2895600"/>
            <a:ext cx="5207000" cy="838200"/>
          </a:xfrm>
          <a:prstGeom prst="roundRect">
            <a:avLst>
              <a:gd name="adj" fmla="val 18182"/>
            </a:avLst>
          </a:prstGeom>
          <a:solidFill>
            <a:srgbClr val="1B4766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3149600"/>
            <a:ext cx="483997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Пресное или солёное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72200" y="2895600"/>
            <a:ext cx="5207000" cy="838200"/>
          </a:xfrm>
          <a:prstGeom prst="roundRect">
            <a:avLst>
              <a:gd name="adj" fmla="val 18182"/>
            </a:avLst>
          </a:prstGeom>
          <a:solidFill>
            <a:srgbClr val="1B4766"/>
          </a:solidFill>
          <a:ln/>
        </p:spPr>
      </p:sp>
      <p:sp>
        <p:nvSpPr>
          <p:cNvPr id="11" name="Text 9"/>
          <p:cNvSpPr/>
          <p:nvPr/>
        </p:nvSpPr>
        <p:spPr>
          <a:xfrm>
            <a:off x="6426200" y="3149600"/>
            <a:ext cx="483997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Климат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2800" y="4038600"/>
            <a:ext cx="1088339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Байкал пресный и глубокий, а Мёртвое море очень солёное.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Закончи предложение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08175"/>
            <a:ext cx="6148090" cy="2520950"/>
          </a:xfrm>
          <a:prstGeom prst="roundRect">
            <a:avLst>
              <a:gd name="adj" fmla="val 5919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422525"/>
            <a:ext cx="5698104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 я узнал…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23950" y="2987675"/>
            <a:ext cx="5698104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Мне было трудно…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3950" y="3552825"/>
            <a:ext cx="5698104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Теперь я смогу…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3615" y="1908175"/>
            <a:ext cx="4202410" cy="2520950"/>
          </a:xfrm>
          <a:prstGeom prst="roundRect">
            <a:avLst>
              <a:gd name="adj" fmla="val 5919"/>
            </a:avLst>
          </a:prstGeom>
          <a:solidFill>
            <a:srgbClr val="FBFDFC"/>
          </a:solidFill>
          <a:ln w="6350">
            <a:solidFill>
              <a:srgbClr val="CFE0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30790" y="2165350"/>
            <a:ext cx="379870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Светофор</a:t>
            </a:r>
            <a:endParaRPr lang="en-US" sz="2200" dirty="0"/>
          </a:p>
        </p:txBody>
      </p:sp>
      <p:pic>
        <p:nvPicPr>
          <p:cNvPr id="10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30790" y="2647950"/>
            <a:ext cx="406400" cy="406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89590" y="2720975"/>
            <a:ext cx="1164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понял</a:t>
            </a:r>
            <a:endParaRPr lang="en-US" sz="1600" dirty="0"/>
          </a:p>
        </p:txBody>
      </p:sp>
      <p:pic>
        <p:nvPicPr>
          <p:cNvPr id="12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30790" y="3206750"/>
            <a:ext cx="406400" cy="406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89590" y="3279775"/>
            <a:ext cx="15511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вопросы</a:t>
            </a:r>
            <a:endParaRPr lang="en-US" sz="1600" dirty="0"/>
          </a:p>
        </p:txBody>
      </p:sp>
      <p:pic>
        <p:nvPicPr>
          <p:cNvPr id="14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30790" y="3765550"/>
            <a:ext cx="406400" cy="406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89590" y="3838575"/>
            <a:ext cx="10560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2F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понял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ДОМАШНЕЕ ЗАДАНИЕ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5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следующему уроку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10566400" cy="736600"/>
          </a:xfrm>
          <a:prstGeom prst="roundRect">
            <a:avLst>
              <a:gd name="adj" fmla="val 20690"/>
            </a:avLst>
          </a:prstGeom>
          <a:solidFill>
            <a:srgbClr val="FBFDF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05000"/>
            <a:ext cx="10566400" cy="736600"/>
          </a:xfrm>
          <a:custGeom>
            <a:avLst/>
            <a:gdLst/>
            <a:ahLst/>
            <a:cxnLst/>
            <a:rect l="l" t="t" r="r" b="b"/>
            <a:pathLst>
              <a:path w="10566400" h="736600">
                <a:moveTo>
                  <a:pt x="152400" y="736600"/>
                </a:moveTo>
                <a:lnTo>
                  <a:pt x="152400" y="7366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lnTo>
                  <a:pt x="152400" y="0"/>
                </a:lnTo>
                <a:arcTo hR="152400" wR="76200" stAng="16200000" swAng="-5400000"/>
                <a:lnTo>
                  <a:pt x="76200" y="584200"/>
                </a:lnTo>
                <a:arcTo hR="152400" wR="76200" stAng="10800000" swAng="-5400000"/>
                <a:close/>
              </a:path>
            </a:pathLst>
          </a:custGeom>
          <a:solidFill>
            <a:srgbClr val="1B8FA6"/>
          </a:solidFill>
          <a:ln/>
        </p:spPr>
      </p:sp>
      <p:sp>
        <p:nvSpPr>
          <p:cNvPr id="6" name="Text 4"/>
          <p:cNvSpPr/>
          <p:nvPr/>
        </p:nvSpPr>
        <p:spPr>
          <a:xfrm>
            <a:off x="1193800" y="2108200"/>
            <a:ext cx="261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Учебник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038600" y="2133600"/>
            <a:ext cx="72468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Прочитать параграф «Озёра», выучить определения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2794000"/>
            <a:ext cx="10566400" cy="736600"/>
          </a:xfrm>
          <a:prstGeom prst="roundRect">
            <a:avLst>
              <a:gd name="adj" fmla="val 20690"/>
            </a:avLst>
          </a:prstGeom>
          <a:solidFill>
            <a:srgbClr val="FBFDFC"/>
          </a:solidFill>
          <a:ln/>
        </p:spPr>
      </p:sp>
      <p:sp>
        <p:nvSpPr>
          <p:cNvPr id="9" name="Shape 7"/>
          <p:cNvSpPr/>
          <p:nvPr/>
        </p:nvSpPr>
        <p:spPr>
          <a:xfrm>
            <a:off x="812800" y="2794000"/>
            <a:ext cx="10566400" cy="736600"/>
          </a:xfrm>
          <a:custGeom>
            <a:avLst/>
            <a:gdLst/>
            <a:ahLst/>
            <a:cxnLst/>
            <a:rect l="l" t="t" r="r" b="b"/>
            <a:pathLst>
              <a:path w="10566400" h="736600">
                <a:moveTo>
                  <a:pt x="152400" y="736600"/>
                </a:moveTo>
                <a:lnTo>
                  <a:pt x="152400" y="7366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lnTo>
                  <a:pt x="152400" y="0"/>
                </a:lnTo>
                <a:arcTo hR="152400" wR="76200" stAng="16200000" swAng="-5400000"/>
                <a:lnTo>
                  <a:pt x="76200" y="584200"/>
                </a:lnTo>
                <a:arcTo hR="152400" wR="76200" stAng="10800000" swAng="-5400000"/>
                <a:close/>
              </a:path>
            </a:pathLst>
          </a:custGeom>
          <a:solidFill>
            <a:srgbClr val="F2A33A"/>
          </a:solidFill>
          <a:ln/>
        </p:spPr>
      </p:sp>
      <p:sp>
        <p:nvSpPr>
          <p:cNvPr id="10" name="Text 8"/>
          <p:cNvSpPr/>
          <p:nvPr/>
        </p:nvSpPr>
        <p:spPr>
          <a:xfrm>
            <a:off x="1193800" y="2997200"/>
            <a:ext cx="261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Контурная карта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38600" y="3022600"/>
            <a:ext cx="72468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Подписать Каспийское море, Байкал, Ладожское и Онежское озёра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" y="3683000"/>
            <a:ext cx="10566400" cy="736600"/>
          </a:xfrm>
          <a:prstGeom prst="roundRect">
            <a:avLst>
              <a:gd name="adj" fmla="val 20690"/>
            </a:avLst>
          </a:prstGeom>
          <a:solidFill>
            <a:srgbClr val="FBFD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3683000"/>
            <a:ext cx="10566400" cy="736600"/>
          </a:xfrm>
          <a:custGeom>
            <a:avLst/>
            <a:gdLst/>
            <a:ahLst/>
            <a:cxnLst/>
            <a:rect l="l" t="t" r="r" b="b"/>
            <a:pathLst>
              <a:path w="10566400" h="736600">
                <a:moveTo>
                  <a:pt x="152400" y="736600"/>
                </a:moveTo>
                <a:lnTo>
                  <a:pt x="152400" y="7366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lnTo>
                  <a:pt x="152400" y="0"/>
                </a:lnTo>
                <a:arcTo hR="152400" wR="76200" stAng="16200000" swAng="-5400000"/>
                <a:lnTo>
                  <a:pt x="76200" y="584200"/>
                </a:lnTo>
                <a:arcTo hR="152400" wR="76200" stAng="10800000" swAng="-5400000"/>
                <a:close/>
              </a:path>
            </a:pathLst>
          </a:custGeom>
          <a:solidFill>
            <a:srgbClr val="0F2E45"/>
          </a:solidFill>
          <a:ln/>
        </p:spPr>
      </p:sp>
      <p:sp>
        <p:nvSpPr>
          <p:cNvPr id="14" name="Text 12"/>
          <p:cNvSpPr/>
          <p:nvPr/>
        </p:nvSpPr>
        <p:spPr>
          <a:xfrm>
            <a:off x="1193800" y="3886200"/>
            <a:ext cx="261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Дополнительно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038600" y="3911600"/>
            <a:ext cx="72468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короткое сообщение об одном озере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4724400"/>
            <a:ext cx="10883392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3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урок!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5808" y="6273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6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Озёра · 6 класс · 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зёра">
  <a:themeElements>
    <a:clrScheme name="Озёра">
      <a:dk1>
        <a:srgbClr val="0F2E45"/>
      </a:dk1>
      <a:lt1>
        <a:srgbClr val="E3EFEE"/>
      </a:lt1>
      <a:dk2>
        <a:srgbClr val="445E6F"/>
      </a:dk2>
      <a:lt2>
        <a:srgbClr val="CEDCDD"/>
      </a:lt2>
      <a:accent1>
        <a:srgbClr val="13687A"/>
      </a:accent1>
      <a:accent2>
        <a:srgbClr val="2F4858"/>
      </a:accent2>
      <a:accent3>
        <a:srgbClr val="4F6877"/>
      </a:accent3>
      <a:accent4>
        <a:srgbClr val="F2A33A"/>
      </a:accent4>
      <a:accent5>
        <a:srgbClr val="1B4766"/>
      </a:accent5>
      <a:accent6>
        <a:srgbClr val="9FB8C4"/>
      </a:accent6>
      <a:hlink>
        <a:srgbClr val="0563C1"/>
      </a:hlink>
      <a:folHlink>
        <a:srgbClr val="954F72"/>
      </a:folHlink>
    </a:clrScheme>
    <a:fontScheme name="Озёра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Озёра</dc:title>
  <dc:subject/>
  <dc:creator/>
  <cp:lastModifiedBy/>
  <cp:revision>1</cp:revision>
  <dcterms:created xsi:type="dcterms:W3CDTF">2026-10-11T16:30:24Z</dcterms:created>
  <dcterms:modified xsi:type="dcterms:W3CDTF">2026-10-11T16:30:24Z</dcterms:modified>
</cp:coreProperties>
</file>