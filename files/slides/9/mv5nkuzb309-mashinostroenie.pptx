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5b78ed2e-e1ac-7114-3fc5-9ee98ec3ae63}">
          <p14:sldIdLst>
            <p14:sldId id="256"/>
            <p14:sldId id="257"/>
            <p14:sldId id="258"/>
            <p14:sldId id="259"/>
          </p14:sldIdLst>
        </p14:section>
        <p14:section name="Новый материал" id="{f6c08b91-3670-e34c-9e3b-da48489a8e0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Практика и итоги" id="{f42c7aef-1417-3e9d-d538-c05635ca5633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Организационный момент (≈1 мин). Приветствие, проверка готовности. Тему пока не озвучиваем: сначала мотивация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Мотивация (≈1 мин). Покажите фото или назовите три предмета. Ответ учеников: всё это продукция машиностроения. Подведите: сегодня разбираем отрасль, которая делает машины для всей страны.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Актуализация знаний (≈3 мин). Фронтальный опрос: отрасль и комплекс; факторы размещения (сырьевой, трудовой, потребительский, транспортный); различие ТЭК и металлургии. Эти знания понадобятся при разборе факторов размещения машиностроения.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Проблемный вопрос и тема урока (≈2 мин). Дайте 20–30 секунд на версии. Запишите тему в тетради. К вопросу вернёмся при разборе факторов размещения и в рефлексии.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Мини-лекция, слайды 5–11 (≈8 мин, около минуты на слайд). Определения читаются и выводятся на экран; ученики записывают 3–4 ключевых. Здесь: машиностроение, машиностроительный комплекс, межотраслевой комплекс.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Значение комплекса. Подчеркните: машиностроение — основа технической оснащённости всей экономики и обороноспособности; один из главных двигателей научно-технического прогресса.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Состав машиностроительного комплекса. Тяжёлое машиностроение — металлоёмкое, ориентировано на металлургические базы. Электроника и приборостроение — трудо- и наукоёмкие, тяготеют к крупным городам с научными кадрами.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«ёмкости»: металлоёмкость, трудоёмкость, наукоёмкость. От них зависит выбор места для предприятий — подводим к факторам размещения.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Специализация, кооперирование, концентрация. Машиностроительная продукция — результат цепочки предприятий, поэтому в комплексе так важны связи между заводами.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Конверсия, станкостроение, приборостроение, импортозамещение. Коротко, по определению и примеру.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Факторы размещения. Возвращаемся к проблемному вопросу: Тольятти — автосборка и кооперация с заводами; Москва и Санкт-Петербург — научные кадры и наукоёмкие производства (научный и трудовой факторы).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Районы и центры. Слайд остаётся на экране во время практической работы как опора вместе с картой атласа «Машиностроение».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Практическая работа в парах (≈7 мин). Атлас, карта «Машиностроение». Учитель консультирует, затем фронтально проверяет таблицу (≈1 мин из блока закрепления). Ориентир по ответам: автомобилестроение — Тольятти, Набережные Челны (потребительский, транспортный); авиастроение — Комсомольск-на-Амуре, Самара, Москва (научный, трудовой); тяжёлое машиностроение — Екатеринбург (металлургический); приборостроение — Москва, Санкт-Петербург (трудовой, научный); сельхозмашиностроение — аграрные районы (потребительский).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Закрепление (≈4 мин вместе с проверкой таблицы). Мини-тест: ученики записывают буквы ответов, затем самопроверка по ключу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Самопроверка по ключу: 1 — б; 2 — б; 3 — в; 4 — а; 5 — б. Ученики сами ставят себе баллы, учитель собирает информацию о числе верных ответов.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Рефлексия (≈2 мин) и домашнее задание с выставлением оценок (≈2 мин). Вернитесь к проблемному вопросу: почему Тольятти и почему Москва и Санкт-Петербург?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6126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00400"/>
            <a:ext cx="6126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Машиностроительный комплекс России · География, 9 класс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Машиностроительный комплекс России · География, 9 класс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Машиностроительный комплекс России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200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География · 9 класс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Хозяйство России</a:t>
            </a:r>
            <a:endParaRPr lang="en-US" sz="1800" dirty="0"/>
          </a:p>
        </p:txBody>
      </p:sp>
      <p:sp>
        <p:nvSpPr>
          <p:cNvPr id="4" name="Главный значок круг"/>
          <p:cNvSpPr/>
          <p:nvPr/>
        </p:nvSpPr>
        <p:spPr>
          <a:xfrm>
            <a:off x="6858000" y="15544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Главный значок иконка" descr="Главный значо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966" y="1971446"/>
            <a:ext cx="903427" cy="903427"/>
          </a:xfrm>
          <a:prstGeom prst="rect">
            <a:avLst/>
          </a:prstGeom>
        </p:spPr>
      </p:pic>
      <p:sp>
        <p:nvSpPr>
          <p:cNvPr id="6" name="Значок транспорт круг"/>
          <p:cNvSpPr/>
          <p:nvPr/>
        </p:nvSpPr>
        <p:spPr>
          <a:xfrm>
            <a:off x="6766560" y="3657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Значок транспорт иконка" descr="Значок транспор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070" y="563270"/>
            <a:ext cx="427939" cy="427939"/>
          </a:xfrm>
          <a:prstGeom prst="rect">
            <a:avLst/>
          </a:prstGeom>
        </p:spPr>
      </p:pic>
      <p:sp>
        <p:nvSpPr>
          <p:cNvPr id="8" name="Значок авиация круг"/>
          <p:cNvSpPr/>
          <p:nvPr/>
        </p:nvSpPr>
        <p:spPr>
          <a:xfrm>
            <a:off x="7772400" y="3657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Значок авиация иконка" descr="Значок авиац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910" y="563270"/>
            <a:ext cx="427939" cy="427939"/>
          </a:xfrm>
          <a:prstGeom prst="rect">
            <a:avLst/>
          </a:prstGeom>
        </p:spPr>
      </p:pic>
      <p:sp>
        <p:nvSpPr>
          <p:cNvPr id="10" name="Значок автомобиль круг"/>
          <p:cNvSpPr/>
          <p:nvPr/>
        </p:nvSpPr>
        <p:spPr>
          <a:xfrm>
            <a:off x="7223760" y="35204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Значок автомобиль иконка" descr="Значок автомобил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0" y="371795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Что объединяет эти объекты?</a:t>
            </a:r>
            <a:endParaRPr lang="en-US" sz="3400" dirty="0"/>
          </a:p>
        </p:txBody>
      </p:sp>
      <p:sp>
        <p:nvSpPr>
          <p:cNvPr id="3" name="Карточка Автомобиль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Автомобиль круг"/>
          <p:cNvSpPr/>
          <p:nvPr/>
        </p:nvSpPr>
        <p:spPr>
          <a:xfrm>
            <a:off x="1051560" y="164592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Автомобиль иконка" descr="Автомобил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9751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Автомобиль</a:t>
            </a:r>
            <a:endParaRPr lang="en-US" sz="2400" dirty="0"/>
          </a:p>
        </p:txBody>
      </p:sp>
      <p:sp>
        <p:nvSpPr>
          <p:cNvPr id="7" name="Карточка Самолёт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8" name="Самолёт круг"/>
          <p:cNvSpPr/>
          <p:nvPr/>
        </p:nvSpPr>
        <p:spPr>
          <a:xfrm>
            <a:off x="3886200" y="16459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Самолёт иконка" descr="Самолё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1975104"/>
            <a:ext cx="713232" cy="7132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Самолёт</a:t>
            </a:r>
            <a:endParaRPr lang="en-US" sz="2400" dirty="0"/>
          </a:p>
        </p:txBody>
      </p:sp>
      <p:sp>
        <p:nvSpPr>
          <p:cNvPr id="11" name="Карточка Станок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2" name="Станок круг"/>
          <p:cNvSpPr/>
          <p:nvPr/>
        </p:nvSpPr>
        <p:spPr>
          <a:xfrm>
            <a:off x="6720840" y="1645920"/>
            <a:ext cx="1371600" cy="13716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Станок иконка" descr="Стано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75104"/>
            <a:ext cx="713232" cy="7132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264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Станок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Вспомним пройденное</a:t>
            </a:r>
            <a:endParaRPr lang="en-US" sz="3400" dirty="0"/>
          </a:p>
        </p:txBody>
      </p:sp>
      <p:sp>
        <p:nvSpPr>
          <p:cNvPr id="3" name="Вопрос 1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Номер 1"/>
          <p:cNvSpPr txBox="1"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1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2801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Что такое отрасль и межотраслевой комплекс?</a:t>
            </a:r>
            <a:endParaRPr lang="en-US" sz="2000" dirty="0"/>
          </a:p>
        </p:txBody>
      </p:sp>
      <p:sp>
        <p:nvSpPr>
          <p:cNvPr id="6" name="Вопрос 2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Номер 2"/>
          <p:cNvSpPr txBox="1"/>
          <p:nvPr/>
        </p:nvSpPr>
        <p:spPr>
          <a:xfrm>
            <a:off x="685800" y="25603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2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774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Какие факторы размещения производства вы знаете?</a:t>
            </a:r>
            <a:endParaRPr lang="en-US" sz="2000" dirty="0"/>
          </a:p>
        </p:txBody>
      </p:sp>
      <p:sp>
        <p:nvSpPr>
          <p:cNvPr id="9" name="Вопрос 3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Номер 3"/>
          <p:cNvSpPr txBox="1"/>
          <p:nvPr/>
        </p:nvSpPr>
        <p:spPr>
          <a:xfrm>
            <a:off x="685800" y="36576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3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4747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Чем различаются ТЭК и металлургический комплекс?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Проблемный вопрос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Почему автозавод — в Тольятти, а наукоёмкие производства — в Москве и Санкт-Петербурге?</a:t>
            </a:r>
            <a:endParaRPr lang="en-US" sz="3000" dirty="0"/>
          </a:p>
        </p:txBody>
      </p:sp>
      <p:sp>
        <p:nvSpPr>
          <p:cNvPr id="4" name="Карточка темы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5" name="Тема круг"/>
          <p:cNvSpPr/>
          <p:nvPr/>
        </p:nvSpPr>
        <p:spPr>
          <a:xfrm>
            <a:off x="731520" y="3520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Тема иконка" descr="Те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37179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32461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ТЕМА УРОКА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Машиностроительный комплекс России: состав, значение, факторы размещения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Основные понятия</a:t>
            </a:r>
            <a:endParaRPr lang="en-US" sz="3400" dirty="0"/>
          </a:p>
        </p:txBody>
      </p:sp>
      <p:sp>
        <p:nvSpPr>
          <p:cNvPr id="3" name="Термин 1"/>
          <p:cNvSpPr/>
          <p:nvPr/>
        </p:nvSpPr>
        <p:spPr>
          <a:xfrm>
            <a:off x="45720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Машиностроение</a:t>
            </a:r>
            <a:endParaRPr lang="en-US" sz="1600" dirty="0"/>
          </a:p>
        </p:txBody>
      </p:sp>
      <p:sp>
        <p:nvSpPr>
          <p:cNvPr id="5" name="Определение 1"/>
          <p:cNvSpPr/>
          <p:nvPr/>
        </p:nvSpPr>
        <p:spPr>
          <a:xfrm>
            <a:off x="3246120" y="1234440"/>
            <a:ext cx="54406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29000" y="12344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Отрасль тяжёлой промышленности, производящая машины, оборудование, приборы и транспортные средства для всех отраслей хозяйства и населения</a:t>
            </a:r>
            <a:endParaRPr lang="en-US" sz="1500" dirty="0"/>
          </a:p>
        </p:txBody>
      </p:sp>
      <p:sp>
        <p:nvSpPr>
          <p:cNvPr id="7" name="Термин 2"/>
          <p:cNvSpPr/>
          <p:nvPr/>
        </p:nvSpPr>
        <p:spPr>
          <a:xfrm>
            <a:off x="457200" y="2423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4231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Машиностроительный комплекс</a:t>
            </a:r>
            <a:endParaRPr lang="en-US" sz="1600" dirty="0"/>
          </a:p>
        </p:txBody>
      </p:sp>
      <p:sp>
        <p:nvSpPr>
          <p:cNvPr id="9" name="Определение 2"/>
          <p:cNvSpPr/>
          <p:nvPr/>
        </p:nvSpPr>
        <p:spPr>
          <a:xfrm>
            <a:off x="3246120" y="2423160"/>
            <a:ext cx="54406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4231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Межотраслевой комплекс: отрасли, выпускающие машины, оборудование, приборы и металлические изделия, а также ремонт и обслуживание техники</a:t>
            </a:r>
            <a:endParaRPr lang="en-US" sz="1500" dirty="0"/>
          </a:p>
        </p:txBody>
      </p:sp>
      <p:sp>
        <p:nvSpPr>
          <p:cNvPr id="11" name="Термин 3"/>
          <p:cNvSpPr/>
          <p:nvPr/>
        </p:nvSpPr>
        <p:spPr>
          <a:xfrm>
            <a:off x="457200" y="361188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611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Межотраслевой комплекс</a:t>
            </a:r>
            <a:endParaRPr lang="en-US" sz="1600" dirty="0"/>
          </a:p>
        </p:txBody>
      </p:sp>
      <p:sp>
        <p:nvSpPr>
          <p:cNvPr id="13" name="Определение 3"/>
          <p:cNvSpPr/>
          <p:nvPr/>
        </p:nvSpPr>
        <p:spPr>
          <a:xfrm>
            <a:off x="3246120" y="3611880"/>
            <a:ext cx="54406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361188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Группа отраслей, связанных технологическими цепочками и выпускающих родственную или взаимодополняющую продукцию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Зачем нужно машиностроение</a:t>
            </a:r>
            <a:endParaRPr lang="en-US" sz="3400" dirty="0"/>
          </a:p>
        </p:txBody>
      </p:sp>
      <p:sp>
        <p:nvSpPr>
          <p:cNvPr id="3" name="Значение 1"/>
          <p:cNvSpPr/>
          <p:nvPr/>
        </p:nvSpPr>
        <p:spPr>
          <a:xfrm>
            <a:off x="457200" y="123444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Значение 1 круг"/>
          <p:cNvSpPr/>
          <p:nvPr/>
        </p:nvSpPr>
        <p:spPr>
          <a:xfrm>
            <a:off x="68580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Значение 1 иконка" descr="Значение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8214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3716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Техническое оснащение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Определяет уровень оснащённости техникой всех отраслей хозяйства</a:t>
            </a:r>
            <a:endParaRPr lang="en-US" sz="1400" dirty="0"/>
          </a:p>
        </p:txBody>
      </p:sp>
      <p:sp>
        <p:nvSpPr>
          <p:cNvPr id="7" name="Значение 2"/>
          <p:cNvSpPr/>
          <p:nvPr/>
        </p:nvSpPr>
        <p:spPr>
          <a:xfrm>
            <a:off x="4709160" y="123444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Значение 2 круг"/>
          <p:cNvSpPr/>
          <p:nvPr/>
        </p:nvSpPr>
        <p:spPr>
          <a:xfrm>
            <a:off x="493776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Значение 2 иконка" descr="Значение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325" y="18214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97880" y="13716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Обороноспособность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Обеспечивает страну вооружением и военной техникой</a:t>
            </a:r>
            <a:endParaRPr lang="en-US" sz="1400" dirty="0"/>
          </a:p>
        </p:txBody>
      </p:sp>
      <p:sp>
        <p:nvSpPr>
          <p:cNvPr id="11" name="Значение 3"/>
          <p:cNvSpPr/>
          <p:nvPr/>
        </p:nvSpPr>
        <p:spPr>
          <a:xfrm>
            <a:off x="457200" y="306324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2" name="Значение 3 круг"/>
          <p:cNvSpPr/>
          <p:nvPr/>
        </p:nvSpPr>
        <p:spPr>
          <a:xfrm>
            <a:off x="685800" y="34747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Значение 3 иконка" descr="Значение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365028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3200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Занятость и производство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Даёт большую долю занятых и стоимости продукции в промышленности</a:t>
            </a:r>
            <a:endParaRPr lang="en-US" sz="1400" dirty="0"/>
          </a:p>
        </p:txBody>
      </p:sp>
      <p:sp>
        <p:nvSpPr>
          <p:cNvPr id="15" name="Значение 4"/>
          <p:cNvSpPr/>
          <p:nvPr/>
        </p:nvSpPr>
        <p:spPr>
          <a:xfrm>
            <a:off x="4709160" y="306324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6" name="Значение 4 круг"/>
          <p:cNvSpPr/>
          <p:nvPr/>
        </p:nvSpPr>
        <p:spPr>
          <a:xfrm>
            <a:off x="4937760" y="34747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Значение 4 иконка" descr="Значение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325" y="3650285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97880" y="3200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Научно-технический прогресс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Источник новых технологий и экспорта наукоёмкой продукции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Состав комплекса</a:t>
            </a:r>
            <a:endParaRPr lang="en-US" sz="3400" dirty="0"/>
          </a:p>
        </p:txBody>
      </p:sp>
      <p:sp>
        <p:nvSpPr>
          <p:cNvPr id="3" name="Отрасль 1"/>
          <p:cNvSpPr/>
          <p:nvPr/>
        </p:nvSpPr>
        <p:spPr>
          <a:xfrm>
            <a:off x="457200" y="118872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" name="Отрасль 1 круг"/>
          <p:cNvSpPr/>
          <p:nvPr/>
        </p:nvSpPr>
        <p:spPr>
          <a:xfrm>
            <a:off x="640080" y="1298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Отрасль 1 иконка" descr="Отрасль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1914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Тяжёлое и энергетическое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Оборудование для металлургии и энергетики</a:t>
            </a:r>
            <a:endParaRPr lang="en-US" sz="1400" dirty="0"/>
          </a:p>
        </p:txBody>
      </p:sp>
      <p:sp>
        <p:nvSpPr>
          <p:cNvPr id="7" name="Отрасль 2"/>
          <p:cNvSpPr/>
          <p:nvPr/>
        </p:nvSpPr>
        <p:spPr>
          <a:xfrm>
            <a:off x="3291840" y="118872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8" name="Отрасль 2 круг"/>
          <p:cNvSpPr/>
          <p:nvPr/>
        </p:nvSpPr>
        <p:spPr>
          <a:xfrm>
            <a:off x="3474720" y="12984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Отрасль 2 иконка" descr="Отрасль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419149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472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Транспортное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Локомотивы, вагоны, суда, самолёты</a:t>
            </a:r>
            <a:endParaRPr lang="en-US" sz="1400" dirty="0"/>
          </a:p>
        </p:txBody>
      </p:sp>
      <p:sp>
        <p:nvSpPr>
          <p:cNvPr id="11" name="Отрасль 3"/>
          <p:cNvSpPr/>
          <p:nvPr/>
        </p:nvSpPr>
        <p:spPr>
          <a:xfrm>
            <a:off x="6126480" y="118872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2" name="Отрасль 3 круг"/>
          <p:cNvSpPr/>
          <p:nvPr/>
        </p:nvSpPr>
        <p:spPr>
          <a:xfrm>
            <a:off x="6309360" y="129844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Отрасль 3 иконка" descr="Отрасль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1419149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0936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Автомобили и сельхозтехника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Автомобили, тракторы, комбайны</a:t>
            </a:r>
            <a:endParaRPr lang="en-US" sz="1400" dirty="0"/>
          </a:p>
        </p:txBody>
      </p:sp>
      <p:sp>
        <p:nvSpPr>
          <p:cNvPr id="15" name="Отрасль 4"/>
          <p:cNvSpPr/>
          <p:nvPr/>
        </p:nvSpPr>
        <p:spPr>
          <a:xfrm>
            <a:off x="457200" y="297180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6" name="Отрасль 4 круг"/>
          <p:cNvSpPr/>
          <p:nvPr/>
        </p:nvSpPr>
        <p:spPr>
          <a:xfrm>
            <a:off x="640080" y="308152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Отрасль 4 иконка" descr="Отрасль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202229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0080" y="3657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Станкостроение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Станки и инструмент</a:t>
            </a:r>
            <a:endParaRPr lang="en-US" sz="1400" dirty="0"/>
          </a:p>
        </p:txBody>
      </p:sp>
      <p:sp>
        <p:nvSpPr>
          <p:cNvPr id="19" name="Отрасль 5"/>
          <p:cNvSpPr/>
          <p:nvPr/>
        </p:nvSpPr>
        <p:spPr>
          <a:xfrm>
            <a:off x="3291840" y="297180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0" name="Отрасль 5 круг"/>
          <p:cNvSpPr/>
          <p:nvPr/>
        </p:nvSpPr>
        <p:spPr>
          <a:xfrm>
            <a:off x="3474720" y="30815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Отрасль 5 иконка" descr="Отрасль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421" y="3202229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474720" y="3657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Электротехника и электроника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Электрооборудование, радиоэлектроника, приборы</a:t>
            </a:r>
            <a:endParaRPr lang="en-US" sz="1400" dirty="0"/>
          </a:p>
        </p:txBody>
      </p:sp>
      <p:sp>
        <p:nvSpPr>
          <p:cNvPr id="23" name="Отрасль 6"/>
          <p:cNvSpPr/>
          <p:nvPr/>
        </p:nvSpPr>
        <p:spPr>
          <a:xfrm>
            <a:off x="6126480" y="297180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4" name="Отрасль 6 круг"/>
          <p:cNvSpPr/>
          <p:nvPr/>
        </p:nvSpPr>
        <p:spPr>
          <a:xfrm>
            <a:off x="6309360" y="308152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Отрасль 6 иконка" descr="Отрасль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3202229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309360" y="3657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Металлоизделия и ремонт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Металлические изделия, ремонт и обслуживание техники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Три «ёмкости» производства</a:t>
            </a:r>
            <a:endParaRPr lang="en-US" sz="3400" dirty="0"/>
          </a:p>
        </p:txBody>
      </p:sp>
      <p:sp>
        <p:nvSpPr>
          <p:cNvPr id="3" name="Ёмкость 1"/>
          <p:cNvSpPr/>
          <p:nvPr/>
        </p:nvSpPr>
        <p:spPr>
          <a:xfrm>
            <a:off x="457200" y="12344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Металлоёмкость круг"/>
          <p:cNvSpPr/>
          <p:nvPr/>
        </p:nvSpPr>
        <p:spPr>
          <a:xfrm>
            <a:off x="68580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Металлоёмкость иконка" descr="Металлоёмкос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5928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Металлоёмкость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Расход металла на единицу продукции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Пример: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Тяжёлое и транспортное машиностроение</a:t>
            </a:r>
            <a:endParaRPr lang="en-US" sz="1400" dirty="0"/>
          </a:p>
        </p:txBody>
      </p:sp>
      <p:sp>
        <p:nvSpPr>
          <p:cNvPr id="9" name="Ёмкость 2"/>
          <p:cNvSpPr/>
          <p:nvPr/>
        </p:nvSpPr>
        <p:spPr>
          <a:xfrm>
            <a:off x="3291840" y="12344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Трудоёмкость круг"/>
          <p:cNvSpPr/>
          <p:nvPr/>
        </p:nvSpPr>
        <p:spPr>
          <a:xfrm>
            <a:off x="3520440" y="1417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Трудоёмкость иконка" descr="Трудоёмкост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005" y="15928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Трудоёмкость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Затраты труда (рабочего времени) на единицу продукции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Пример: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Приборостроение, производство электроники</a:t>
            </a:r>
            <a:endParaRPr lang="en-US" sz="1400" dirty="0"/>
          </a:p>
        </p:txBody>
      </p:sp>
      <p:sp>
        <p:nvSpPr>
          <p:cNvPr id="15" name="Ёмкость 3"/>
          <p:cNvSpPr/>
          <p:nvPr/>
        </p:nvSpPr>
        <p:spPr>
          <a:xfrm>
            <a:off x="6126480" y="12344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6" name="Наукоёмкость круг"/>
          <p:cNvSpPr/>
          <p:nvPr/>
        </p:nvSpPr>
        <p:spPr>
          <a:xfrm>
            <a:off x="6355080" y="1417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Наукоёмкость иконка" descr="Наукоёмкост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59288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Наукоёмкость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Доля затрат на научные исследования и разработки, высокая квалификация кадров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Пример: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Авиакосмическая промышленность, радиоэлектроника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организовано производство</a:t>
            </a:r>
            <a:endParaRPr lang="en-US" sz="3400" dirty="0"/>
          </a:p>
        </p:txBody>
      </p:sp>
      <p:sp>
        <p:nvSpPr>
          <p:cNvPr id="3" name="Принцип 1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" name="Специализация круг"/>
          <p:cNvSpPr/>
          <p:nvPr/>
        </p:nvSpPr>
        <p:spPr>
          <a:xfrm>
            <a:off x="640080" y="1417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Специализация иконка" descr="Специализац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819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2344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Специализация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234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Сосредоточение предприятия или района на выпуске определённых видов продукции или деталей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Тольятти и Набережные Челны — легковые и грузовые автомобили</a:t>
            </a:r>
            <a:endParaRPr lang="en-US" sz="1400" dirty="0"/>
          </a:p>
        </p:txBody>
      </p:sp>
      <p:sp>
        <p:nvSpPr>
          <p:cNvPr id="8" name="Принцип 2"/>
          <p:cNvSpPr/>
          <p:nvPr/>
        </p:nvSpPr>
        <p:spPr>
          <a:xfrm>
            <a:off x="457200" y="242316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9" name="Кооперирование круг"/>
          <p:cNvSpPr/>
          <p:nvPr/>
        </p:nvSpPr>
        <p:spPr>
          <a:xfrm>
            <a:off x="640080" y="26060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Кооперирование иконка" descr="Кооперировани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706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4231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Кооперирование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4231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Производственные связи между предприятиями, совместно выпускающими готовое изделие: одни делают детали и узлы, другие собирают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Автозаводы и поставщики комплектующих</a:t>
            </a:r>
            <a:endParaRPr lang="en-US" sz="1400" dirty="0"/>
          </a:p>
        </p:txBody>
      </p:sp>
      <p:sp>
        <p:nvSpPr>
          <p:cNvPr id="13" name="Принцип 3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4" name="Концентрация круг"/>
          <p:cNvSpPr/>
          <p:nvPr/>
        </p:nvSpPr>
        <p:spPr>
          <a:xfrm>
            <a:off x="640080" y="37947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Концентрация иконка" descr="Концентрац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5935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6118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Концентрация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36118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Сосредоточение производства на крупных предприятиях и в крупных центрах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Автомобильные и авиационные заводы-гиганты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Ещё четыре понятия</a:t>
            </a:r>
            <a:endParaRPr lang="en-US" sz="3400" dirty="0"/>
          </a:p>
        </p:txBody>
      </p:sp>
      <p:sp>
        <p:nvSpPr>
          <p:cNvPr id="3" name="Понятие 1"/>
          <p:cNvSpPr/>
          <p:nvPr/>
        </p:nvSpPr>
        <p:spPr>
          <a:xfrm>
            <a:off x="457200" y="123444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Конверсия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Перевод предприятий оборонной промышленности на выпуск гражданской продукции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бытовая техника на оборонных заводах</a:t>
            </a:r>
            <a:endParaRPr lang="en-US" sz="1400" dirty="0"/>
          </a:p>
        </p:txBody>
      </p:sp>
      <p:sp>
        <p:nvSpPr>
          <p:cNvPr id="5" name="Понятие 2"/>
          <p:cNvSpPr/>
          <p:nvPr/>
        </p:nvSpPr>
        <p:spPr>
          <a:xfrm>
            <a:off x="4709160" y="123444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37760" y="132588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Станкостроение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Отрасль, производящая металлорежущие и другие станки — «машины, делающие машины»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станки с ЧПУ</a:t>
            </a:r>
            <a:endParaRPr lang="en-US" sz="1400" dirty="0"/>
          </a:p>
        </p:txBody>
      </p:sp>
      <p:sp>
        <p:nvSpPr>
          <p:cNvPr id="7" name="Понятие 3"/>
          <p:cNvSpPr/>
          <p:nvPr/>
        </p:nvSpPr>
        <p:spPr>
          <a:xfrm>
            <a:off x="45720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10896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Приборостроение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Наукоёмкая отрасль, выпускающая измерительные, контрольные и управляющие приборы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медицинские и измерительные приборы</a:t>
            </a:r>
            <a:endParaRPr lang="en-US" sz="1400" dirty="0"/>
          </a:p>
        </p:txBody>
      </p:sp>
      <p:sp>
        <p:nvSpPr>
          <p:cNvPr id="9" name="Понятие 4"/>
          <p:cNvSpPr/>
          <p:nvPr/>
        </p:nvSpPr>
        <p:spPr>
          <a:xfrm>
            <a:off x="470916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310896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Импортозамещение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Замещение импортной продукции товарами отечественного производства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Пример: отечественное станко- и приборостроение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Факторы размещения</a:t>
            </a:r>
            <a:endParaRPr lang="en-US" sz="3400" dirty="0"/>
          </a:p>
        </p:txBody>
      </p:sp>
      <p:sp>
        <p:nvSpPr>
          <p:cNvPr id="3" name="Фактор 1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4" name="Трудовой круг"/>
          <p:cNvSpPr/>
          <p:nvPr/>
        </p:nvSpPr>
        <p:spPr>
          <a:xfrm>
            <a:off x="594360" y="12801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Трудовой иконка" descr="Трудово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99" y="1385499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Трудовой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18872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Квалифицированные кадры — трудоёмкие отрасли: приборостроение, электротехника</a:t>
            </a:r>
            <a:endParaRPr lang="en-US" sz="1400" dirty="0"/>
          </a:p>
        </p:txBody>
      </p:sp>
      <p:sp>
        <p:nvSpPr>
          <p:cNvPr id="8" name="Фактор 2"/>
          <p:cNvSpPr/>
          <p:nvPr/>
        </p:nvSpPr>
        <p:spPr>
          <a:xfrm>
            <a:off x="457200" y="18745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9" name="Научный круг"/>
          <p:cNvSpPr/>
          <p:nvPr/>
        </p:nvSpPr>
        <p:spPr>
          <a:xfrm>
            <a:off x="594360" y="196596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Научный иконка" descr="Научны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99" y="207129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8745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Научный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87452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Наука, вузы, КБ — наукоёмкие отрасли: авиакосмическая, радиоэлектроника</a:t>
            </a:r>
            <a:endParaRPr lang="en-US" sz="1400" dirty="0"/>
          </a:p>
        </p:txBody>
      </p:sp>
      <p:sp>
        <p:nvSpPr>
          <p:cNvPr id="13" name="Фактор 3"/>
          <p:cNvSpPr/>
          <p:nvPr/>
        </p:nvSpPr>
        <p:spPr>
          <a:xfrm>
            <a:off x="457200" y="25603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4" name="Потребительский круг"/>
          <p:cNvSpPr/>
          <p:nvPr/>
        </p:nvSpPr>
        <p:spPr>
          <a:xfrm>
            <a:off x="594360" y="2651760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Потребительский иконка" descr="Потребительски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99" y="2757099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5603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Потребительский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474720" y="256032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Близость потребителя: сельхозмашиностроение — в аграрных районах</a:t>
            </a:r>
            <a:endParaRPr lang="en-US" sz="1400" dirty="0"/>
          </a:p>
        </p:txBody>
      </p:sp>
      <p:sp>
        <p:nvSpPr>
          <p:cNvPr id="18" name="Фактор 4"/>
          <p:cNvSpPr/>
          <p:nvPr/>
        </p:nvSpPr>
        <p:spPr>
          <a:xfrm>
            <a:off x="457200" y="32461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9" name="Транспортный круг"/>
          <p:cNvSpPr/>
          <p:nvPr/>
        </p:nvSpPr>
        <p:spPr>
          <a:xfrm>
            <a:off x="594360" y="3337560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Транспортный иконка" descr="Транспортны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9" y="3442899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461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Транспортный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3474720" y="324612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Транспортные узлы — сборочные производства, например автосборка</a:t>
            </a:r>
            <a:endParaRPr lang="en-US" sz="1400" dirty="0"/>
          </a:p>
        </p:txBody>
      </p:sp>
      <p:sp>
        <p:nvSpPr>
          <p:cNvPr id="23" name="Фактор 5"/>
          <p:cNvSpPr/>
          <p:nvPr/>
        </p:nvSpPr>
        <p:spPr>
          <a:xfrm>
            <a:off x="457200" y="39319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24" name="Металлургический круг"/>
          <p:cNvSpPr/>
          <p:nvPr/>
        </p:nvSpPr>
        <p:spPr>
          <a:xfrm>
            <a:off x="594360" y="402336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Металлургический иконка" descr="Металлургический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99" y="4128699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9319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Металлургический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93192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Близость металлургических баз — тяжёлое машиностроение (Урал)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Главные районы и центры</a:t>
            </a:r>
            <a:endParaRPr lang="en-US" sz="3400" dirty="0"/>
          </a:p>
        </p:txBody>
      </p:sp>
      <p:sp>
        <p:nvSpPr>
          <p:cNvPr id="3" name="Район 1"/>
          <p:cNvSpPr/>
          <p:nvPr/>
        </p:nvSpPr>
        <p:spPr>
          <a:xfrm>
            <a:off x="457200" y="1234440"/>
            <a:ext cx="1874520" cy="25603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Центральная Россия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Москва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станки, электроника, авиастроение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Нижний Новгород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автомобили, судостроение</a:t>
            </a:r>
            <a:endParaRPr lang="en-US" sz="1400" dirty="0"/>
          </a:p>
        </p:txBody>
      </p:sp>
      <p:sp>
        <p:nvSpPr>
          <p:cNvPr id="5" name="Район 2"/>
          <p:cNvSpPr/>
          <p:nvPr/>
        </p:nvSpPr>
        <p:spPr>
          <a:xfrm>
            <a:off x="2575590" y="1234440"/>
            <a:ext cx="1874520" cy="25603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12750" y="137160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Северо-Запад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Санкт-Петербург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судостроение, электроника, энергетическое оборудование</a:t>
            </a:r>
            <a:endParaRPr lang="en-US" sz="1400" dirty="0"/>
          </a:p>
        </p:txBody>
      </p:sp>
      <p:sp>
        <p:nvSpPr>
          <p:cNvPr id="7" name="Район 3"/>
          <p:cNvSpPr/>
          <p:nvPr/>
        </p:nvSpPr>
        <p:spPr>
          <a:xfrm>
            <a:off x="4693981" y="1234440"/>
            <a:ext cx="1874520" cy="25603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31141" y="137160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Поволжье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Самара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авиация, космическая техника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Тольятти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легковые автомобили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Набережные Челны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грузовики</a:t>
            </a:r>
            <a:endParaRPr lang="en-US" sz="1400" dirty="0"/>
          </a:p>
        </p:txBody>
      </p:sp>
      <p:sp>
        <p:nvSpPr>
          <p:cNvPr id="9" name="Район 4"/>
          <p:cNvSpPr/>
          <p:nvPr/>
        </p:nvSpPr>
        <p:spPr>
          <a:xfrm>
            <a:off x="6812371" y="1234440"/>
            <a:ext cx="1874520" cy="25603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531" y="137160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Урал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Екатеринбург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тяжёлое машиностроение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Ижевск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машиностроение, приборостроение</a:t>
            </a:r>
            <a:endParaRPr lang="en-US" sz="1400" dirty="0"/>
          </a:p>
        </p:txBody>
      </p:sp>
      <p:sp>
        <p:nvSpPr>
          <p:cNvPr id="11" name="Сибирь и Дальний Восток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Сибирь и Дальний Восток: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Новосибирск — станки, электротехника, авиастроение; Комсомольск-на-Амуре — авиастроение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Практическая работа в парах</a:t>
            </a:r>
            <a:endParaRPr lang="en-US" sz="3400" dirty="0"/>
          </a:p>
        </p:txBody>
      </p:sp>
      <p:sp>
        <p:nvSpPr>
          <p:cNvPr id="3" name="Инструкция"/>
          <p:cNvSpPr/>
          <p:nvPr/>
        </p:nvSpPr>
        <p:spPr>
          <a:xfrm>
            <a:off x="457200" y="1234440"/>
            <a:ext cx="2743200" cy="338328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4" name="Таймер"/>
          <p:cNvSpPr txBox="1"/>
          <p:nvPr/>
        </p:nvSpPr>
        <p:spPr>
          <a:xfrm>
            <a:off x="685800" y="1417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минут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Откройте в атласе карту «Машиностроение»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Для каждой отрасли найдите центр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3. Назовите главный фактор размещения</a:t>
            </a:r>
            <a:endParaRPr lang="en-US" sz="1500" dirty="0"/>
          </a:p>
        </p:txBody>
      </p:sp>
      <p:graphicFrame>
        <p:nvGraphicFramePr>
          <p:cNvPr id="14" name="Таблица практической работы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23444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Отрасль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Центр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Главный фактор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Автомобилестроение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Авиастроение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Тяжёлое машиностроение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Приборостроение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Сельхозмашиностроение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38328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Заполните минимум четыре строки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Мини-тест: пять вопросов</a:t>
            </a:r>
            <a:endParaRPr lang="en-US" sz="3400" dirty="0"/>
          </a:p>
        </p:txBody>
      </p:sp>
      <p:sp>
        <p:nvSpPr>
          <p:cNvPr id="3" name="Вопрос 1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4" name="Номер 1"/>
          <p:cNvSpPr txBox="1"/>
          <p:nvPr/>
        </p:nvSpPr>
        <p:spPr>
          <a:xfrm>
            <a:off x="594360" y="129387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Какая отрасль машиностроения самая наукоёмкая?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а) тяжёлое машиностроение     б) радиоэлектроника     в) вагоностроение</a:t>
            </a:r>
            <a:endParaRPr lang="en-US" sz="1400" dirty="0"/>
          </a:p>
        </p:txBody>
      </p:sp>
      <p:sp>
        <p:nvSpPr>
          <p:cNvPr id="6" name="Вопрос 2"/>
          <p:cNvSpPr/>
          <p:nvPr/>
        </p:nvSpPr>
        <p:spPr>
          <a:xfrm>
            <a:off x="457200" y="18745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7" name="Номер 2"/>
          <p:cNvSpPr txBox="1"/>
          <p:nvPr/>
        </p:nvSpPr>
        <p:spPr>
          <a:xfrm>
            <a:off x="594360" y="1979676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745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Главный фактор размещения тяжёлого машиностроения?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а) потребительский     б) металлургический     в) трудовой</a:t>
            </a:r>
            <a:endParaRPr lang="en-US" sz="1400" dirty="0"/>
          </a:p>
        </p:txBody>
      </p:sp>
      <p:sp>
        <p:nvSpPr>
          <p:cNvPr id="9" name="Вопрос 3"/>
          <p:cNvSpPr/>
          <p:nvPr/>
        </p:nvSpPr>
        <p:spPr>
          <a:xfrm>
            <a:off x="457200" y="25603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0" name="Номер 3"/>
          <p:cNvSpPr txBox="1"/>
          <p:nvPr/>
        </p:nvSpPr>
        <p:spPr>
          <a:xfrm>
            <a:off x="594360" y="2665476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603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Расход металла на единицу продукции — это: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а) наукоёмкость     б) трудоёмкость     в) металлоёмкость</a:t>
            </a:r>
            <a:endParaRPr lang="en-US" sz="1400" dirty="0"/>
          </a:p>
        </p:txBody>
      </p:sp>
      <p:sp>
        <p:nvSpPr>
          <p:cNvPr id="12" name="Вопрос 4"/>
          <p:cNvSpPr/>
          <p:nvPr/>
        </p:nvSpPr>
        <p:spPr>
          <a:xfrm>
            <a:off x="457200" y="32461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3" name="Номер 4"/>
          <p:cNvSpPr txBox="1"/>
          <p:nvPr/>
        </p:nvSpPr>
        <p:spPr>
          <a:xfrm>
            <a:off x="594360" y="3351276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461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Связи между предприятиями, совместно выпускающими изделие, — это: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а) кооперирование     б) конверсия     в) концентрация</a:t>
            </a:r>
            <a:endParaRPr lang="en-US" sz="1400" dirty="0"/>
          </a:p>
        </p:txBody>
      </p:sp>
      <p:sp>
        <p:nvSpPr>
          <p:cNvPr id="15" name="Вопрос 5"/>
          <p:cNvSpPr/>
          <p:nvPr/>
        </p:nvSpPr>
        <p:spPr>
          <a:xfrm>
            <a:off x="457200" y="39319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6" name="Номер 5"/>
          <p:cNvSpPr txBox="1"/>
          <p:nvPr/>
        </p:nvSpPr>
        <p:spPr>
          <a:xfrm>
            <a:off x="594360" y="4037076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319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Перевод оборонных заводов на гражданскую продукцию — это: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а) специализация     б) конверсия     в) импортозамещение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Проверь себя: ответы</a:t>
            </a:r>
            <a:endParaRPr lang="en-US" sz="3400" dirty="0"/>
          </a:p>
        </p:txBody>
      </p:sp>
      <p:sp>
        <p:nvSpPr>
          <p:cNvPr id="3" name="Ответ 1"/>
          <p:cNvSpPr/>
          <p:nvPr/>
        </p:nvSpPr>
        <p:spPr>
          <a:xfrm>
            <a:off x="457200" y="1280160"/>
            <a:ext cx="1554480" cy="23774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Вопрос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б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радиоэлектроника</a:t>
            </a:r>
            <a:endParaRPr lang="en-US" sz="1400" dirty="0"/>
          </a:p>
        </p:txBody>
      </p:sp>
      <p:sp>
        <p:nvSpPr>
          <p:cNvPr id="7" name="Ответ 2"/>
          <p:cNvSpPr/>
          <p:nvPr/>
        </p:nvSpPr>
        <p:spPr>
          <a:xfrm>
            <a:off x="2125980" y="1280160"/>
            <a:ext cx="1554480" cy="23774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598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Вопрос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25980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б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212598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металлургический</a:t>
            </a:r>
            <a:endParaRPr lang="en-US" sz="1400" dirty="0"/>
          </a:p>
        </p:txBody>
      </p:sp>
      <p:sp>
        <p:nvSpPr>
          <p:cNvPr id="11" name="Ответ 3"/>
          <p:cNvSpPr/>
          <p:nvPr/>
        </p:nvSpPr>
        <p:spPr>
          <a:xfrm>
            <a:off x="3794760" y="1280160"/>
            <a:ext cx="1554480" cy="23774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9476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Вопрос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в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металлоёмкость</a:t>
            </a:r>
            <a:endParaRPr lang="en-US" sz="1400" dirty="0"/>
          </a:p>
        </p:txBody>
      </p:sp>
      <p:sp>
        <p:nvSpPr>
          <p:cNvPr id="15" name="Ответ 4"/>
          <p:cNvSpPr/>
          <p:nvPr/>
        </p:nvSpPr>
        <p:spPr>
          <a:xfrm>
            <a:off x="5463540" y="1280160"/>
            <a:ext cx="1554480" cy="23774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635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Вопрос 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63540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6"/>
                </a:solidFill>
              </a:rPr>
              <a:t>а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546354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кооперирование</a:t>
            </a:r>
            <a:endParaRPr lang="en-US" sz="1400" dirty="0"/>
          </a:p>
        </p:txBody>
      </p:sp>
      <p:sp>
        <p:nvSpPr>
          <p:cNvPr id="19" name="Ответ 5"/>
          <p:cNvSpPr/>
          <p:nvPr/>
        </p:nvSpPr>
        <p:spPr>
          <a:xfrm>
            <a:off x="7132320" y="1280160"/>
            <a:ext cx="1554480" cy="23774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Вопрос 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б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конверсия</a:t>
            </a:r>
            <a:endParaRPr lang="en-US" sz="1400" dirty="0"/>
          </a:p>
        </p:txBody>
      </p:sp>
      <p:sp>
        <p:nvSpPr>
          <p:cNvPr id="23" name="Шкала оценок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Оценка: 5 верных — «5», 4 верных — «4», 3 верных — «3», меньше трёх — «2»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Рефлексия и домашнее задание</a:t>
            </a:r>
            <a:endParaRPr lang="en-US" sz="3400" dirty="0"/>
          </a:p>
        </p:txBody>
      </p:sp>
      <p:sp>
        <p:nvSpPr>
          <p:cNvPr id="3" name="Рефлексия"/>
          <p:cNvSpPr/>
          <p:nvPr/>
        </p:nvSpPr>
        <p:spPr>
          <a:xfrm>
            <a:off x="457200" y="123444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Закончите фразы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Сегодня я узнал…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Мне было трудно…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Я смогу использовать это…</a:t>
            </a:r>
            <a:endParaRPr lang="en-US" sz="1400" dirty="0"/>
          </a:p>
        </p:txBody>
      </p:sp>
      <p:sp>
        <p:nvSpPr>
          <p:cNvPr id="5" name="Домашнее задание"/>
          <p:cNvSpPr/>
          <p:nvPr/>
        </p:nvSpPr>
        <p:spPr>
          <a:xfrm>
            <a:off x="4709160" y="123444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83480" y="14630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Домашнее задание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Обязательно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Параграф учебника по теме урока; выучить понятия урока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По выбору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Сообщение (3–4 предложения) о машиностроительном предприятии вашего региона и факторе, повлиявшем на его размещение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hinostroenie">
  <a:themeElements>
    <a:clrScheme name="Mashinostroenie">
      <a:dk1>
        <a:srgbClr val="1B2430"/>
      </a:dk1>
      <a:lt1>
        <a:srgbClr val="FFFFFF"/>
      </a:lt1>
      <a:dk2>
        <a:srgbClr val="2B3A4A"/>
      </a:dk2>
      <a:lt2>
        <a:srgbClr val="EEF1F4"/>
      </a:lt2>
      <a:accent1>
        <a:srgbClr val="E8590C"/>
      </a:accent1>
      <a:accent2>
        <a:srgbClr val="2F6F8F"/>
      </a:accent2>
      <a:accent3>
        <a:srgbClr val="5B7083"/>
      </a:accent3>
      <a:accent4>
        <a:srgbClr val="C77D0A"/>
      </a:accent4>
      <a:accent5>
        <a:srgbClr val="3E8E6B"/>
      </a:accent5>
      <a:accent6>
        <a:srgbClr val="7A5C99"/>
      </a:accent6>
      <a:hlink>
        <a:srgbClr val="2F6F8F"/>
      </a:hlink>
      <a:folHlink>
        <a:srgbClr val="7A5C99"/>
      </a:folHlink>
    </a:clrScheme>
    <a:fontScheme name="Mashinostroen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Машиностроительный комплекс России</dc:title>
  <dc:subject>География, 9 класс</dc:subject>
  <dc:creator>PptxGenJS</dc:creator>
  <cp:lastModifiedBy>PptxGenJS</cp:lastModifiedBy>
  <cp:revision>1</cp:revision>
  <dcterms:created xsi:type="dcterms:W3CDTF">2026-10-11T06:15:58Z</dcterms:created>
  <dcterms:modified xsi:type="dcterms:W3CDTF">2026-10-11T06:15:58Z</dcterms:modified>
</cp:coreProperties>
</file>