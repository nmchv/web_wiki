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0347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Урок 30 минут. Начните с вопроса: без каких металлов не обойтись дома и в школе? Ответы учеников записать на доске.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2–3 минуты. Вспомнить факторы размещения промышленности, вместе сформулировать тему и цели урока.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Объяснить разделение комплекса. Подчеркнуть: металлургия снабжает металлом машиностроение, строительство, оборонный комплекс и формирует значительную часть экспорта России.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Рассказ по схеме, ученики заполняют такую же схему в тетради. Ввести понятия: комбинат, передел.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Ученики записывают определения в словарь. Можно дать задание: привести пример предприятия для каждого понятия.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Вопрос классу: какой фактор главный для чёрной металлургии, а какой для алюминия? Связать ответ с проблемным вопросом в начале урока.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Групповая работа, около 8 минут. Группа 1: Центральная и Северная базы. Группа 2: Уральская. Группа 3: Сибирская и цветная металлургия (следующий слайд). Каждая группа показывает центры на карте и объясняет размещение.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центры на карте атласа. Напомнить: алюминиевые заводы стоят у мощных ГЭС, тяжёлые цветные металлы тяготеют к месторождениям руд.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Около 4 минут. Ученики в парах строят цепочку: производство, выбросы, последствия, способы снижения вреда. Связать с проблемным вопросом: почему в городах металлургии трудно дышать.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Обсуждение: какие меры может принять предприятие, а какие государство. Подвести к Стратегии.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Около 3 минут. Попросить учеников отметить 2–3 направления и сказать, какое важнее всего для экологии. Точные цифры показателей Стратегии сверьте с официальным текстом документа.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Ответы: 1) энергетический, у мощных ГЭС. 2) Центральная: Липецк; Северная: Череповец; Уральская: Магнитогорск; Сибирская: Новокузнецк. 3) Модернизация, снижение выбросов, энергоэффективность, «зелёные» технологии.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Последние 2 минуты урока: самооценка на листах, запись домашнего задания, оценки за работу.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19250"/>
            <a:ext cx="10566400" cy="4425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19250"/>
            <a:ext cx="10566400" cy="4425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kern="0" spc="200" dirty="0">
                <a:solidFill>
                  <a:srgbClr val="F0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ГЕОГРАФИЯ · 9 КЛАСС</a:t>
            </a:r>
            <a:endParaRPr lang="en-US" sz="16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355850"/>
            <a:ext cx="10883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140"/>
              </a:lnSpc>
              <a:buNone/>
            </a:pPr>
            <a:r>
              <a:rPr lang="en-US" sz="6800" b="1" i="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Металлургический комплекс России</a:t>
            </a:r>
            <a:endParaRPr lang="en-US" sz="6800" dirty="0"/>
          </a:p>
        </p:txBody>
      </p:sp>
      <p:sp>
        <p:nvSpPr>
          <p:cNvPr id="4" name="Text 2"/>
          <p:cNvSpPr/>
          <p:nvPr/>
        </p:nvSpPr>
        <p:spPr>
          <a:xfrm>
            <a:off x="812800" y="4362450"/>
            <a:ext cx="10883392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C9C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Металлургические базы, влияние на природу и Стратегия развития до 2030 года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12800" y="5969000"/>
            <a:ext cx="1270000" cy="76200"/>
          </a:xfrm>
          <a:prstGeom prst="rect">
            <a:avLst/>
          </a:prstGeom>
          <a:solidFill>
            <a:srgbClr val="F08A4B"/>
          </a:solidFill>
          <a:ln/>
        </p:spPr>
        <p:txBody>
          <a:bodyPr/>
          <a:lstStyle/>
          <a:p>
            <a:endParaRPr lang="ru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Чему научимся сегодня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2425"/>
            <a:ext cx="4768850" cy="946150"/>
          </a:xfrm>
          <a:prstGeom prst="roundRect">
            <a:avLst>
              <a:gd name="adj" fmla="val 10403"/>
            </a:avLst>
          </a:prstGeom>
          <a:solidFill>
            <a:srgbClr val="FBFAF7"/>
          </a:solidFill>
          <a:ln w="635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" name="Text 2"/>
          <p:cNvSpPr/>
          <p:nvPr/>
        </p:nvSpPr>
        <p:spPr>
          <a:xfrm>
            <a:off x="1047750" y="1803400"/>
            <a:ext cx="443445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B84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r>
              <a:rPr lang="en-US" sz="1800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Состав комплекса и факторы размещения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15975" y="2701925"/>
            <a:ext cx="4768850" cy="654050"/>
          </a:xfrm>
          <a:prstGeom prst="roundRect">
            <a:avLst>
              <a:gd name="adj" fmla="val 15049"/>
            </a:avLst>
          </a:prstGeom>
          <a:solidFill>
            <a:srgbClr val="FBFAF7"/>
          </a:solidFill>
          <a:ln w="635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6" name="Text 4"/>
          <p:cNvSpPr/>
          <p:nvPr/>
        </p:nvSpPr>
        <p:spPr>
          <a:xfrm>
            <a:off x="1047750" y="2882900"/>
            <a:ext cx="4434459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B84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r>
              <a:rPr lang="en-US" sz="1800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Металлургические базы России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15975" y="3489325"/>
            <a:ext cx="4768850" cy="946150"/>
          </a:xfrm>
          <a:prstGeom prst="roundRect">
            <a:avLst>
              <a:gd name="adj" fmla="val 10403"/>
            </a:avLst>
          </a:prstGeom>
          <a:solidFill>
            <a:srgbClr val="FBFAF7"/>
          </a:solidFill>
          <a:ln w="635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8" name="Text 6"/>
          <p:cNvSpPr/>
          <p:nvPr/>
        </p:nvSpPr>
        <p:spPr>
          <a:xfrm>
            <a:off x="1047750" y="3670300"/>
            <a:ext cx="443445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B84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r>
              <a:rPr lang="en-US" sz="1800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Влияние металлургии на окружающую среду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15975" y="4568825"/>
            <a:ext cx="4768850" cy="946150"/>
          </a:xfrm>
          <a:prstGeom prst="roundRect">
            <a:avLst>
              <a:gd name="adj" fmla="val 10403"/>
            </a:avLst>
          </a:prstGeom>
          <a:solidFill>
            <a:srgbClr val="FBFAF7"/>
          </a:solidFill>
          <a:ln w="635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0" name="Text 8"/>
          <p:cNvSpPr/>
          <p:nvPr/>
        </p:nvSpPr>
        <p:spPr>
          <a:xfrm>
            <a:off x="1047750" y="4749800"/>
            <a:ext cx="443445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B84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r>
              <a:rPr lang="en-US" sz="1800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Стратегия развития отрасли до 2030 года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892800" y="1619250"/>
            <a:ext cx="5486400" cy="4222750"/>
          </a:xfrm>
          <a:prstGeom prst="roundRect">
            <a:avLst>
              <a:gd name="adj" fmla="val 2406"/>
            </a:avLst>
          </a:prstGeom>
          <a:solidFill>
            <a:srgbClr val="1E252B"/>
          </a:solidFill>
          <a:ln/>
        </p:spPr>
        <p:txBody>
          <a:bodyPr/>
          <a:lstStyle/>
          <a:p>
            <a:endParaRPr lang="ru-US"/>
          </a:p>
        </p:txBody>
      </p:sp>
      <p:sp>
        <p:nvSpPr>
          <p:cNvPr id="12" name="Text 10"/>
          <p:cNvSpPr/>
          <p:nvPr/>
        </p:nvSpPr>
        <p:spPr>
          <a:xfrm>
            <a:off x="6248400" y="2806700"/>
            <a:ext cx="4918456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50" dirty="0">
                <a:solidFill>
                  <a:srgbClr val="F0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ПРОБЛЕМНЫЙ ВОПРОС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48400" y="3206750"/>
            <a:ext cx="4918456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20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Магнитогорск и Липецк далеко друг от друга, но оба стали центрами металлургии? И почему в этих городах трудно дышать?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12800" y="6242050"/>
            <a:ext cx="39243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Металлургический комплекс ·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Состав металлургического комплекса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19250"/>
            <a:ext cx="5149850" cy="4222750"/>
          </a:xfrm>
          <a:prstGeom prst="roundRect">
            <a:avLst>
              <a:gd name="adj" fmla="val 2406"/>
            </a:avLst>
          </a:prstGeom>
          <a:solidFill>
            <a:srgbClr val="1E252B"/>
          </a:solidFill>
          <a:ln/>
        </p:spPr>
        <p:txBody>
          <a:bodyPr/>
          <a:lstStyle/>
          <a:p>
            <a:endParaRPr lang="ru-US"/>
          </a:p>
        </p:txBody>
      </p:sp>
      <p:sp>
        <p:nvSpPr>
          <p:cNvPr id="4" name="Text 2"/>
          <p:cNvSpPr/>
          <p:nvPr/>
        </p:nvSpPr>
        <p:spPr>
          <a:xfrm>
            <a:off x="1117600" y="1924050"/>
            <a:ext cx="4676458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dirty="0">
                <a:solidFill>
                  <a:srgbClr val="F0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Чёрная металлургия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17600" y="2438400"/>
            <a:ext cx="467645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C9C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Производство на основе железа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72972" y="2857500"/>
            <a:ext cx="4613466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628" indent="-198628" algn="l">
              <a:lnSpc>
                <a:spcPts val="2850"/>
              </a:lnSpc>
              <a:buSzPct val="100000"/>
              <a:buChar char="•"/>
            </a:pPr>
            <a:r>
              <a:rPr lang="en-US" sz="190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Чугун</a:t>
            </a:r>
            <a:endParaRPr lang="en-US" sz="1900" dirty="0"/>
          </a:p>
          <a:p>
            <a:pPr marL="198628" indent="-198628" algn="l">
              <a:lnSpc>
                <a:spcPts val="2850"/>
              </a:lnSpc>
              <a:buSzPct val="100000"/>
              <a:buChar char="•"/>
            </a:pPr>
            <a:r>
              <a:rPr lang="en-US" sz="190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Сталь</a:t>
            </a:r>
            <a:endParaRPr lang="en-US" sz="1900" dirty="0"/>
          </a:p>
          <a:p>
            <a:pPr marL="198628" indent="-198628" algn="l">
              <a:lnSpc>
                <a:spcPts val="2850"/>
              </a:lnSpc>
              <a:buSzPct val="100000"/>
              <a:buChar char="•"/>
            </a:pPr>
            <a:r>
              <a:rPr lang="en-US" sz="190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Прокат и трубы</a:t>
            </a:r>
            <a:endParaRPr lang="en-US" sz="1900" dirty="0"/>
          </a:p>
          <a:p>
            <a:pPr marL="198628" indent="-198628" algn="l">
              <a:lnSpc>
                <a:spcPts val="2850"/>
              </a:lnSpc>
              <a:buSzPct val="100000"/>
              <a:buChar char="•"/>
            </a:pPr>
            <a:r>
              <a:rPr lang="en-US" sz="190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Ферросплавы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9825" y="1622425"/>
            <a:ext cx="5156200" cy="4216400"/>
          </a:xfrm>
          <a:prstGeom prst="roundRect">
            <a:avLst>
              <a:gd name="adj" fmla="val 2334"/>
            </a:avLst>
          </a:prstGeom>
          <a:solidFill>
            <a:srgbClr val="FBFAF7"/>
          </a:solidFill>
          <a:ln w="635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8" name="Text 6"/>
          <p:cNvSpPr/>
          <p:nvPr/>
        </p:nvSpPr>
        <p:spPr>
          <a:xfrm>
            <a:off x="6527800" y="1930400"/>
            <a:ext cx="4676458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dirty="0">
                <a:solidFill>
                  <a:srgbClr val="B84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Цветная металлургия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527800" y="2444750"/>
            <a:ext cx="467645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59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остальные металлы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172" y="2863850"/>
            <a:ext cx="4613466" cy="111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628" indent="-198628" algn="l">
              <a:lnSpc>
                <a:spcPts val="2850"/>
              </a:lnSpc>
              <a:buSzPct val="100000"/>
              <a:buChar char="•"/>
            </a:pPr>
            <a:r>
              <a:rPr lang="en-US" sz="1900" b="1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Тяжёлые:</a:t>
            </a:r>
            <a:r>
              <a:rPr lang="en-US" sz="1900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медь, никель, свинец, цинк, олово</a:t>
            </a:r>
            <a:endParaRPr lang="en-US" sz="1900" dirty="0"/>
          </a:p>
          <a:p>
            <a:pPr marL="198628" indent="-198628" algn="l">
              <a:lnSpc>
                <a:spcPts val="2850"/>
              </a:lnSpc>
              <a:buSzPct val="100000"/>
              <a:buChar char="•"/>
            </a:pPr>
            <a:r>
              <a:rPr lang="en-US" sz="1900" b="1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Лёгкие:</a:t>
            </a:r>
            <a:r>
              <a:rPr lang="en-US" sz="1900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алюминий, магний, титан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12800" y="6242050"/>
            <a:ext cx="39243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Металлургический комплекс ·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Цикл чёрной металлургии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2362200"/>
            <a:ext cx="2139950" cy="1314450"/>
          </a:xfrm>
          <a:prstGeom prst="roundRect">
            <a:avLst>
              <a:gd name="adj" fmla="val 7488"/>
            </a:avLst>
          </a:prstGeom>
          <a:solidFill>
            <a:srgbClr val="FBFAF7"/>
          </a:solidFill>
          <a:ln w="635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" name="Text 2"/>
          <p:cNvSpPr/>
          <p:nvPr/>
        </p:nvSpPr>
        <p:spPr>
          <a:xfrm>
            <a:off x="1022350" y="2593975"/>
            <a:ext cx="177901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Руда и кокс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2350" y="2974975"/>
            <a:ext cx="177901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59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Добыча и обогащение</a:t>
            </a:r>
            <a:endParaRPr lang="en-US" sz="1400" dirty="0"/>
          </a:p>
        </p:txBody>
      </p:sp>
      <p:pic>
        <p:nvPicPr>
          <p:cNvPr id="6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11500" y="2892425"/>
            <a:ext cx="355600" cy="254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22675" y="2479675"/>
            <a:ext cx="2139950" cy="1079500"/>
          </a:xfrm>
          <a:prstGeom prst="roundRect">
            <a:avLst>
              <a:gd name="adj" fmla="val 9118"/>
            </a:avLst>
          </a:prstGeom>
          <a:solidFill>
            <a:srgbClr val="FBFAF7"/>
          </a:solidFill>
          <a:ln w="635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8" name="Text 5"/>
          <p:cNvSpPr/>
          <p:nvPr/>
        </p:nvSpPr>
        <p:spPr>
          <a:xfrm>
            <a:off x="3829050" y="2711450"/>
            <a:ext cx="177901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Чугун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829050" y="3092450"/>
            <a:ext cx="1779016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59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Доменная печь</a:t>
            </a:r>
            <a:endParaRPr lang="en-US" sz="1400" dirty="0"/>
          </a:p>
        </p:txBody>
      </p:sp>
      <p:pic>
        <p:nvPicPr>
          <p:cNvPr id="10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18200" y="2892425"/>
            <a:ext cx="355600" cy="2540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429375" y="2362200"/>
            <a:ext cx="2139950" cy="1314450"/>
          </a:xfrm>
          <a:prstGeom prst="roundRect">
            <a:avLst>
              <a:gd name="adj" fmla="val 7488"/>
            </a:avLst>
          </a:prstGeom>
          <a:solidFill>
            <a:srgbClr val="FBFAF7"/>
          </a:solidFill>
          <a:ln w="635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2" name="Text 8"/>
          <p:cNvSpPr/>
          <p:nvPr/>
        </p:nvSpPr>
        <p:spPr>
          <a:xfrm>
            <a:off x="6635750" y="2593975"/>
            <a:ext cx="177901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Сталь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6635750" y="2974975"/>
            <a:ext cx="177901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59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Конвертер, электропечь</a:t>
            </a:r>
            <a:endParaRPr lang="en-US" sz="1400" dirty="0"/>
          </a:p>
        </p:txBody>
      </p:sp>
      <p:pic>
        <p:nvPicPr>
          <p:cNvPr id="14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24900" y="2892425"/>
            <a:ext cx="355600" cy="2540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9236075" y="2327275"/>
            <a:ext cx="2139950" cy="1384300"/>
          </a:xfrm>
          <a:prstGeom prst="roundRect">
            <a:avLst>
              <a:gd name="adj" fmla="val 7110"/>
            </a:avLst>
          </a:prstGeom>
          <a:solidFill>
            <a:srgbClr val="FBFAF7"/>
          </a:solidFill>
          <a:ln w="635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6" name="Text 11"/>
          <p:cNvSpPr/>
          <p:nvPr/>
        </p:nvSpPr>
        <p:spPr>
          <a:xfrm>
            <a:off x="9442450" y="2559050"/>
            <a:ext cx="1779016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Прокат и трубы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442450" y="3244850"/>
            <a:ext cx="1779016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59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Готовая продукция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812800" y="4724400"/>
            <a:ext cx="10566400" cy="1117600"/>
          </a:xfrm>
          <a:prstGeom prst="roundRect">
            <a:avLst>
              <a:gd name="adj" fmla="val 9091"/>
            </a:avLst>
          </a:prstGeom>
          <a:solidFill>
            <a:srgbClr val="1E252B"/>
          </a:solidFill>
          <a:ln/>
        </p:spPr>
        <p:txBody>
          <a:bodyPr/>
          <a:lstStyle/>
          <a:p>
            <a:endParaRPr lang="ru-US"/>
          </a:p>
        </p:txBody>
      </p:sp>
      <p:sp>
        <p:nvSpPr>
          <p:cNvPr id="19" name="Text 14"/>
          <p:cNvSpPr/>
          <p:nvPr/>
        </p:nvSpPr>
        <p:spPr>
          <a:xfrm>
            <a:off x="1117600" y="4978400"/>
            <a:ext cx="1025550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80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1 т чугуна нужно около </a:t>
            </a:r>
            <a:r>
              <a:rPr lang="en-US" sz="1800" b="1" dirty="0">
                <a:solidFill>
                  <a:srgbClr val="F0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1,5–2 т руды</a:t>
            </a:r>
            <a:r>
              <a:rPr lang="en-US" sz="180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около </a:t>
            </a:r>
            <a:r>
              <a:rPr lang="en-US" sz="1800" b="1" dirty="0">
                <a:solidFill>
                  <a:srgbClr val="F0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т коксующегося угля</a:t>
            </a:r>
            <a:r>
              <a:rPr lang="en-US" sz="180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поэтому комбинаты строят у сырья и топлива.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12800" y="6242050"/>
            <a:ext cx="39243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Металлургический комплекс ·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Важные понятия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2425"/>
            <a:ext cx="3380284" cy="1530350"/>
          </a:xfrm>
          <a:prstGeom prst="roundRect">
            <a:avLst>
              <a:gd name="adj" fmla="val 6432"/>
            </a:avLst>
          </a:prstGeom>
          <a:solidFill>
            <a:srgbClr val="FBFAF7"/>
          </a:solidFill>
          <a:ln w="635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" name="Text 2"/>
          <p:cNvSpPr/>
          <p:nvPr/>
        </p:nvSpPr>
        <p:spPr>
          <a:xfrm>
            <a:off x="1022350" y="1828800"/>
            <a:ext cx="3056560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85"/>
              </a:lnSpc>
              <a:buNone/>
            </a:pPr>
            <a:r>
              <a:rPr lang="en-US" sz="1900" b="1" dirty="0">
                <a:solidFill>
                  <a:srgbClr val="B84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Комбинат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22350" y="2178050"/>
            <a:ext cx="305656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Предприятие полного цикла: чугун, сталь, прокат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5809" y="1622425"/>
            <a:ext cx="3380284" cy="1530350"/>
          </a:xfrm>
          <a:prstGeom prst="roundRect">
            <a:avLst>
              <a:gd name="adj" fmla="val 6432"/>
            </a:avLst>
          </a:prstGeom>
          <a:solidFill>
            <a:srgbClr val="FBFAF7"/>
          </a:solidFill>
          <a:ln w="635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7" name="Text 5"/>
          <p:cNvSpPr/>
          <p:nvPr/>
        </p:nvSpPr>
        <p:spPr>
          <a:xfrm>
            <a:off x="4612184" y="1828800"/>
            <a:ext cx="3056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85"/>
              </a:lnSpc>
              <a:buNone/>
            </a:pPr>
            <a:r>
              <a:rPr lang="en-US" sz="1900" b="1" dirty="0">
                <a:solidFill>
                  <a:srgbClr val="B84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Передельная металлургия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612184" y="2451100"/>
            <a:ext cx="305656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Сталь и прокат из чугуна и лома, без выплавки чугуна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5642" y="1622425"/>
            <a:ext cx="3380383" cy="1530350"/>
          </a:xfrm>
          <a:prstGeom prst="roundRect">
            <a:avLst>
              <a:gd name="adj" fmla="val 6432"/>
            </a:avLst>
          </a:prstGeom>
          <a:solidFill>
            <a:srgbClr val="FBFAF7"/>
          </a:solidFill>
          <a:ln w="635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0" name="Text 8"/>
          <p:cNvSpPr/>
          <p:nvPr/>
        </p:nvSpPr>
        <p:spPr>
          <a:xfrm>
            <a:off x="8202017" y="1828800"/>
            <a:ext cx="3056662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85"/>
              </a:lnSpc>
              <a:buNone/>
            </a:pPr>
            <a:r>
              <a:rPr lang="en-US" sz="1900" b="1" dirty="0">
                <a:solidFill>
                  <a:srgbClr val="B84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Мини-завод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202017" y="2178050"/>
            <a:ext cx="3056662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Выплавка стали в электропечах из металлолома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5975" y="3362325"/>
            <a:ext cx="3380284" cy="1504950"/>
          </a:xfrm>
          <a:prstGeom prst="roundRect">
            <a:avLst>
              <a:gd name="adj" fmla="val 6540"/>
            </a:avLst>
          </a:prstGeom>
          <a:solidFill>
            <a:srgbClr val="FBFAF7"/>
          </a:solidFill>
          <a:ln w="635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3" name="Text 11"/>
          <p:cNvSpPr/>
          <p:nvPr/>
        </p:nvSpPr>
        <p:spPr>
          <a:xfrm>
            <a:off x="1022350" y="3568700"/>
            <a:ext cx="3056560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85"/>
              </a:lnSpc>
              <a:buNone/>
            </a:pPr>
            <a:r>
              <a:rPr lang="en-US" sz="1900" b="1" dirty="0">
                <a:solidFill>
                  <a:srgbClr val="B84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Вторичное сырьё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22350" y="3917950"/>
            <a:ext cx="305656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Металлолом возвращается в производство и бережёт природу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05809" y="3362325"/>
            <a:ext cx="3380284" cy="1504950"/>
          </a:xfrm>
          <a:prstGeom prst="roundRect">
            <a:avLst>
              <a:gd name="adj" fmla="val 6540"/>
            </a:avLst>
          </a:prstGeom>
          <a:solidFill>
            <a:srgbClr val="FBFAF7"/>
          </a:solidFill>
          <a:ln w="635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6" name="Text 14"/>
          <p:cNvSpPr/>
          <p:nvPr/>
        </p:nvSpPr>
        <p:spPr>
          <a:xfrm>
            <a:off x="4612184" y="3568700"/>
            <a:ext cx="3056560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85"/>
              </a:lnSpc>
              <a:buNone/>
            </a:pPr>
            <a:r>
              <a:rPr lang="en-US" sz="1900" b="1" dirty="0">
                <a:solidFill>
                  <a:srgbClr val="B84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Металлургическая база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612184" y="3917950"/>
            <a:ext cx="3056560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Крупный район предприятий с общим сырьём, топливом и связями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995642" y="3362325"/>
            <a:ext cx="3380383" cy="1504950"/>
          </a:xfrm>
          <a:prstGeom prst="roundRect">
            <a:avLst>
              <a:gd name="adj" fmla="val 6540"/>
            </a:avLst>
          </a:prstGeom>
          <a:solidFill>
            <a:srgbClr val="FBFAF7"/>
          </a:solidFill>
          <a:ln w="635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9" name="Text 17"/>
          <p:cNvSpPr/>
          <p:nvPr/>
        </p:nvSpPr>
        <p:spPr>
          <a:xfrm>
            <a:off x="8202017" y="3568700"/>
            <a:ext cx="3056662" cy="298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85"/>
              </a:lnSpc>
              <a:buNone/>
            </a:pPr>
            <a:r>
              <a:rPr lang="en-US" sz="1900" b="1" dirty="0">
                <a:solidFill>
                  <a:srgbClr val="B84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Факторы размещения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202017" y="3917950"/>
            <a:ext cx="3056662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Условия выбора места: сырьё, топливо, энергия, вода, потребитель, транспорт, экология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2800" y="6242050"/>
            <a:ext cx="39243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Металлургический комплекс ·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строят металлургические заводы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2425"/>
            <a:ext cx="5175250" cy="1695450"/>
          </a:xfrm>
          <a:prstGeom prst="roundRect">
            <a:avLst>
              <a:gd name="adj" fmla="val 5805"/>
            </a:avLst>
          </a:prstGeom>
          <a:solidFill>
            <a:srgbClr val="FBFAF7"/>
          </a:solidFill>
          <a:ln w="635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" name="Text 2"/>
          <p:cNvSpPr/>
          <p:nvPr/>
        </p:nvSpPr>
        <p:spPr>
          <a:xfrm>
            <a:off x="1073150" y="1854200"/>
            <a:ext cx="480072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B84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Сырьё и топливо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73150" y="2247900"/>
            <a:ext cx="4800727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Комбинаты полного цикла ставят у руды, угля или на пути их встречных потоков: Урал, Кузбасс.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00775" y="1622425"/>
            <a:ext cx="5175250" cy="1695450"/>
          </a:xfrm>
          <a:prstGeom prst="roundRect">
            <a:avLst>
              <a:gd name="adj" fmla="val 5805"/>
            </a:avLst>
          </a:prstGeom>
          <a:solidFill>
            <a:srgbClr val="FBFAF7"/>
          </a:solidFill>
          <a:ln w="635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7" name="Text 5"/>
          <p:cNvSpPr/>
          <p:nvPr/>
        </p:nvSpPr>
        <p:spPr>
          <a:xfrm>
            <a:off x="6457950" y="1854200"/>
            <a:ext cx="480072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B84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Потребитель и металлолом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57950" y="2247900"/>
            <a:ext cx="4800727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Передел и мини-заводы работают в районах потребления: Москва, Санкт-Петербург, Урал.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5975" y="3527425"/>
            <a:ext cx="5175250" cy="1695450"/>
          </a:xfrm>
          <a:prstGeom prst="roundRect">
            <a:avLst>
              <a:gd name="adj" fmla="val 5805"/>
            </a:avLst>
          </a:prstGeom>
          <a:solidFill>
            <a:srgbClr val="FBFAF7"/>
          </a:solidFill>
          <a:ln w="635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0" name="Text 8"/>
          <p:cNvSpPr/>
          <p:nvPr/>
        </p:nvSpPr>
        <p:spPr>
          <a:xfrm>
            <a:off x="1073150" y="3759200"/>
            <a:ext cx="480072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B84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Сырьё: цветные металлы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73150" y="4152900"/>
            <a:ext cx="4800727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Руды бедные, в медной руде лишь несколько процентов металла, поэтому руду обогащают на месте.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97600" y="3524250"/>
            <a:ext cx="5181600" cy="1701800"/>
          </a:xfrm>
          <a:prstGeom prst="roundRect">
            <a:avLst>
              <a:gd name="adj" fmla="val 5970"/>
            </a:avLst>
          </a:prstGeom>
          <a:solidFill>
            <a:srgbClr val="1E252B"/>
          </a:solidFill>
          <a:ln/>
        </p:spPr>
        <p:txBody>
          <a:bodyPr/>
          <a:lstStyle/>
          <a:p>
            <a:endParaRPr lang="ru-US"/>
          </a:p>
        </p:txBody>
      </p:sp>
      <p:sp>
        <p:nvSpPr>
          <p:cNvPr id="13" name="Text 11"/>
          <p:cNvSpPr/>
          <p:nvPr/>
        </p:nvSpPr>
        <p:spPr>
          <a:xfrm>
            <a:off x="6451600" y="3752850"/>
            <a:ext cx="48138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F0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Энергия: алюминий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51600" y="4146550"/>
            <a:ext cx="4813808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Выплавка электроёмка, заводы стоят у мощных ГЭС: Братск, Красноярск, Саяногорск.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2800" y="6242050"/>
            <a:ext cx="39243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Металлургический комплекс ·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Базы чёрной металлургии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2425"/>
            <a:ext cx="5175250" cy="1612900"/>
          </a:xfrm>
          <a:prstGeom prst="roundRect">
            <a:avLst>
              <a:gd name="adj" fmla="val 6102"/>
            </a:avLst>
          </a:prstGeom>
          <a:solidFill>
            <a:srgbClr val="FBFAF7"/>
          </a:solidFill>
          <a:ln w="635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" name="Text 2"/>
          <p:cNvSpPr/>
          <p:nvPr/>
        </p:nvSpPr>
        <p:spPr>
          <a:xfrm>
            <a:off x="1073150" y="1828800"/>
            <a:ext cx="480072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B84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Центральная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73150" y="2209800"/>
            <a:ext cx="480072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Сырьё:</a:t>
            </a:r>
            <a:r>
              <a:rPr lang="en-US" sz="1400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руда КМА, привозной уголь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3150" y="2533650"/>
            <a:ext cx="480072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Центры:</a:t>
            </a:r>
            <a:r>
              <a:rPr lang="en-US" sz="1400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Липецк, Старый Оскол, Тула; передел в Москве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00775" y="1622425"/>
            <a:ext cx="5175250" cy="1612900"/>
          </a:xfrm>
          <a:prstGeom prst="roundRect">
            <a:avLst>
              <a:gd name="adj" fmla="val 6102"/>
            </a:avLst>
          </a:prstGeom>
          <a:solidFill>
            <a:srgbClr val="FBFAF7"/>
          </a:solidFill>
          <a:ln w="635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8" name="Text 6"/>
          <p:cNvSpPr/>
          <p:nvPr/>
        </p:nvSpPr>
        <p:spPr>
          <a:xfrm>
            <a:off x="6457950" y="1828800"/>
            <a:ext cx="480072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B84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Северная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57950" y="2209800"/>
            <a:ext cx="480072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Сырьё:</a:t>
            </a:r>
            <a:r>
              <a:rPr lang="en-US" sz="1400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руда Карелии и Кольского полуострова, уголь Печоры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57950" y="2781300"/>
            <a:ext cx="480072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Центр:</a:t>
            </a:r>
            <a:r>
              <a:rPr lang="en-US" sz="1400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Череповец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800" y="3441700"/>
            <a:ext cx="5181600" cy="1854200"/>
          </a:xfrm>
          <a:prstGeom prst="roundRect">
            <a:avLst>
              <a:gd name="adj" fmla="val 5479"/>
            </a:avLst>
          </a:prstGeom>
          <a:solidFill>
            <a:srgbClr val="1E252B"/>
          </a:solidFill>
          <a:ln/>
        </p:spPr>
        <p:txBody>
          <a:bodyPr/>
          <a:lstStyle/>
          <a:p>
            <a:endParaRPr lang="ru-US"/>
          </a:p>
        </p:txBody>
      </p:sp>
      <p:sp>
        <p:nvSpPr>
          <p:cNvPr id="12" name="Text 10"/>
          <p:cNvSpPr/>
          <p:nvPr/>
        </p:nvSpPr>
        <p:spPr>
          <a:xfrm>
            <a:off x="1066800" y="3644900"/>
            <a:ext cx="48138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F0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Уральская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66800" y="4025900"/>
            <a:ext cx="4813808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Сырьё:</a:t>
            </a:r>
            <a:r>
              <a:rPr lang="en-US" sz="140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местная руда истощается, привозят руду и кокс из Кузбасса и Казахстана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66800" y="4597400"/>
            <a:ext cx="4813808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Центры:</a:t>
            </a:r>
            <a:r>
              <a:rPr lang="en-US" sz="140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Магнитогорск, Нижний Тагил, Челябинск, Новотроицк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00775" y="3444875"/>
            <a:ext cx="5175250" cy="1847850"/>
          </a:xfrm>
          <a:prstGeom prst="roundRect">
            <a:avLst>
              <a:gd name="adj" fmla="val 5326"/>
            </a:avLst>
          </a:prstGeom>
          <a:solidFill>
            <a:srgbClr val="FBFAF7"/>
          </a:solidFill>
          <a:ln w="635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6" name="Text 14"/>
          <p:cNvSpPr/>
          <p:nvPr/>
        </p:nvSpPr>
        <p:spPr>
          <a:xfrm>
            <a:off x="6457950" y="3651250"/>
            <a:ext cx="480072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B84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Сибирская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57950" y="4032250"/>
            <a:ext cx="49149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Сырьё:</a:t>
            </a:r>
            <a:r>
              <a:rPr lang="en-US" sz="1400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уголь Кузбасса, руда Горной Шории и Хакасии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57950" y="4356100"/>
            <a:ext cx="480072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Центр:</a:t>
            </a:r>
            <a:r>
              <a:rPr lang="en-US" sz="1400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Новокузнецк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800" y="6242050"/>
            <a:ext cx="39243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Металлургический комплекс · 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Цветная металлургия: основные центры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2425"/>
            <a:ext cx="5175250" cy="1327150"/>
          </a:xfrm>
          <a:prstGeom prst="roundRect">
            <a:avLst>
              <a:gd name="adj" fmla="val 7416"/>
            </a:avLst>
          </a:prstGeom>
          <a:solidFill>
            <a:srgbClr val="FBFAF7"/>
          </a:solidFill>
          <a:ln w="635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" name="Text 2"/>
          <p:cNvSpPr/>
          <p:nvPr/>
        </p:nvSpPr>
        <p:spPr>
          <a:xfrm>
            <a:off x="1073150" y="1828800"/>
            <a:ext cx="480072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B84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Алюминий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73150" y="2209800"/>
            <a:ext cx="480072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Братск, Красноярск, Саяногорск, Новокузнецк, Волхов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00775" y="1622425"/>
            <a:ext cx="5175250" cy="1327150"/>
          </a:xfrm>
          <a:prstGeom prst="roundRect">
            <a:avLst>
              <a:gd name="adj" fmla="val 7416"/>
            </a:avLst>
          </a:prstGeom>
          <a:solidFill>
            <a:srgbClr val="FBFAF7"/>
          </a:solidFill>
          <a:ln w="635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7" name="Text 5"/>
          <p:cNvSpPr/>
          <p:nvPr/>
        </p:nvSpPr>
        <p:spPr>
          <a:xfrm>
            <a:off x="6457950" y="1828800"/>
            <a:ext cx="480072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B84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Никель и медь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57950" y="2209800"/>
            <a:ext cx="480072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Норильск, Мончегорск; на Урале: Медногорск, Красноуральск, Кировград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5975" y="3159125"/>
            <a:ext cx="5175250" cy="1327150"/>
          </a:xfrm>
          <a:prstGeom prst="roundRect">
            <a:avLst>
              <a:gd name="adj" fmla="val 7416"/>
            </a:avLst>
          </a:prstGeom>
          <a:solidFill>
            <a:srgbClr val="FBFAF7"/>
          </a:solidFill>
          <a:ln w="635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0" name="Text 8"/>
          <p:cNvSpPr/>
          <p:nvPr/>
        </p:nvSpPr>
        <p:spPr>
          <a:xfrm>
            <a:off x="1073150" y="3365500"/>
            <a:ext cx="480072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B84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Олово, свинец, цинк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73150" y="3746500"/>
            <a:ext cx="480072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Дальний Восток (Дальнегорск), Северный Кавказ (Владикавказ), Кузбасс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00775" y="3159125"/>
            <a:ext cx="5175250" cy="1327150"/>
          </a:xfrm>
          <a:prstGeom prst="roundRect">
            <a:avLst>
              <a:gd name="adj" fmla="val 7416"/>
            </a:avLst>
          </a:prstGeom>
          <a:solidFill>
            <a:srgbClr val="FBFAF7"/>
          </a:solidFill>
          <a:ln w="635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3" name="Text 11"/>
          <p:cNvSpPr/>
          <p:nvPr/>
        </p:nvSpPr>
        <p:spPr>
          <a:xfrm>
            <a:off x="6457950" y="3365500"/>
            <a:ext cx="480072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B84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Магний и титан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57950" y="3746500"/>
            <a:ext cx="480072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Соликамск, Березники, Верхняя Салда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800" y="6242050"/>
            <a:ext cx="39243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Металлургический комплекс ·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Влияние металлургии на природу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2524125"/>
            <a:ext cx="2489200" cy="1803400"/>
          </a:xfrm>
          <a:prstGeom prst="roundRect">
            <a:avLst>
              <a:gd name="adj" fmla="val 5634"/>
            </a:avLst>
          </a:prstGeom>
          <a:solidFill>
            <a:srgbClr val="2B3640"/>
          </a:solidFill>
          <a:ln/>
        </p:spPr>
        <p:txBody>
          <a:bodyPr/>
          <a:lstStyle/>
          <a:p>
            <a:endParaRPr lang="ru-US"/>
          </a:p>
        </p:txBody>
      </p:sp>
      <p:sp>
        <p:nvSpPr>
          <p:cNvPr id="4" name="Text 2"/>
          <p:cNvSpPr/>
          <p:nvPr/>
        </p:nvSpPr>
        <p:spPr>
          <a:xfrm>
            <a:off x="1016000" y="2727325"/>
            <a:ext cx="214528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F0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Воздух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16000" y="3133725"/>
            <a:ext cx="2145284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Пыль, сернистый газ, оксиды азота и углерода; кислотные дожди, болезни дыхания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505200" y="2524125"/>
            <a:ext cx="2489200" cy="1803400"/>
          </a:xfrm>
          <a:prstGeom prst="roundRect">
            <a:avLst>
              <a:gd name="adj" fmla="val 5634"/>
            </a:avLst>
          </a:prstGeom>
          <a:solidFill>
            <a:srgbClr val="2B3640"/>
          </a:solidFill>
          <a:ln/>
        </p:spPr>
        <p:txBody>
          <a:bodyPr/>
          <a:lstStyle/>
          <a:p>
            <a:endParaRPr lang="ru-US"/>
          </a:p>
        </p:txBody>
      </p:sp>
      <p:sp>
        <p:nvSpPr>
          <p:cNvPr id="7" name="Text 5"/>
          <p:cNvSpPr/>
          <p:nvPr/>
        </p:nvSpPr>
        <p:spPr>
          <a:xfrm>
            <a:off x="3708400" y="2727325"/>
            <a:ext cx="214528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F0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Вода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708400" y="3133725"/>
            <a:ext cx="2145284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Огромное водопотребление, сбросы сточных вод с тяжёлыми металлами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97600" y="2524125"/>
            <a:ext cx="2489200" cy="1803400"/>
          </a:xfrm>
          <a:prstGeom prst="roundRect">
            <a:avLst>
              <a:gd name="adj" fmla="val 5634"/>
            </a:avLst>
          </a:prstGeom>
          <a:solidFill>
            <a:srgbClr val="2B3640"/>
          </a:solidFill>
          <a:ln/>
        </p:spPr>
        <p:txBody>
          <a:bodyPr/>
          <a:lstStyle/>
          <a:p>
            <a:endParaRPr lang="ru-US"/>
          </a:p>
        </p:txBody>
      </p:sp>
      <p:sp>
        <p:nvSpPr>
          <p:cNvPr id="10" name="Text 8"/>
          <p:cNvSpPr/>
          <p:nvPr/>
        </p:nvSpPr>
        <p:spPr>
          <a:xfrm>
            <a:off x="6400800" y="2727325"/>
            <a:ext cx="214528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F0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Земли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0" y="3133725"/>
            <a:ext cx="2145284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Отвалы пород и шлаков, карьеры, загрязнение почв тяжёлыми металлами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890000" y="2524125"/>
            <a:ext cx="2489200" cy="1803400"/>
          </a:xfrm>
          <a:prstGeom prst="roundRect">
            <a:avLst>
              <a:gd name="adj" fmla="val 5634"/>
            </a:avLst>
          </a:prstGeom>
          <a:solidFill>
            <a:srgbClr val="2B3640"/>
          </a:solidFill>
          <a:ln/>
        </p:spPr>
        <p:txBody>
          <a:bodyPr/>
          <a:lstStyle/>
          <a:p>
            <a:endParaRPr lang="ru-US"/>
          </a:p>
        </p:txBody>
      </p:sp>
      <p:sp>
        <p:nvSpPr>
          <p:cNvPr id="13" name="Text 11"/>
          <p:cNvSpPr/>
          <p:nvPr/>
        </p:nvSpPr>
        <p:spPr>
          <a:xfrm>
            <a:off x="9093200" y="2727325"/>
            <a:ext cx="214528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F0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Климат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093200" y="3133725"/>
            <a:ext cx="2145284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Много углекислого газа от доменного процесса и энергетики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5537200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800" dirty="0">
                <a:solidFill>
                  <a:srgbClr val="C9C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Металлургия входит в число самых загрязняющих отраслей промышленности.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12800" y="6242050"/>
            <a:ext cx="39243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Металлургический комплекс · 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острее всего и что делать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2425"/>
            <a:ext cx="5156200" cy="4216400"/>
          </a:xfrm>
          <a:prstGeom prst="roundRect">
            <a:avLst>
              <a:gd name="adj" fmla="val 2334"/>
            </a:avLst>
          </a:prstGeom>
          <a:solidFill>
            <a:srgbClr val="FBFAF7"/>
          </a:solidFill>
          <a:ln w="635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" name="Text 2"/>
          <p:cNvSpPr/>
          <p:nvPr/>
        </p:nvSpPr>
        <p:spPr>
          <a:xfrm>
            <a:off x="1098550" y="1905000"/>
            <a:ext cx="472878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B84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Города с проблемами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68146" y="2362200"/>
            <a:ext cx="4651566" cy="9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4404" indent="-184404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Норильск, Братск, Красноярск</a:t>
            </a:r>
            <a:endParaRPr lang="en-US" sz="1700" dirty="0"/>
          </a:p>
          <a:p>
            <a:pPr marL="184404" indent="-184404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Липецк, Череповец</a:t>
            </a:r>
            <a:endParaRPr lang="en-US" sz="1700" dirty="0"/>
          </a:p>
          <a:p>
            <a:pPr marL="184404" indent="-184404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Магнитогорск, Новокузнецк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8550" y="3460750"/>
            <a:ext cx="4728782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9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Многие из них участвовали в федеральном проекте «Чистый воздух».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29350" y="1619250"/>
            <a:ext cx="5149850" cy="4222750"/>
          </a:xfrm>
          <a:prstGeom prst="roundRect">
            <a:avLst>
              <a:gd name="adj" fmla="val 2406"/>
            </a:avLst>
          </a:prstGeom>
          <a:solidFill>
            <a:srgbClr val="1E252B"/>
          </a:solidFill>
          <a:ln/>
        </p:spPr>
        <p:txBody>
          <a:bodyPr/>
          <a:lstStyle/>
          <a:p>
            <a:endParaRPr lang="ru-US"/>
          </a:p>
        </p:txBody>
      </p:sp>
      <p:sp>
        <p:nvSpPr>
          <p:cNvPr id="8" name="Text 6"/>
          <p:cNvSpPr/>
          <p:nvPr/>
        </p:nvSpPr>
        <p:spPr>
          <a:xfrm>
            <a:off x="6508750" y="1898650"/>
            <a:ext cx="472878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F0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Пути решения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78346" y="2355850"/>
            <a:ext cx="4651566" cy="164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4404" indent="-184404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Газо- и пылеочистка</a:t>
            </a:r>
            <a:endParaRPr lang="en-US" sz="1700" dirty="0"/>
          </a:p>
          <a:p>
            <a:pPr marL="184404" indent="-184404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Оборотное водоснабжение</a:t>
            </a:r>
            <a:endParaRPr lang="en-US" sz="1700" dirty="0"/>
          </a:p>
          <a:p>
            <a:pPr marL="184404" indent="-184404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Переработка шлаков и лома</a:t>
            </a:r>
            <a:endParaRPr lang="en-US" sz="1700" dirty="0"/>
          </a:p>
          <a:p>
            <a:pPr marL="184404" indent="-184404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Электросталь и чистые технологии</a:t>
            </a:r>
            <a:endParaRPr lang="en-US" sz="1700" dirty="0"/>
          </a:p>
          <a:p>
            <a:pPr marL="184404" indent="-184404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Рекультивация земель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12800" y="6242050"/>
            <a:ext cx="39243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Металлургический комплекс ·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1379200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Стратегия развития металлургии до 2030 года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568450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C9C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Утверждена распоряжением Правительства РФ от 28.12.2022 № 4260-р. Раньше действовали отдельные стратегии чёрной и цветной металлургии (2014 год).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2800" y="2355850"/>
            <a:ext cx="10566400" cy="514350"/>
          </a:xfrm>
          <a:prstGeom prst="roundRect">
            <a:avLst>
              <a:gd name="adj" fmla="val 14815"/>
            </a:avLst>
          </a:prstGeom>
          <a:solidFill>
            <a:srgbClr val="2B3640"/>
          </a:solidFill>
          <a:ln/>
        </p:spPr>
        <p:txBody>
          <a:bodyPr/>
          <a:lstStyle/>
          <a:p>
            <a:endParaRPr lang="ru-US"/>
          </a:p>
        </p:txBody>
      </p:sp>
      <p:sp>
        <p:nvSpPr>
          <p:cNvPr id="5" name="Text 3"/>
          <p:cNvSpPr/>
          <p:nvPr/>
        </p:nvSpPr>
        <p:spPr>
          <a:xfrm>
            <a:off x="1016000" y="2482850"/>
            <a:ext cx="10464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r>
              <a:rPr lang="en-US" sz="160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Обеспечить экономику качественным металлом и сохранить экспорт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12800" y="2971800"/>
            <a:ext cx="10566400" cy="514350"/>
          </a:xfrm>
          <a:prstGeom prst="roundRect">
            <a:avLst>
              <a:gd name="adj" fmla="val 14815"/>
            </a:avLst>
          </a:prstGeom>
          <a:solidFill>
            <a:srgbClr val="2B3640"/>
          </a:solidFill>
          <a:ln/>
        </p:spPr>
        <p:txBody>
          <a:bodyPr/>
          <a:lstStyle/>
          <a:p>
            <a:endParaRPr lang="ru-US"/>
          </a:p>
        </p:txBody>
      </p:sp>
      <p:sp>
        <p:nvSpPr>
          <p:cNvPr id="7" name="Text 5"/>
          <p:cNvSpPr/>
          <p:nvPr/>
        </p:nvSpPr>
        <p:spPr>
          <a:xfrm>
            <a:off x="1016000" y="3098800"/>
            <a:ext cx="10464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r>
              <a:rPr lang="en-US" sz="160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Модернизировать производство, внедрять новые технологии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2800" y="3587750"/>
            <a:ext cx="10566400" cy="514350"/>
          </a:xfrm>
          <a:prstGeom prst="roundRect">
            <a:avLst>
              <a:gd name="adj" fmla="val 14815"/>
            </a:avLst>
          </a:prstGeom>
          <a:solidFill>
            <a:srgbClr val="2B3640"/>
          </a:solidFill>
          <a:ln/>
        </p:spPr>
        <p:txBody>
          <a:bodyPr/>
          <a:lstStyle/>
          <a:p>
            <a:endParaRPr lang="ru-US"/>
          </a:p>
        </p:txBody>
      </p:sp>
      <p:sp>
        <p:nvSpPr>
          <p:cNvPr id="9" name="Text 7"/>
          <p:cNvSpPr/>
          <p:nvPr/>
        </p:nvSpPr>
        <p:spPr>
          <a:xfrm>
            <a:off x="1016000" y="3714750"/>
            <a:ext cx="10464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r>
              <a:rPr lang="en-US" sz="160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Заменить импортное оборудование и материалы, например огнеупоры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800" y="4203700"/>
            <a:ext cx="10566400" cy="514350"/>
          </a:xfrm>
          <a:prstGeom prst="roundRect">
            <a:avLst>
              <a:gd name="adj" fmla="val 14815"/>
            </a:avLst>
          </a:prstGeom>
          <a:solidFill>
            <a:srgbClr val="2B3640"/>
          </a:solidFill>
          <a:ln/>
        </p:spPr>
        <p:txBody>
          <a:bodyPr/>
          <a:lstStyle/>
          <a:p>
            <a:endParaRPr lang="ru-US"/>
          </a:p>
        </p:txBody>
      </p:sp>
      <p:sp>
        <p:nvSpPr>
          <p:cNvPr id="11" name="Text 9"/>
          <p:cNvSpPr/>
          <p:nvPr/>
        </p:nvSpPr>
        <p:spPr>
          <a:xfrm>
            <a:off x="1016000" y="4330700"/>
            <a:ext cx="10464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r>
              <a:rPr lang="en-US" sz="160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Выпускать больше продукции с высокой добавленной стоимостью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2800" y="4819650"/>
            <a:ext cx="10566400" cy="514350"/>
          </a:xfrm>
          <a:prstGeom prst="roundRect">
            <a:avLst>
              <a:gd name="adj" fmla="val 14815"/>
            </a:avLst>
          </a:prstGeom>
          <a:solidFill>
            <a:srgbClr val="2B3640"/>
          </a:solidFill>
          <a:ln/>
        </p:spPr>
        <p:txBody>
          <a:bodyPr/>
          <a:lstStyle/>
          <a:p>
            <a:endParaRPr lang="ru-US"/>
          </a:p>
        </p:txBody>
      </p:sp>
      <p:sp>
        <p:nvSpPr>
          <p:cNvPr id="13" name="Text 11"/>
          <p:cNvSpPr/>
          <p:nvPr/>
        </p:nvSpPr>
        <p:spPr>
          <a:xfrm>
            <a:off x="1016000" y="4946650"/>
            <a:ext cx="10464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r>
              <a:rPr lang="en-US" sz="160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Снижать выбросы: очистка, энергоэффективность, «зелёные» технологии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2800" y="6242050"/>
            <a:ext cx="39243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Металлургический комплекс · 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Проверим себя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2425"/>
            <a:ext cx="3380284" cy="2057400"/>
          </a:xfrm>
          <a:prstGeom prst="roundRect">
            <a:avLst>
              <a:gd name="adj" fmla="val 4784"/>
            </a:avLst>
          </a:prstGeom>
          <a:solidFill>
            <a:srgbClr val="FBFAF7"/>
          </a:solidFill>
          <a:ln w="635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" name="Text 2"/>
          <p:cNvSpPr/>
          <p:nvPr/>
        </p:nvSpPr>
        <p:spPr>
          <a:xfrm>
            <a:off x="1022350" y="1854200"/>
            <a:ext cx="305656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B84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22350" y="2590800"/>
            <a:ext cx="3056560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Какой фактор главный при размещении алюминиевых заводов?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405809" y="1622425"/>
            <a:ext cx="3380284" cy="2057400"/>
          </a:xfrm>
          <a:prstGeom prst="roundRect">
            <a:avLst>
              <a:gd name="adj" fmla="val 4784"/>
            </a:avLst>
          </a:prstGeom>
          <a:solidFill>
            <a:srgbClr val="FBFAF7"/>
          </a:solidFill>
          <a:ln w="635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7" name="Text 5"/>
          <p:cNvSpPr/>
          <p:nvPr/>
        </p:nvSpPr>
        <p:spPr>
          <a:xfrm>
            <a:off x="4612184" y="1854200"/>
            <a:ext cx="305656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B84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612184" y="2590800"/>
            <a:ext cx="3056560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Назовите металлургические базы и по одному центру в каждой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995642" y="1622425"/>
            <a:ext cx="3380284" cy="2057400"/>
          </a:xfrm>
          <a:prstGeom prst="roundRect">
            <a:avLst>
              <a:gd name="adj" fmla="val 4784"/>
            </a:avLst>
          </a:prstGeom>
          <a:solidFill>
            <a:srgbClr val="FBFAF7"/>
          </a:solidFill>
          <a:ln w="6350">
            <a:solidFill>
              <a:srgbClr val="D9D3C9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0" name="Text 8"/>
          <p:cNvSpPr/>
          <p:nvPr/>
        </p:nvSpPr>
        <p:spPr>
          <a:xfrm>
            <a:off x="8202017" y="1854200"/>
            <a:ext cx="305656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B84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8202017" y="2590800"/>
            <a:ext cx="3056560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1E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Какие направления Стратегии помогают защитить природу?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2800" y="6242050"/>
            <a:ext cx="39243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6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Металлургический комплекс · 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Рефлексия и домашнее задание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19250"/>
            <a:ext cx="4091709" cy="4222750"/>
          </a:xfrm>
          <a:prstGeom prst="roundRect">
            <a:avLst>
              <a:gd name="adj" fmla="val 2406"/>
            </a:avLst>
          </a:prstGeom>
          <a:solidFill>
            <a:srgbClr val="2B3640"/>
          </a:solidFill>
          <a:ln/>
        </p:spPr>
        <p:txBody>
          <a:bodyPr/>
          <a:lstStyle/>
          <a:p>
            <a:endParaRPr lang="ru-US"/>
          </a:p>
        </p:txBody>
      </p:sp>
      <p:sp>
        <p:nvSpPr>
          <p:cNvPr id="4" name="Text 2"/>
          <p:cNvSpPr/>
          <p:nvPr/>
        </p:nvSpPr>
        <p:spPr>
          <a:xfrm>
            <a:off x="1092200" y="1898650"/>
            <a:ext cx="473532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F0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Закончите фразу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48334" y="2381250"/>
            <a:ext cx="4671568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7866" indent="-197866" algn="l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Сегодня я узнал…</a:t>
            </a:r>
            <a:endParaRPr lang="en-US" sz="1800" dirty="0"/>
          </a:p>
          <a:p>
            <a:pPr marL="197866" indent="-197866" algn="l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Самым интересным было…</a:t>
            </a:r>
            <a:endParaRPr lang="en-US" sz="1800" dirty="0"/>
          </a:p>
          <a:p>
            <a:pPr marL="197866" indent="-197866" algn="l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Мне ещё нужно разобраться…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240043" y="1619250"/>
            <a:ext cx="6139157" cy="4222750"/>
          </a:xfrm>
          <a:prstGeom prst="roundRect">
            <a:avLst>
              <a:gd name="adj" fmla="val 2406"/>
            </a:avLst>
          </a:prstGeom>
          <a:solidFill>
            <a:srgbClr val="2B3640"/>
          </a:solidFill>
          <a:ln/>
        </p:spPr>
        <p:txBody>
          <a:bodyPr/>
          <a:lstStyle/>
          <a:p>
            <a:endParaRPr lang="ru-US"/>
          </a:p>
        </p:txBody>
      </p:sp>
      <p:sp>
        <p:nvSpPr>
          <p:cNvPr id="7" name="Text 5"/>
          <p:cNvSpPr/>
          <p:nvPr/>
        </p:nvSpPr>
        <p:spPr>
          <a:xfrm>
            <a:off x="5588000" y="1962149"/>
            <a:ext cx="473532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F0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Домашнее задание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391397" y="2381249"/>
            <a:ext cx="5838705" cy="3152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Выучить номенклатуру и все определения </a:t>
            </a:r>
          </a:p>
          <a:p>
            <a:pPr marL="342900" indent="-342900" algn="l">
              <a:lnSpc>
                <a:spcPct val="12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</a:t>
            </a:r>
            <a:r>
              <a:rPr lang="en-US" sz="280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выбору</a:t>
            </a:r>
            <a:r>
              <a:rPr lang="en-US" sz="280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ru-RU" sz="280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доклад на 5 мин с презентацией на тему</a:t>
            </a:r>
            <a:br>
              <a:rPr lang="ru-RU" sz="280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ru-RU" sz="2800" dirty="0">
                <a:solidFill>
                  <a:srgbClr val="F4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«Старооскольский металлургический комбинат»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12800" y="6242050"/>
            <a:ext cx="39243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Металлургический комплекс · 13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Металлургический комплекс России">
  <a:themeElements>
    <a:clrScheme name="Металлургический комплекс России">
      <a:dk1>
        <a:srgbClr val="1E252B"/>
      </a:dk1>
      <a:lt1>
        <a:srgbClr val="F4F1EC"/>
      </a:lt1>
      <a:dk2>
        <a:srgbClr val="54585B"/>
      </a:dk2>
      <a:lt2>
        <a:srgbClr val="DFDDD9"/>
      </a:lt2>
      <a:accent1>
        <a:srgbClr val="B8441A"/>
      </a:accent1>
      <a:accent2>
        <a:srgbClr val="F08A4B"/>
      </a:accent2>
      <a:accent3>
        <a:srgbClr val="59616A"/>
      </a:accent3>
      <a:accent4>
        <a:srgbClr val="C9CFD3"/>
      </a:accent4>
      <a:accent5>
        <a:srgbClr val="9AA3AA"/>
      </a:accent5>
      <a:accent6>
        <a:srgbClr val="9AA0A6"/>
      </a:accent6>
      <a:hlink>
        <a:srgbClr val="0563C1"/>
      </a:hlink>
      <a:folHlink>
        <a:srgbClr val="954F72"/>
      </a:folHlink>
    </a:clrScheme>
    <a:fontScheme name="Металлургический комплекс России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1079</Words>
  <Application>Microsoft Macintosh PowerPoint</Application>
  <PresentationFormat>Широкоэкранный</PresentationFormat>
  <Paragraphs>157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5" baseType="lpstr">
      <vt:lpstr>Arial</vt:lpstr>
      <vt:lpstr>Металлургический комплекс России</vt:lpstr>
      <vt:lpstr>Металлургический комплекс России</vt:lpstr>
      <vt:lpstr>Чему научимся сегодня</vt:lpstr>
      <vt:lpstr>Состав металлургического комплекса</vt:lpstr>
      <vt:lpstr>Цикл чёрной металлургии</vt:lpstr>
      <vt:lpstr>Важные понятия</vt:lpstr>
      <vt:lpstr>Где строят металлургические заводы</vt:lpstr>
      <vt:lpstr>Базы чёрной металлургии</vt:lpstr>
      <vt:lpstr>Цветная металлургия: основные центры</vt:lpstr>
      <vt:lpstr>Влияние металлургии на природу</vt:lpstr>
      <vt:lpstr>Где острее всего и что делать</vt:lpstr>
      <vt:lpstr>Стратегия развития металлургии до 2030 года</vt:lpstr>
      <vt:lpstr>Проверим себя</vt:lpstr>
      <vt:lpstr>Рефлексия и домашнее задание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Металлургический комплекс России</dc:title>
  <dc:subject/>
  <dc:creator/>
  <cp:lastModifiedBy>Немичев Алексей Владимирович</cp:lastModifiedBy>
  <cp:revision>2</cp:revision>
  <dcterms:created xsi:type="dcterms:W3CDTF">2026-10-11T10:19:03Z</dcterms:created>
  <dcterms:modified xsi:type="dcterms:W3CDTF">2026-10-11T10:44:01Z</dcterms:modified>
</cp:coreProperties>
</file>