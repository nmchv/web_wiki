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6c868265-dec3-a8f2-322a-789f2cae4c0f}">
          <p14:sldIdLst>
            <p14:sldId id="256"/>
            <p14:sldId id="257"/>
          </p14:sldIdLst>
        </p14:section>
        <p14:section name="Россия в мире" id="{0f52b184-0b1b-9fdf-254a-a2d316963e62}">
          <p14:sldIdLst>
            <p14:sldId id="258"/>
          </p14:sldIdLst>
        </p14:section>
        <p14:section name="Термины и технология" id="{a4a69cc7-5f2a-81eb-f643-eaaa94932486}">
          <p14:sldIdLst>
            <p14:sldId id="259"/>
            <p14:sldId id="260"/>
            <p14:sldId id="261"/>
            <p14:sldId id="262"/>
            <p14:sldId id="263"/>
          </p14:sldIdLst>
        </p14:section>
        <p14:section name="География" id="{ef8d6070-89a4-e5d4-b391-4572c0f6cb83}">
          <p14:sldIdLst>
            <p14:sldId id="264"/>
            <p14:sldId id="265"/>
            <p14:sldId id="266"/>
          </p14:sldIdLst>
        </p14:section>
        <p14:section name="Итоги" id="{acb4e015-3121-949d-3cc4-9f08fd41ac3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A33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2A33"/>
                </a:solidFill>
                <a:latin typeface="+mn-lt"/>
              </a:rPr>
              <a:t>Первичный алюминий, 2025 (оценка), млн т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Первичный алюминий, млн т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5C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5C7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53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5C7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5C7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Китай</c:v>
                  </c:pt>
                  <c:pt idx="1">
                    <c:v>Индия</c:v>
                  </c:pt>
                  <c:pt idx="2">
                    <c:v>Россия</c:v>
                  </c:pt>
                  <c:pt idx="3">
                    <c:v>Канада</c:v>
                  </c:pt>
                  <c:pt idx="4">
                    <c:v>ОАЭ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4.2</c:v>
                </c:pt>
                <c:pt idx="2">
                  <c:v>3.9</c:v>
                </c:pt>
                <c:pt idx="3">
                  <c:v>3.3</c:v>
                </c:pt>
                <c:pt idx="4">
                  <c:v>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F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Урок 20 минут, только теория. Начните с вопроса: какие металлы, кроме железа, вы используете каждый день (алюминиевая фольга, медные провода, никель в монетах и батарейках)?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минуты. Дать определение и классификацию по физическим свойствам и значению. Название «цветные» условное: исторически так назвали металлы, не похожие по цвету на железо и его сплавы.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минуты. Данные Геологической службы США (USGS), оценка 2025 года. Россия даёт около 5 % мирового алюминия и добычи никеля и около 3 % рафинированной меди; Китай производит больше половины мирового алюминия. Отдельно отметьте: Россия — один из мировых лидеров по палладию (Норильск), точную долю уточняйте в свежих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минуты. Ученики записывают термины в словарь. Пример: в медной руде металла от долей процента до нескольких процентов, поэтому руду сначала обогащают и получают концентрат.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минуты. Связать термины с технологической цепочкой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минуты. Пройти по цепочке и назвать, какой термин к какому этапу относится: обогащение (флотация), передел (пирометаллургия или гидрометаллургия), рафинирование (электролиз).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минуты. Алюминий — самый показательный пример энергоёмкой отрасли: поэтому заводы электролиза строят у мощных электростанций, а глинозём получают отдельно, ближе к сырью. Значения расхода округлённые, типичные для отрасли.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минуты. Сразу связать с факторами размещения на следующем слайде: бедные руды тянут обогащение к месторождениям, энергоёмкость тянет плавку лёгких металлов к дешёвой энергии.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минуты. Правило: тяжёлые цветные металлы тяготеют к сырью, лёгкие — к энергии. Исключение для глинозёма: его получают ближе к сырью, а электролиз — у электростанций.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минуты. Показывать центры на карте атласа. Подчеркнуть: Норильск и Кольский полуостров — основа никелевой и медной промышленности страны; Сибирь — главный район алюминия благодаря гидроэнергетике.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минуты. Закрепить связь «металл → фактор → район»: алюминий — энергия (Сибирь), никель и медь — сырьё (Норильск, Урал), магний и титан — Урал (сырьё и энергия).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Последняя минута: повторить главные выводы и термины, ответить на вопросы класса.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5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Цветная металлургия России</a:t>
            </a:r>
            <a:endParaRPr lang="en-US" sz="5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Место в мировом производстве, технология, районы и центры · география, 9 класс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Что такое цветная металлургия</a:t>
            </a:r>
            <a:endParaRPr lang="en-US" sz="3400" dirty="0"/>
          </a:p>
        </p:txBody>
      </p:sp>
      <p:sp>
        <p:nvSpPr>
          <p:cNvPr id="3" name="Определение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4" name="Текст определения"/>
          <p:cNvSpPr txBox="1"/>
          <p:nvPr/>
        </p:nvSpPr>
        <p:spPr>
          <a:xfrm>
            <a:off x="868680" y="16459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Цветная металлургия</a:t>
            </a:r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 — отрасль, которая производит все металлы, кроме железа, и их сплавы.</a:t>
            </a:r>
            <a:endParaRPr lang="en-US" sz="2600" dirty="0"/>
          </a:p>
        </p:txBody>
      </p:sp>
      <p:sp>
        <p:nvSpPr>
          <p:cNvPr id="5" name="Группа 1"/>
          <p:cNvSpPr/>
          <p:nvPr/>
        </p:nvSpPr>
        <p:spPr>
          <a:xfrm>
            <a:off x="548640" y="32918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6" name="Название группы 1"/>
          <p:cNvSpPr txBox="1"/>
          <p:nvPr/>
        </p:nvSpPr>
        <p:spPr>
          <a:xfrm>
            <a:off x="77724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Тяжёлые</a:t>
            </a:r>
            <a:endParaRPr lang="en-US" sz="2400" dirty="0"/>
          </a:p>
        </p:txBody>
      </p:sp>
      <p:sp>
        <p:nvSpPr>
          <p:cNvPr id="7" name="Металлы группы 1"/>
          <p:cNvSpPr txBox="1"/>
          <p:nvPr/>
        </p:nvSpPr>
        <p:spPr>
          <a:xfrm>
            <a:off x="777240" y="4114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Медь, никель, свинец, цинк, олово</a:t>
            </a:r>
            <a:endParaRPr lang="en-US" sz="1800" dirty="0"/>
          </a:p>
        </p:txBody>
      </p:sp>
      <p:sp>
        <p:nvSpPr>
          <p:cNvPr id="8" name="Признак группы 1"/>
          <p:cNvSpPr txBox="1"/>
          <p:nvPr/>
        </p:nvSpPr>
        <p:spPr>
          <a:xfrm>
            <a:off x="77724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Большая плотность</a:t>
            </a:r>
            <a:endParaRPr lang="en-US" sz="1500" dirty="0"/>
          </a:p>
        </p:txBody>
      </p:sp>
      <p:sp>
        <p:nvSpPr>
          <p:cNvPr id="9" name="Группа 2"/>
          <p:cNvSpPr/>
          <p:nvPr/>
        </p:nvSpPr>
        <p:spPr>
          <a:xfrm>
            <a:off x="3364992" y="32918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Название группы 2"/>
          <p:cNvSpPr txBox="1"/>
          <p:nvPr/>
        </p:nvSpPr>
        <p:spPr>
          <a:xfrm>
            <a:off x="3593592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Лёгкие</a:t>
            </a:r>
            <a:endParaRPr lang="en-US" sz="2400" dirty="0"/>
          </a:p>
        </p:txBody>
      </p:sp>
      <p:sp>
        <p:nvSpPr>
          <p:cNvPr id="11" name="Металлы группы 2"/>
          <p:cNvSpPr txBox="1"/>
          <p:nvPr/>
        </p:nvSpPr>
        <p:spPr>
          <a:xfrm>
            <a:off x="3593592" y="4114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Алюминий, магний, титан</a:t>
            </a:r>
            <a:endParaRPr lang="en-US" sz="1800" dirty="0"/>
          </a:p>
        </p:txBody>
      </p:sp>
      <p:sp>
        <p:nvSpPr>
          <p:cNvPr id="12" name="Признак группы 2"/>
          <p:cNvSpPr txBox="1"/>
          <p:nvPr/>
        </p:nvSpPr>
        <p:spPr>
          <a:xfrm>
            <a:off x="3593592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Малая плотность, прочность</a:t>
            </a:r>
            <a:endParaRPr lang="en-US" sz="1500" dirty="0"/>
          </a:p>
        </p:txBody>
      </p:sp>
      <p:sp>
        <p:nvSpPr>
          <p:cNvPr id="13" name="Группа 3"/>
          <p:cNvSpPr/>
          <p:nvPr/>
        </p:nvSpPr>
        <p:spPr>
          <a:xfrm>
            <a:off x="6181344" y="32918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Название группы 3"/>
          <p:cNvSpPr txBox="1"/>
          <p:nvPr/>
        </p:nvSpPr>
        <p:spPr>
          <a:xfrm>
            <a:off x="6409944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Благородные</a:t>
            </a:r>
            <a:endParaRPr lang="en-US" sz="2400" dirty="0"/>
          </a:p>
        </p:txBody>
      </p:sp>
      <p:sp>
        <p:nvSpPr>
          <p:cNvPr id="15" name="Металлы группы 3"/>
          <p:cNvSpPr txBox="1"/>
          <p:nvPr/>
        </p:nvSpPr>
        <p:spPr>
          <a:xfrm>
            <a:off x="6409944" y="4114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Золото, серебро, платина, палладий</a:t>
            </a:r>
            <a:endParaRPr lang="en-US" sz="1800" dirty="0"/>
          </a:p>
        </p:txBody>
      </p:sp>
      <p:sp>
        <p:nvSpPr>
          <p:cNvPr id="16" name="Признак группы 3"/>
          <p:cNvSpPr txBox="1"/>
          <p:nvPr/>
        </p:nvSpPr>
        <p:spPr>
          <a:xfrm>
            <a:off x="6409944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Не окисляются, дорогие</a:t>
            </a:r>
            <a:endParaRPr lang="en-US" sz="1500" dirty="0"/>
          </a:p>
        </p:txBody>
      </p:sp>
      <p:sp>
        <p:nvSpPr>
          <p:cNvPr id="17" name="Группа 4"/>
          <p:cNvSpPr/>
          <p:nvPr/>
        </p:nvSpPr>
        <p:spPr>
          <a:xfrm>
            <a:off x="8997696" y="32918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8" name="Название группы 4"/>
          <p:cNvSpPr txBox="1"/>
          <p:nvPr/>
        </p:nvSpPr>
        <p:spPr>
          <a:xfrm>
            <a:off x="9226296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Редкие</a:t>
            </a:r>
            <a:endParaRPr lang="en-US" sz="2400" dirty="0"/>
          </a:p>
        </p:txBody>
      </p:sp>
      <p:sp>
        <p:nvSpPr>
          <p:cNvPr id="19" name="Металлы группы 4"/>
          <p:cNvSpPr txBox="1"/>
          <p:nvPr/>
        </p:nvSpPr>
        <p:spPr>
          <a:xfrm>
            <a:off x="9226296" y="4114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Литий, вольфрам, молибден, цирконий</a:t>
            </a:r>
            <a:endParaRPr lang="en-US" sz="1800" dirty="0"/>
          </a:p>
        </p:txBody>
      </p:sp>
      <p:sp>
        <p:nvSpPr>
          <p:cNvPr id="20" name="Признак группы 4"/>
          <p:cNvSpPr txBox="1"/>
          <p:nvPr/>
        </p:nvSpPr>
        <p:spPr>
          <a:xfrm>
            <a:off x="9226296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Малые запасы и объёмы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Место России в мировом производстве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Карточка показателя 1"/>
          <p:cNvSpPr/>
          <p:nvPr/>
        </p:nvSpPr>
        <p:spPr>
          <a:xfrm>
            <a:off x="7955280" y="1645920"/>
            <a:ext cx="368503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Показатель 1"/>
          <p:cNvSpPr txBox="1"/>
          <p:nvPr/>
        </p:nvSpPr>
        <p:spPr>
          <a:xfrm>
            <a:off x="8183880" y="1737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3-е место</a:t>
            </a:r>
            <a:endParaRPr lang="en-US" sz="3200" dirty="0"/>
          </a:p>
        </p:txBody>
      </p:sp>
      <p:sp>
        <p:nvSpPr>
          <p:cNvPr id="6" name="Подпись показателя 1"/>
          <p:cNvSpPr txBox="1"/>
          <p:nvPr/>
        </p:nvSpPr>
        <p:spPr>
          <a:xfrm>
            <a:off x="818388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 выплавке первичного алюминия, 3,9 млн т</a:t>
            </a:r>
            <a:endParaRPr lang="en-US" sz="1400" dirty="0"/>
          </a:p>
        </p:txBody>
      </p:sp>
      <p:sp>
        <p:nvSpPr>
          <p:cNvPr id="7" name="Карточка показателя 2"/>
          <p:cNvSpPr/>
          <p:nvPr/>
        </p:nvSpPr>
        <p:spPr>
          <a:xfrm>
            <a:off x="7955280" y="3200400"/>
            <a:ext cx="368503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Показатель 2"/>
          <p:cNvSpPr txBox="1"/>
          <p:nvPr/>
        </p:nvSpPr>
        <p:spPr>
          <a:xfrm>
            <a:off x="8183880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3-е место</a:t>
            </a:r>
            <a:endParaRPr lang="en-US" sz="3200" dirty="0"/>
          </a:p>
        </p:txBody>
      </p:sp>
      <p:sp>
        <p:nvSpPr>
          <p:cNvPr id="9" name="Подпись показателя 2"/>
          <p:cNvSpPr txBox="1"/>
          <p:nvPr/>
        </p:nvSpPr>
        <p:spPr>
          <a:xfrm>
            <a:off x="818388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 добыче никеля, около 200 тыс. т</a:t>
            </a:r>
            <a:endParaRPr lang="en-US" sz="1400" dirty="0"/>
          </a:p>
        </p:txBody>
      </p:sp>
      <p:sp>
        <p:nvSpPr>
          <p:cNvPr id="10" name="Карточка показателя 3"/>
          <p:cNvSpPr/>
          <p:nvPr/>
        </p:nvSpPr>
        <p:spPr>
          <a:xfrm>
            <a:off x="7955280" y="4754880"/>
            <a:ext cx="368503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Показатель 3"/>
          <p:cNvSpPr txBox="1"/>
          <p:nvPr/>
        </p:nvSpPr>
        <p:spPr>
          <a:xfrm>
            <a:off x="8183880" y="4846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5-е место</a:t>
            </a:r>
            <a:endParaRPr lang="en-US" sz="3200" dirty="0"/>
          </a:p>
        </p:txBody>
      </p:sp>
      <p:sp>
        <p:nvSpPr>
          <p:cNvPr id="12" name="Подпись показателя 3"/>
          <p:cNvSpPr txBox="1"/>
          <p:nvPr/>
        </p:nvSpPr>
        <p:spPr>
          <a:xfrm>
            <a:off x="8183880" y="5486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 производству рафинированной меди, около 950 тыс. 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Термины: сырьё и обогащение</a:t>
            </a:r>
            <a:endParaRPr lang="en-US" sz="3400" dirty="0"/>
          </a:p>
        </p:txBody>
      </p:sp>
      <p:graphicFrame>
        <p:nvGraphicFramePr>
          <p:cNvPr id="5" name="Таблица терминов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912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Термин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Определение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Руда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Горная порода, из которой выгодно извлекать металл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Полиметаллическая руда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Руда, содержащая несколько металлов: медь, цинк, свинец, золото и другие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Обогащение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Отделение полезного минерала от пустой породы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Флотация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Способ обогащения: частицы нужного минерала всплывают с пузырьками воздуха в воде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Концентрат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Продукт обогащения с повышенным содержанием металла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Комплексное использование сырья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Извлечение из руды всех ценных компонентов, в том числе попутных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Термины: выплавка и очистка</a:t>
            </a:r>
            <a:endParaRPr lang="en-US" sz="3400" dirty="0"/>
          </a:p>
        </p:txBody>
      </p:sp>
      <p:graphicFrame>
        <p:nvGraphicFramePr>
          <p:cNvPr id="6" name="Таблица терминов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912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Термин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Определение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Пирометаллургия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Получение металла при высокой температуре, то есть плавкой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Гидрометаллургия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Получение металла из растворов (выщелачиванием)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Электролиз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Выделение металла из расплава или раствора электрическим током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Рафинирование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Очистка чернового металла от примесей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Глинозём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Оксид алюминия, сырьё для выплавки алюминия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Сплав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Материал из нескольких металлов или металла с добавками, например дюралюминий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Вторичный металл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Металл, полученный переработкой лома и отходов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Технологическая цепочка</a:t>
            </a:r>
            <a:endParaRPr lang="en-US" sz="3400" dirty="0"/>
          </a:p>
        </p:txBody>
      </p:sp>
      <p:sp>
        <p:nvSpPr>
          <p:cNvPr id="3" name="Этап 1"/>
          <p:cNvSpPr/>
          <p:nvPr/>
        </p:nvSpPr>
        <p:spPr>
          <a:xfrm>
            <a:off x="548640" y="164592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4" name="Номер этапа 1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Цифра этапа 1"/>
          <p:cNvSpPr txBox="1"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Название этапа 1"/>
          <p:cNvSpPr txBox="1"/>
          <p:nvPr/>
        </p:nvSpPr>
        <p:spPr>
          <a:xfrm>
            <a:off x="685800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Добыча руды</a:t>
            </a:r>
            <a:endParaRPr lang="en-US" sz="1800" dirty="0"/>
          </a:p>
        </p:txBody>
      </p:sp>
      <p:sp>
        <p:nvSpPr>
          <p:cNvPr id="7" name="Описание этапа 1"/>
          <p:cNvSpPr txBox="1"/>
          <p:nvPr/>
        </p:nvSpPr>
        <p:spPr>
          <a:xfrm>
            <a:off x="685800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Карьер или шахта</a:t>
            </a:r>
            <a:endParaRPr lang="en-US" sz="1400" dirty="0"/>
          </a:p>
        </p:txBody>
      </p:sp>
      <p:sp>
        <p:nvSpPr>
          <p:cNvPr id="8" name="Стрелка 1"/>
          <p:cNvSpPr/>
          <p:nvPr/>
        </p:nvSpPr>
        <p:spPr>
          <a:xfrm>
            <a:off x="2468880" y="269748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Этап 2"/>
          <p:cNvSpPr/>
          <p:nvPr/>
        </p:nvSpPr>
        <p:spPr>
          <a:xfrm>
            <a:off x="2880360" y="164592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0" name="Номер этапа 2"/>
          <p:cNvSpPr/>
          <p:nvPr/>
        </p:nvSpPr>
        <p:spPr>
          <a:xfrm>
            <a:off x="301752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Цифра этапа 2"/>
          <p:cNvSpPr txBox="1"/>
          <p:nvPr/>
        </p:nvSpPr>
        <p:spPr>
          <a:xfrm>
            <a:off x="3017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Название этапа 2"/>
          <p:cNvSpPr txBox="1"/>
          <p:nvPr/>
        </p:nvSpPr>
        <p:spPr>
          <a:xfrm>
            <a:off x="3017520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Обогащение</a:t>
            </a:r>
            <a:endParaRPr lang="en-US" sz="1800" dirty="0"/>
          </a:p>
        </p:txBody>
      </p:sp>
      <p:sp>
        <p:nvSpPr>
          <p:cNvPr id="13" name="Описание этапа 2"/>
          <p:cNvSpPr txBox="1"/>
          <p:nvPr/>
        </p:nvSpPr>
        <p:spPr>
          <a:xfrm>
            <a:off x="3017520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Получают концентрат</a:t>
            </a:r>
            <a:endParaRPr lang="en-US" sz="1400" dirty="0"/>
          </a:p>
        </p:txBody>
      </p:sp>
      <p:sp>
        <p:nvSpPr>
          <p:cNvPr id="14" name="Стрелка 2"/>
          <p:cNvSpPr/>
          <p:nvPr/>
        </p:nvSpPr>
        <p:spPr>
          <a:xfrm>
            <a:off x="4800600" y="269748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Этап 3"/>
          <p:cNvSpPr/>
          <p:nvPr/>
        </p:nvSpPr>
        <p:spPr>
          <a:xfrm>
            <a:off x="5212080" y="164592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6" name="Номер этапа 3"/>
          <p:cNvSpPr/>
          <p:nvPr/>
        </p:nvSpPr>
        <p:spPr>
          <a:xfrm>
            <a:off x="5349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Цифра этапа 3"/>
          <p:cNvSpPr txBox="1"/>
          <p:nvPr/>
        </p:nvSpPr>
        <p:spPr>
          <a:xfrm>
            <a:off x="5349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Название этапа 3"/>
          <p:cNvSpPr txBox="1"/>
          <p:nvPr/>
        </p:nvSpPr>
        <p:spPr>
          <a:xfrm>
            <a:off x="5349240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Передел</a:t>
            </a:r>
            <a:endParaRPr lang="en-US" sz="1800" dirty="0"/>
          </a:p>
        </p:txBody>
      </p:sp>
      <p:sp>
        <p:nvSpPr>
          <p:cNvPr id="19" name="Описание этапа 3"/>
          <p:cNvSpPr txBox="1"/>
          <p:nvPr/>
        </p:nvSpPr>
        <p:spPr>
          <a:xfrm>
            <a:off x="5349240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Плавка или выщелачивание</a:t>
            </a:r>
            <a:endParaRPr lang="en-US" sz="1400" dirty="0"/>
          </a:p>
        </p:txBody>
      </p:sp>
      <p:sp>
        <p:nvSpPr>
          <p:cNvPr id="20" name="Стрелка 3"/>
          <p:cNvSpPr/>
          <p:nvPr/>
        </p:nvSpPr>
        <p:spPr>
          <a:xfrm>
            <a:off x="7132320" y="269748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Этап 4"/>
          <p:cNvSpPr/>
          <p:nvPr/>
        </p:nvSpPr>
        <p:spPr>
          <a:xfrm>
            <a:off x="7543800" y="164592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2" name="Номер этапа 4"/>
          <p:cNvSpPr/>
          <p:nvPr/>
        </p:nvSpPr>
        <p:spPr>
          <a:xfrm>
            <a:off x="768096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Цифра этапа 4"/>
          <p:cNvSpPr txBox="1"/>
          <p:nvPr/>
        </p:nvSpPr>
        <p:spPr>
          <a:xfrm>
            <a:off x="7680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Название этапа 4"/>
          <p:cNvSpPr txBox="1"/>
          <p:nvPr/>
        </p:nvSpPr>
        <p:spPr>
          <a:xfrm>
            <a:off x="7680960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Очистка</a:t>
            </a:r>
            <a:endParaRPr lang="en-US" sz="1800" dirty="0"/>
          </a:p>
        </p:txBody>
      </p:sp>
      <p:sp>
        <p:nvSpPr>
          <p:cNvPr id="25" name="Описание этапа 4"/>
          <p:cNvSpPr txBox="1"/>
          <p:nvPr/>
        </p:nvSpPr>
        <p:spPr>
          <a:xfrm>
            <a:off x="7680960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Рафинирование, электролиз</a:t>
            </a:r>
            <a:endParaRPr lang="en-US" sz="1400" dirty="0"/>
          </a:p>
        </p:txBody>
      </p:sp>
      <p:sp>
        <p:nvSpPr>
          <p:cNvPr id="26" name="Стрелка 4"/>
          <p:cNvSpPr/>
          <p:nvPr/>
        </p:nvSpPr>
        <p:spPr>
          <a:xfrm>
            <a:off x="9464040" y="269748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7" name="Этап 5"/>
          <p:cNvSpPr/>
          <p:nvPr/>
        </p:nvSpPr>
        <p:spPr>
          <a:xfrm>
            <a:off x="9875520" y="164592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8" name="Номер этапа 5"/>
          <p:cNvSpPr/>
          <p:nvPr/>
        </p:nvSpPr>
        <p:spPr>
          <a:xfrm>
            <a:off x="1001268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Цифра этапа 5"/>
          <p:cNvSpPr txBox="1"/>
          <p:nvPr/>
        </p:nvSpPr>
        <p:spPr>
          <a:xfrm>
            <a:off x="10012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Название этапа 5"/>
          <p:cNvSpPr txBox="1"/>
          <p:nvPr/>
        </p:nvSpPr>
        <p:spPr>
          <a:xfrm>
            <a:off x="10012680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Сплавы</a:t>
            </a:r>
            <a:endParaRPr lang="en-US" sz="1800" dirty="0"/>
          </a:p>
        </p:txBody>
      </p:sp>
      <p:sp>
        <p:nvSpPr>
          <p:cNvPr id="31" name="Описание этапа 5"/>
          <p:cNvSpPr txBox="1"/>
          <p:nvPr/>
        </p:nvSpPr>
        <p:spPr>
          <a:xfrm>
            <a:off x="10012680" y="32461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Прокат, литьё, проволока</a:t>
            </a:r>
            <a:endParaRPr lang="en-US" sz="1400" dirty="0"/>
          </a:p>
        </p:txBody>
      </p:sp>
      <p:sp>
        <p:nvSpPr>
          <p:cNvPr id="32" name="Плашка вывода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33" name="Текст вывода"/>
          <p:cNvSpPr txBox="1"/>
          <p:nvPr/>
        </p:nvSpPr>
        <p:spPr>
          <a:xfrm>
            <a:off x="868680" y="47548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Руды бедны: металла в них от долей процента до нескольких процентов. 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Поэтому руду обогащают у месторождения, а концентрат везут на завод.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Как получают алюминий</a:t>
            </a:r>
            <a:endParaRPr lang="en-US" sz="3400" dirty="0"/>
          </a:p>
        </p:txBody>
      </p:sp>
      <p:sp>
        <p:nvSpPr>
          <p:cNvPr id="3" name="Этап алюминия 1"/>
          <p:cNvSpPr/>
          <p:nvPr/>
        </p:nvSpPr>
        <p:spPr>
          <a:xfrm>
            <a:off x="548640" y="1645920"/>
            <a:ext cx="2377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Название этапа алюминия 1"/>
          <p:cNvSpPr txBox="1"/>
          <p:nvPr/>
        </p:nvSpPr>
        <p:spPr>
          <a:xfrm>
            <a:off x="73152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Боксит или нефелин</a:t>
            </a:r>
            <a:endParaRPr lang="en-US" sz="2000" dirty="0"/>
          </a:p>
        </p:txBody>
      </p:sp>
      <p:sp>
        <p:nvSpPr>
          <p:cNvPr id="5" name="Описание этапа алюминия 1"/>
          <p:cNvSpPr txBox="1"/>
          <p:nvPr/>
        </p:nvSpPr>
        <p:spPr>
          <a:xfrm>
            <a:off x="73152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Алюминиевое сырьё</a:t>
            </a:r>
            <a:endParaRPr lang="en-US" sz="1500" dirty="0"/>
          </a:p>
        </p:txBody>
      </p:sp>
      <p:sp>
        <p:nvSpPr>
          <p:cNvPr id="6" name="Стрелка алюминия 1"/>
          <p:cNvSpPr/>
          <p:nvPr/>
        </p:nvSpPr>
        <p:spPr>
          <a:xfrm>
            <a:off x="2971800" y="2377440"/>
            <a:ext cx="384048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Этап алюминия 2"/>
          <p:cNvSpPr/>
          <p:nvPr/>
        </p:nvSpPr>
        <p:spPr>
          <a:xfrm>
            <a:off x="3410712" y="1645920"/>
            <a:ext cx="2377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8" name="Название этапа алюминия 2"/>
          <p:cNvSpPr txBox="1"/>
          <p:nvPr/>
        </p:nvSpPr>
        <p:spPr>
          <a:xfrm>
            <a:off x="3593592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Глинозём</a:t>
            </a:r>
            <a:endParaRPr lang="en-US" sz="2000" dirty="0"/>
          </a:p>
        </p:txBody>
      </p:sp>
      <p:sp>
        <p:nvSpPr>
          <p:cNvPr id="9" name="Описание этапа алюминия 2"/>
          <p:cNvSpPr txBox="1"/>
          <p:nvPr/>
        </p:nvSpPr>
        <p:spPr>
          <a:xfrm>
            <a:off x="3593592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Оксид алюминия</a:t>
            </a:r>
            <a:endParaRPr lang="en-US" sz="1500" dirty="0"/>
          </a:p>
        </p:txBody>
      </p:sp>
      <p:sp>
        <p:nvSpPr>
          <p:cNvPr id="10" name="Стрелка алюминия 2"/>
          <p:cNvSpPr/>
          <p:nvPr/>
        </p:nvSpPr>
        <p:spPr>
          <a:xfrm>
            <a:off x="5833872" y="2377440"/>
            <a:ext cx="384048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Этап алюминия 3"/>
          <p:cNvSpPr/>
          <p:nvPr/>
        </p:nvSpPr>
        <p:spPr>
          <a:xfrm>
            <a:off x="6272784" y="1645920"/>
            <a:ext cx="2377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2" name="Название этапа алюминия 3"/>
          <p:cNvSpPr txBox="1"/>
          <p:nvPr/>
        </p:nvSpPr>
        <p:spPr>
          <a:xfrm>
            <a:off x="6455664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Электролиз</a:t>
            </a:r>
            <a:endParaRPr lang="en-US" sz="2000" dirty="0"/>
          </a:p>
        </p:txBody>
      </p:sp>
      <p:sp>
        <p:nvSpPr>
          <p:cNvPr id="13" name="Описание этапа алюминия 3"/>
          <p:cNvSpPr txBox="1"/>
          <p:nvPr/>
        </p:nvSpPr>
        <p:spPr>
          <a:xfrm>
            <a:off x="6455664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 расплаве криолита</a:t>
            </a:r>
            <a:endParaRPr lang="en-US" sz="1500" dirty="0"/>
          </a:p>
        </p:txBody>
      </p:sp>
      <p:sp>
        <p:nvSpPr>
          <p:cNvPr id="14" name="Стрелка алюминия 3"/>
          <p:cNvSpPr/>
          <p:nvPr/>
        </p:nvSpPr>
        <p:spPr>
          <a:xfrm>
            <a:off x="8695944" y="2377440"/>
            <a:ext cx="384048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Этап алюминия 4"/>
          <p:cNvSpPr/>
          <p:nvPr/>
        </p:nvSpPr>
        <p:spPr>
          <a:xfrm>
            <a:off x="9134856" y="1645920"/>
            <a:ext cx="2377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6" name="Название этапа алюминия 4"/>
          <p:cNvSpPr txBox="1"/>
          <p:nvPr/>
        </p:nvSpPr>
        <p:spPr>
          <a:xfrm>
            <a:off x="9317736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Алюминий</a:t>
            </a:r>
            <a:endParaRPr lang="en-US" sz="2000" dirty="0"/>
          </a:p>
        </p:txBody>
      </p:sp>
      <p:sp>
        <p:nvSpPr>
          <p:cNvPr id="17" name="Описание этапа алюминия 4"/>
          <p:cNvSpPr txBox="1"/>
          <p:nvPr/>
        </p:nvSpPr>
        <p:spPr>
          <a:xfrm>
            <a:off x="9317736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Первичный металл</a:t>
            </a:r>
            <a:endParaRPr lang="en-US" sz="1500" dirty="0"/>
          </a:p>
        </p:txBody>
      </p:sp>
      <p:sp>
        <p:nvSpPr>
          <p:cNvPr id="18" name="Показатель алюминия 1"/>
          <p:cNvSpPr/>
          <p:nvPr/>
        </p:nvSpPr>
        <p:spPr>
          <a:xfrm>
            <a:off x="548640" y="3840480"/>
            <a:ext cx="5449824" cy="219456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19" name="Число алюминия 1"/>
          <p:cNvSpPr txBox="1"/>
          <p:nvPr/>
        </p:nvSpPr>
        <p:spPr>
          <a:xfrm>
            <a:off x="914400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≈ 2 т</a:t>
            </a:r>
            <a:endParaRPr lang="en-US" sz="4000" dirty="0"/>
          </a:p>
        </p:txBody>
      </p:sp>
      <p:sp>
        <p:nvSpPr>
          <p:cNvPr id="20" name="Подпись алюминия 1"/>
          <p:cNvSpPr txBox="1"/>
          <p:nvPr/>
        </p:nvSpPr>
        <p:spPr>
          <a:xfrm>
            <a:off x="914400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глинозёма (из 4–5 т боксита) нужно на 1 т алюминия</a:t>
            </a:r>
            <a:endParaRPr lang="en-US" sz="2000" dirty="0"/>
          </a:p>
        </p:txBody>
      </p:sp>
      <p:sp>
        <p:nvSpPr>
          <p:cNvPr id="21" name="Показатель алюминия 2"/>
          <p:cNvSpPr/>
          <p:nvPr/>
        </p:nvSpPr>
        <p:spPr>
          <a:xfrm>
            <a:off x="6190488" y="3840480"/>
            <a:ext cx="5449824" cy="219456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22" name="Число алюминия 2"/>
          <p:cNvSpPr txBox="1"/>
          <p:nvPr/>
        </p:nvSpPr>
        <p:spPr>
          <a:xfrm>
            <a:off x="6556248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13–15 тыс. кВт·ч</a:t>
            </a:r>
            <a:endParaRPr lang="en-US" sz="4000" dirty="0"/>
          </a:p>
        </p:txBody>
      </p:sp>
      <p:sp>
        <p:nvSpPr>
          <p:cNvPr id="23" name="Подпись алюминия 2"/>
          <p:cNvSpPr txBox="1"/>
          <p:nvPr/>
        </p:nvSpPr>
        <p:spPr>
          <a:xfrm>
            <a:off x="6556248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электроэнергии расходуется на 1 т алюминия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Особенности технологии</a:t>
            </a:r>
            <a:endParaRPr lang="en-US" sz="3400" dirty="0"/>
          </a:p>
        </p:txBody>
      </p:sp>
      <p:sp>
        <p:nvSpPr>
          <p:cNvPr id="3" name="Карточка 1"/>
          <p:cNvSpPr/>
          <p:nvPr/>
        </p:nvSpPr>
        <p:spPr>
          <a:xfrm>
            <a:off x="548640" y="164592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Круг значка 1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Бедные руд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40280"/>
            <a:ext cx="365760" cy="365760"/>
          </a:xfrm>
          <a:prstGeom prst="rect">
            <a:avLst/>
          </a:prstGeom>
        </p:spPr>
      </p:pic>
      <p:sp>
        <p:nvSpPr>
          <p:cNvPr id="6" name="Заголовок 1"/>
          <p:cNvSpPr txBox="1"/>
          <p:nvPr/>
        </p:nvSpPr>
        <p:spPr>
          <a:xfrm>
            <a:off x="196596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Бедные руды</a:t>
            </a:r>
            <a:endParaRPr lang="en-US" sz="2000" dirty="0"/>
          </a:p>
        </p:txBody>
      </p:sp>
      <p:sp>
        <p:nvSpPr>
          <p:cNvPr id="7" name="Текст 1"/>
          <p:cNvSpPr txBox="1"/>
          <p:nvPr/>
        </p:nvSpPr>
        <p:spPr>
          <a:xfrm>
            <a:off x="1965960" y="2560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Металла в руде мало: нужны обогащение и перевозка концентрата</a:t>
            </a:r>
            <a:endParaRPr lang="en-US" sz="1600" dirty="0"/>
          </a:p>
        </p:txBody>
      </p:sp>
      <p:sp>
        <p:nvSpPr>
          <p:cNvPr id="8" name="Карточка 2"/>
          <p:cNvSpPr/>
          <p:nvPr/>
        </p:nvSpPr>
        <p:spPr>
          <a:xfrm>
            <a:off x="6190488" y="164592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Круг значка 2"/>
          <p:cNvSpPr/>
          <p:nvPr/>
        </p:nvSpPr>
        <p:spPr>
          <a:xfrm>
            <a:off x="6510528" y="2011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Многостадийность и комплексност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40280"/>
            <a:ext cx="365760" cy="365760"/>
          </a:xfrm>
          <a:prstGeom prst="rect">
            <a:avLst/>
          </a:prstGeom>
        </p:spPr>
      </p:pic>
      <p:sp>
        <p:nvSpPr>
          <p:cNvPr id="11" name="Заголовок 2"/>
          <p:cNvSpPr txBox="1"/>
          <p:nvPr/>
        </p:nvSpPr>
        <p:spPr>
          <a:xfrm>
            <a:off x="7607808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Многостадийность и комплексность</a:t>
            </a:r>
            <a:endParaRPr lang="en-US" sz="2000" dirty="0"/>
          </a:p>
        </p:txBody>
      </p:sp>
      <p:sp>
        <p:nvSpPr>
          <p:cNvPr id="12" name="Текст 2"/>
          <p:cNvSpPr txBox="1"/>
          <p:nvPr/>
        </p:nvSpPr>
        <p:spPr>
          <a:xfrm>
            <a:off x="7607808" y="2560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Добыча, обогащение, плавка, рафинирование; из руды берут и попутные металлы, и серу</a:t>
            </a:r>
            <a:endParaRPr lang="en-US" sz="1600" dirty="0"/>
          </a:p>
        </p:txBody>
      </p:sp>
      <p:sp>
        <p:nvSpPr>
          <p:cNvPr id="13" name="Карточка 3"/>
          <p:cNvSpPr/>
          <p:nvPr/>
        </p:nvSpPr>
        <p:spPr>
          <a:xfrm>
            <a:off x="548640" y="393192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Круг значка 3"/>
          <p:cNvSpPr/>
          <p:nvPr/>
        </p:nvSpPr>
        <p:spPr>
          <a:xfrm>
            <a:off x="868680" y="4297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Энергоёмкост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26280"/>
            <a:ext cx="365760" cy="365760"/>
          </a:xfrm>
          <a:prstGeom prst="rect">
            <a:avLst/>
          </a:prstGeom>
        </p:spPr>
      </p:pic>
      <p:sp>
        <p:nvSpPr>
          <p:cNvPr id="16" name="Заголовок 3"/>
          <p:cNvSpPr txBox="1"/>
          <p:nvPr/>
        </p:nvSpPr>
        <p:spPr>
          <a:xfrm>
            <a:off x="1965960" y="4160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Энергоёмкость</a:t>
            </a:r>
            <a:endParaRPr lang="en-US" sz="2000" dirty="0"/>
          </a:p>
        </p:txBody>
      </p:sp>
      <p:sp>
        <p:nvSpPr>
          <p:cNvPr id="17" name="Текст 3"/>
          <p:cNvSpPr txBox="1"/>
          <p:nvPr/>
        </p:nvSpPr>
        <p:spPr>
          <a:xfrm>
            <a:off x="1965960" y="4846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Особенно у лёгких металлов: алюминия, магния, титана</a:t>
            </a:r>
            <a:endParaRPr lang="en-US" sz="1600" dirty="0"/>
          </a:p>
        </p:txBody>
      </p:sp>
      <p:sp>
        <p:nvSpPr>
          <p:cNvPr id="18" name="Карточка 4"/>
          <p:cNvSpPr/>
          <p:nvPr/>
        </p:nvSpPr>
        <p:spPr>
          <a:xfrm>
            <a:off x="6190488" y="393192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Круг значка 4"/>
          <p:cNvSpPr/>
          <p:nvPr/>
        </p:nvSpPr>
        <p:spPr>
          <a:xfrm>
            <a:off x="6510528" y="4297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Загрязнени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526280"/>
            <a:ext cx="365760" cy="365760"/>
          </a:xfrm>
          <a:prstGeom prst="rect">
            <a:avLst/>
          </a:prstGeom>
        </p:spPr>
      </p:pic>
      <p:sp>
        <p:nvSpPr>
          <p:cNvPr id="21" name="Заголовок 4"/>
          <p:cNvSpPr txBox="1"/>
          <p:nvPr/>
        </p:nvSpPr>
        <p:spPr>
          <a:xfrm>
            <a:off x="7607808" y="4160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Загрязнение</a:t>
            </a:r>
            <a:endParaRPr lang="en-US" sz="2000" dirty="0"/>
          </a:p>
        </p:txBody>
      </p:sp>
      <p:sp>
        <p:nvSpPr>
          <p:cNvPr id="22" name="Текст 4"/>
          <p:cNvSpPr txBox="1"/>
          <p:nvPr/>
        </p:nvSpPr>
        <p:spPr>
          <a:xfrm>
            <a:off x="7607808" y="4846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Сернистый газ, пыль, фториды, сточные воды: нужна очистка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Факторы размещения предприятий</a:t>
            </a:r>
            <a:endParaRPr lang="en-US" sz="3400" dirty="0"/>
          </a:p>
        </p:txBody>
      </p:sp>
      <p:sp>
        <p:nvSpPr>
          <p:cNvPr id="3" name="Фактор 1"/>
          <p:cNvSpPr/>
          <p:nvPr/>
        </p:nvSpPr>
        <p:spPr>
          <a:xfrm>
            <a:off x="548640" y="1645920"/>
            <a:ext cx="3520440" cy="43891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Метка фактора 1"/>
          <p:cNvSpPr/>
          <p:nvPr/>
        </p:nvSpPr>
        <p:spPr>
          <a:xfrm>
            <a:off x="822960" y="1874520"/>
            <a:ext cx="237744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</p:sp>
      <p:sp>
        <p:nvSpPr>
          <p:cNvPr id="5" name="Текст метки 1"/>
          <p:cNvSpPr txBox="1"/>
          <p:nvPr/>
        </p:nvSpPr>
        <p:spPr>
          <a:xfrm>
            <a:off x="82296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Тяжёлые металлы</a:t>
            </a:r>
            <a:endParaRPr lang="en-US" sz="1400" dirty="0"/>
          </a:p>
        </p:txBody>
      </p:sp>
      <p:sp>
        <p:nvSpPr>
          <p:cNvPr id="6" name="Название фактора 1"/>
          <p:cNvSpPr txBox="1"/>
          <p:nvPr/>
        </p:nvSpPr>
        <p:spPr>
          <a:xfrm>
            <a:off x="82296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Сырьевой</a:t>
            </a:r>
            <a:endParaRPr lang="en-US" sz="2600" dirty="0"/>
          </a:p>
        </p:txBody>
      </p:sp>
      <p:sp>
        <p:nvSpPr>
          <p:cNvPr id="7" name="Описание фактора 1"/>
          <p:cNvSpPr txBox="1"/>
          <p:nvPr/>
        </p:nvSpPr>
        <p:spPr>
          <a:xfrm>
            <a:off x="822960" y="3474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Медь, никель, свинец, цинк, олово: заводы строят рядом с рудой и обогатительными фабриками</a:t>
            </a:r>
            <a:endParaRPr lang="en-US" sz="2200" dirty="0"/>
          </a:p>
        </p:txBody>
      </p:sp>
      <p:sp>
        <p:nvSpPr>
          <p:cNvPr id="8" name="Фактор 2"/>
          <p:cNvSpPr/>
          <p:nvPr/>
        </p:nvSpPr>
        <p:spPr>
          <a:xfrm>
            <a:off x="4334256" y="1645920"/>
            <a:ext cx="3520440" cy="43891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9" name="Метка фактора 2"/>
          <p:cNvSpPr/>
          <p:nvPr/>
        </p:nvSpPr>
        <p:spPr>
          <a:xfrm>
            <a:off x="4608576" y="1874520"/>
            <a:ext cx="2377440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/>
        </p:spPr>
      </p:sp>
      <p:sp>
        <p:nvSpPr>
          <p:cNvPr id="10" name="Текст метки 2"/>
          <p:cNvSpPr txBox="1"/>
          <p:nvPr/>
        </p:nvSpPr>
        <p:spPr>
          <a:xfrm>
            <a:off x="4608576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Лёгкие металлы</a:t>
            </a:r>
            <a:endParaRPr lang="en-US" sz="1400" dirty="0"/>
          </a:p>
        </p:txBody>
      </p:sp>
      <p:sp>
        <p:nvSpPr>
          <p:cNvPr id="11" name="Название фактора 2"/>
          <p:cNvSpPr txBox="1"/>
          <p:nvPr/>
        </p:nvSpPr>
        <p:spPr>
          <a:xfrm>
            <a:off x="4608576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Энергетический</a:t>
            </a:r>
            <a:endParaRPr lang="en-US" sz="2600" dirty="0"/>
          </a:p>
        </p:txBody>
      </p:sp>
      <p:sp>
        <p:nvSpPr>
          <p:cNvPr id="12" name="Описание фактора 2"/>
          <p:cNvSpPr txBox="1"/>
          <p:nvPr/>
        </p:nvSpPr>
        <p:spPr>
          <a:xfrm>
            <a:off x="4608576" y="3474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Алюминий, магний, титан: заводы строят у мощных ГЭС и ТЭС, где дешёвая электроэнергия</a:t>
            </a:r>
            <a:endParaRPr lang="en-US" sz="2200" dirty="0"/>
          </a:p>
        </p:txBody>
      </p:sp>
      <p:sp>
        <p:nvSpPr>
          <p:cNvPr id="13" name="Фактор 3"/>
          <p:cNvSpPr/>
          <p:nvPr/>
        </p:nvSpPr>
        <p:spPr>
          <a:xfrm>
            <a:off x="8119872" y="1645920"/>
            <a:ext cx="3520440" cy="43891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4" name="Метка фактора 3"/>
          <p:cNvSpPr/>
          <p:nvPr/>
        </p:nvSpPr>
        <p:spPr>
          <a:xfrm>
            <a:off x="8394192" y="1874520"/>
            <a:ext cx="2377440" cy="384048"/>
          </a:xfrm>
          <a:prstGeom prst="roundRect">
            <a:avLst>
              <a:gd name="adj" fmla="val 47619"/>
            </a:avLst>
          </a:prstGeom>
          <a:solidFill>
            <a:schemeClr val="accent6"/>
          </a:solidFill>
          <a:ln/>
        </p:spPr>
      </p:sp>
      <p:sp>
        <p:nvSpPr>
          <p:cNvPr id="15" name="Текст метки 3"/>
          <p:cNvSpPr txBox="1"/>
          <p:nvPr/>
        </p:nvSpPr>
        <p:spPr>
          <a:xfrm>
            <a:off x="8394192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Вторичные металлы</a:t>
            </a:r>
            <a:endParaRPr lang="en-US" sz="1400" dirty="0"/>
          </a:p>
        </p:txBody>
      </p:sp>
      <p:sp>
        <p:nvSpPr>
          <p:cNvPr id="16" name="Название фактора 3"/>
          <p:cNvSpPr txBox="1"/>
          <p:nvPr/>
        </p:nvSpPr>
        <p:spPr>
          <a:xfrm>
            <a:off x="8394192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Потребительский</a:t>
            </a:r>
            <a:endParaRPr lang="en-US" sz="2600" dirty="0"/>
          </a:p>
        </p:txBody>
      </p:sp>
      <p:sp>
        <p:nvSpPr>
          <p:cNvPr id="17" name="Описание фактора 3"/>
          <p:cNvSpPr txBox="1"/>
          <p:nvPr/>
        </p:nvSpPr>
        <p:spPr>
          <a:xfrm>
            <a:off x="8394192" y="3474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Сплавы, прокат и переработка лома: предприятия работают в промышленных городах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Районы цветной металлургии</a:t>
            </a:r>
            <a:endParaRPr lang="en-US" sz="3400" dirty="0"/>
          </a:p>
        </p:txBody>
      </p:sp>
      <p:graphicFrame>
        <p:nvGraphicFramePr>
          <p:cNvPr id="11" name="Таблица район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029200"/>
                <a:gridCol w="3593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Район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Главные центры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Металлы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Норильский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Норильск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Никель, медь, платина и палладий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Кольский и Северо-Запад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Мончегорск, Кандалакша, Надвоицы, Волхов, Пикалёво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Никель, медь, алюминий, глинозём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Уральский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Ревда, Кировград, Красноуральск, Медногорск, Соликамск, Верхняя Салда, Каменск-Уральский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Медь, цинк, магний, титан, алюминий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Сибирский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Братск, Красноярск, Саяногорск, Новокузнецк, Ачинск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Алюминий у мощных ГЭС, глинозём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Северный Кавказ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Владикавказ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Цинк и свинец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Дальний Восток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Дальнегорск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Свинец, цинк, олово, золото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Главные центры по металлам</a:t>
            </a:r>
            <a:endParaRPr lang="en-US" sz="3400" dirty="0"/>
          </a:p>
        </p:txBody>
      </p:sp>
      <p:sp>
        <p:nvSpPr>
          <p:cNvPr id="3" name="Карточка 1"/>
          <p:cNvSpPr/>
          <p:nvPr/>
        </p:nvSpPr>
        <p:spPr>
          <a:xfrm>
            <a:off x="548640" y="164592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4" name="Металл 1"/>
          <p:cNvSpPr txBox="1"/>
          <p:nvPr/>
        </p:nvSpPr>
        <p:spPr>
          <a:xfrm>
            <a:off x="86868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Алюминий</a:t>
            </a:r>
            <a:endParaRPr lang="en-US" sz="2400" dirty="0"/>
          </a:p>
        </p:txBody>
      </p:sp>
      <p:sp>
        <p:nvSpPr>
          <p:cNvPr id="5" name="Центры 1"/>
          <p:cNvSpPr txBox="1"/>
          <p:nvPr/>
        </p:nvSpPr>
        <p:spPr>
          <a:xfrm>
            <a:off x="868680" y="2468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Электролиз: Братск, Красноярск, Саяногорск, Новокузнецк, Волхов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Глинозём: Ачинск, Пикалёво, Североуральск</a:t>
            </a:r>
            <a:endParaRPr lang="en-US" sz="1700" dirty="0"/>
          </a:p>
        </p:txBody>
      </p:sp>
      <p:sp>
        <p:nvSpPr>
          <p:cNvPr id="6" name="Карточка 2"/>
          <p:cNvSpPr/>
          <p:nvPr/>
        </p:nvSpPr>
        <p:spPr>
          <a:xfrm>
            <a:off x="6190488" y="164592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7" name="Металл 2"/>
          <p:cNvSpPr txBox="1"/>
          <p:nvPr/>
        </p:nvSpPr>
        <p:spPr>
          <a:xfrm>
            <a:off x="6510528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Никель и медь</a:t>
            </a:r>
            <a:endParaRPr lang="en-US" sz="2400" dirty="0"/>
          </a:p>
        </p:txBody>
      </p:sp>
      <p:sp>
        <p:nvSpPr>
          <p:cNvPr id="8" name="Центры 2"/>
          <p:cNvSpPr txBox="1"/>
          <p:nvPr/>
        </p:nvSpPr>
        <p:spPr>
          <a:xfrm>
            <a:off x="6510528" y="2468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Никель: Норильск, Мончегорск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Медь: Норильск, Урал (Ревда, Кировград, Красноуральск, Медногорск)</a:t>
            </a:r>
            <a:endParaRPr lang="en-US" sz="1700" dirty="0"/>
          </a:p>
        </p:txBody>
      </p:sp>
      <p:sp>
        <p:nvSpPr>
          <p:cNvPr id="9" name="Карточка 3"/>
          <p:cNvSpPr/>
          <p:nvPr/>
        </p:nvSpPr>
        <p:spPr>
          <a:xfrm>
            <a:off x="548640" y="393192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0" name="Металл 3"/>
          <p:cNvSpPr txBox="1"/>
          <p:nvPr/>
        </p:nvSpPr>
        <p:spPr>
          <a:xfrm>
            <a:off x="86868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Магний и титан</a:t>
            </a:r>
            <a:endParaRPr lang="en-US" sz="2400" dirty="0"/>
          </a:p>
        </p:txBody>
      </p:sp>
      <p:sp>
        <p:nvSpPr>
          <p:cNvPr id="11" name="Центры 3"/>
          <p:cNvSpPr txBox="1"/>
          <p:nvPr/>
        </p:nvSpPr>
        <p:spPr>
          <a:xfrm>
            <a:off x="868680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Магний: Соликамск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Титан: Верхняя Салда, Березники</a:t>
            </a:r>
            <a:endParaRPr lang="en-US" sz="1700" dirty="0"/>
          </a:p>
        </p:txBody>
      </p:sp>
      <p:sp>
        <p:nvSpPr>
          <p:cNvPr id="12" name="Карточка 4"/>
          <p:cNvSpPr/>
          <p:nvPr/>
        </p:nvSpPr>
        <p:spPr>
          <a:xfrm>
            <a:off x="6190488" y="393192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3" name="Металл 4"/>
          <p:cNvSpPr txBox="1"/>
          <p:nvPr/>
        </p:nvSpPr>
        <p:spPr>
          <a:xfrm>
            <a:off x="6510528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Цинк, свинец, олово</a:t>
            </a:r>
            <a:endParaRPr lang="en-US" sz="2400" dirty="0"/>
          </a:p>
        </p:txBody>
      </p:sp>
      <p:sp>
        <p:nvSpPr>
          <p:cNvPr id="14" name="Центры 4"/>
          <p:cNvSpPr txBox="1"/>
          <p:nvPr/>
        </p:nvSpPr>
        <p:spPr>
          <a:xfrm>
            <a:off x="6510528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Цинк и свинец: Владикавказ, Дальнегорск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Олово: Дальний Восток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Итоги урока</a:t>
            </a:r>
            <a:endParaRPr lang="en-US" sz="3400" dirty="0"/>
          </a:p>
        </p:txBody>
      </p:sp>
      <p:sp>
        <p:nvSpPr>
          <p:cNvPr id="3" name="Карточка 1"/>
          <p:cNvSpPr/>
          <p:nvPr/>
        </p:nvSpPr>
        <p:spPr>
          <a:xfrm>
            <a:off x="548640" y="1645920"/>
            <a:ext cx="5330952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/>
        </p:spPr>
      </p:sp>
      <p:sp>
        <p:nvSpPr>
          <p:cNvPr id="4" name="Круг значка 1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Главно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6" name="Заголовок 1"/>
          <p:cNvSpPr txBox="1"/>
          <p:nvPr/>
        </p:nvSpPr>
        <p:spPr>
          <a:xfrm>
            <a:off x="178308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Главное</a:t>
            </a:r>
            <a:endParaRPr lang="en-US" sz="2600" dirty="0"/>
          </a:p>
        </p:txBody>
      </p:sp>
      <p:sp>
        <p:nvSpPr>
          <p:cNvPr id="7" name="Список 1"/>
          <p:cNvSpPr txBox="1"/>
          <p:nvPr/>
        </p:nvSpPr>
        <p:spPr>
          <a:xfrm>
            <a:off x="868680" y="28803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Россия — в тройке мировых производителей алюминия и никеля, пятая по рафинированной меди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Тяжёлые металлы тянутся к сырью, лёгкие — к дешёвой энергии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Главные районы: Норильский, Кольский, Уральский, Сибирский</a:t>
            </a:r>
            <a:endParaRPr lang="en-US" sz="1900" dirty="0"/>
          </a:p>
        </p:txBody>
      </p:sp>
      <p:sp>
        <p:nvSpPr>
          <p:cNvPr id="8" name="Карточка 2"/>
          <p:cNvSpPr/>
          <p:nvPr/>
        </p:nvSpPr>
        <p:spPr>
          <a:xfrm>
            <a:off x="6309360" y="1645920"/>
            <a:ext cx="5330952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/>
        </p:spPr>
      </p:sp>
      <p:sp>
        <p:nvSpPr>
          <p:cNvPr id="9" name="Круг значка 2"/>
          <p:cNvSpPr/>
          <p:nvPr/>
        </p:nvSpPr>
        <p:spPr>
          <a:xfrm>
            <a:off x="662940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Ключевые термин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57400"/>
            <a:ext cx="365760" cy="365760"/>
          </a:xfrm>
          <a:prstGeom prst="rect">
            <a:avLst/>
          </a:prstGeom>
        </p:spPr>
      </p:pic>
      <p:sp>
        <p:nvSpPr>
          <p:cNvPr id="11" name="Заголовок 2"/>
          <p:cNvSpPr txBox="1"/>
          <p:nvPr/>
        </p:nvSpPr>
        <p:spPr>
          <a:xfrm>
            <a:off x="754380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Ключевые термины</a:t>
            </a:r>
            <a:endParaRPr lang="en-US" sz="2600" dirty="0"/>
          </a:p>
        </p:txBody>
      </p:sp>
      <p:sp>
        <p:nvSpPr>
          <p:cNvPr id="12" name="Список 2"/>
          <p:cNvSpPr txBox="1"/>
          <p:nvPr/>
        </p:nvSpPr>
        <p:spPr>
          <a:xfrm>
            <a:off x="6629400" y="28803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Концентрат, флотация, обогащение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Пирометаллургия, гидрометаллургия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Электролиз, рафинирование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Глинозём, сплав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Комплексное использование сырья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Цветная металлургия">
  <a:themeElements>
    <a:clrScheme name="Цветная металлургия">
      <a:dk1>
        <a:srgbClr val="1F2A33"/>
      </a:dk1>
      <a:lt1>
        <a:srgbClr val="FFFFFF"/>
      </a:lt1>
      <a:dk2>
        <a:srgbClr val="3E5C76"/>
      </a:dk2>
      <a:lt2>
        <a:srgbClr val="EEF1F4"/>
      </a:lt2>
      <a:accent1>
        <a:srgbClr val="D9531E"/>
      </a:accent1>
      <a:accent2>
        <a:srgbClr val="3E5C76"/>
      </a:accent2>
      <a:accent3>
        <a:srgbClr val="8A9BA8"/>
      </a:accent3>
      <a:accent4>
        <a:srgbClr val="F2A65A"/>
      </a:accent4>
      <a:accent5>
        <a:srgbClr val="2F7D6D"/>
      </a:accent5>
      <a:accent6>
        <a:srgbClr val="6B7A86"/>
      </a:accent6>
      <a:hlink>
        <a:srgbClr val="D9531E"/>
      </a:hlink>
      <a:folHlink>
        <a:srgbClr val="6B7A86"/>
      </a:folHlink>
    </a:clrScheme>
    <a:fontScheme name="Цветная металлургия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Цветная металлургия России</dc:title>
  <dc:subject>PptxGenJS Presentation</dc:subject>
  <dc:creator>PptxGenJS</dc:creator>
  <cp:lastModifiedBy>PptxGenJS</cp:lastModifiedBy>
  <cp:revision>1</cp:revision>
  <dcterms:created xsi:type="dcterms:W3CDTF">2026-10-11T11:07:18Z</dcterms:created>
  <dcterms:modified xsi:type="dcterms:W3CDTF">2026-10-11T11:07:18Z</dcterms:modified>
</cp:coreProperties>
</file>